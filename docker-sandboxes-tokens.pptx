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thesis. The sandbox hides the transcript. It does not hide two doors: the workspace mount, and host.docker.internal. A status line writes one usage line through those doors. Fifteen seconds, then the two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meters, then leave them. Local sbx is free. Cloud bills VM-seconds by size. The model provider bills tokens. Docker credits do not cover inference. The bar on the right is one real turn: almost all of it is cache read, which is cheap. The network panel counts connections. A cache hit and a 200k turn look the same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tour the layers. Point at the picture. Left of the VM: home config and the real key, both on the laptop. ~/.claude never crosses. The key crosses only as a placeholder through the proxy. The repo crosses, so project .claude crosses with it. sbx does not load ~/.claude or ~/.codex. Clone mode copies the repo in and still does not mount your home. Four walls if someone asks: own kernel, deny-then-allow network, mountless or direct or clone, credential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zero. Host dashboards read ~/.claude. The session is in the VM, and sbx rm deletes it. 93 is a real shape of sbx policy log: hosts allowed, no token fields. A cache hit and a huge turn look identical. The dollar figure inside Claude Code is client-side list price. It resets on /clear. On Max or Pro it is the wrong unit. We will still use it, as a gauge the host can see. The terminal snippets are illustrations, not exact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line is a documented Claude Code feature. JSON in, one bar out, no extra model call. Hooks are the other half: they fire after each tool call. Door 1: a direct mount is the same directory on both sides, so appending .sbx/usage.jsonl lands on the laptop. Door 2: clone mode and a mountless VM do not share that file. POST the same line to host.docker.internal. The proxy rewrites that name to localhost before the policy check, so the allow rule is localhost:8787. Neither door carries the API key or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usage-tap/statusline.py. Wire it from project .claude/settings.json, statusLine.command. The full settings fragment is usage-tap/settings.fragment.json. cost.total_cost_usd is the session estimate. current_usage is the last main-loop response: input, output, cache read, cache write. The script dedupes on those fields. A refused POST is ignored, so the bar still renders. The status line itself spends no tokens. The second script, usage-tap/activity.py, is an async PostToolUse, PostToolUseFailure, SubagentStop and Stop hook. It keeps the tool name and drops tool_input, so no command or path leaves the VM. Tokens tell you how much. The hook tells you what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if you pre-staged it. Terminal inside shows the bar. Terminal on the host tails the jsonl. Narrate the picture: cache read grew, output shrank, dollars barely moved, the host count did not move at all. That is a warm prompt cache. For clone mode the jsonl stays in the private clone. Run python3 usage-tap/listen.py and sbx policy allow network localhost:8787, then tail .sbx/usage-from-vm.jsonl. Do not debug policy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audience takes home. watch.py runs on the laptop, stdlib only, and reads every .sbx/usage and activity file from both doors. One line per session, most recent first. Read the amber row: opus, 2.37 dollars, burning 31 cents a minute, cache at 41 percent, 40 Bash calls and 9 fetches. That is a session to look at now, not on the invoice. The budget flag turns it red and rings the terminal bell. On Pro or Max ignore usd and read the 5h column, the plan limit from the status line JSON. It is blank on an API key. Same rule as the row: usd is taken from the latest row, never summed.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usd is cumulative for the session, at list price. The token fields are the last main-loop response, not a running sum. Each new row is a new response, so you can sum cache_read if you want tokens billed as reads. You cannot sum usd. Subagent spend may sit inside the dollar figure and be absent from the token columns. Say that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The client dollar figure can drift from discounts and data-residency multipliers. Anthropic says the invoice is the Console or the Usage and Cost API. The tap is how you notice a runaway session this afternoon. Gitignore .sbx/ so a session id never lands in the repo. Codex has no status line like this. The pattern is the same: read the agent's own usage object inside the VM and write it out a door. Docker's cloud usage page is VM-seconds. Leave it in another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The live beat is step 3, on a direct mount, sandbox already created. If watch.py says no rows yet, send one short prompt. For clone, step 4. When a session looks expensive, open the provider console. That number is the one you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Sources checked 23 Oct 2026. Status line fields: code.claude.com/docs/en/statusline. Costs and the invoice: code.claude.com/docs/en/costs. Host reachability and the localhost policy rewrite: Docker Sandboxes development docs. Hooks and async: code.claude.com/docs/en/hooks. OpenTelemetry: code.claude.com/docs/en/monitoring-usage. Claude Code ignores OTEL exporter variables in a repo's .claude/settings.json, so do not promise telemetry from the repo. Also leave out a price per vCPU-hour; look it up that morning. The product is the sbx microVM CLI, not the older docker sandbox container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50292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2984480" y="502920"/>
            <a:ext cx="43434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15 MINUTES</a:t>
            </a:r>
            <a:endParaRPr lang="en-US" sz="1300" dirty="0"/>
          </a:p>
        </p:txBody>
      </p:sp>
      <p:sp>
        <p:nvSpPr>
          <p:cNvPr id="4" name="Text 2"/>
          <p:cNvSpPr/>
          <p:nvPr/>
        </p:nvSpPr>
        <p:spPr>
          <a:xfrm>
            <a:off x="960120" y="2743200"/>
            <a:ext cx="9326880" cy="1097280"/>
          </a:xfrm>
          <a:prstGeom prst="rect">
            <a:avLst/>
          </a:prstGeom>
          <a:noFill/>
          <a:ln/>
        </p:spPr>
        <p:txBody>
          <a:bodyPr wrap="square" lIns="0" tIns="0" rIns="0" bIns="0" rtlCol="0" anchor="ctr"/>
          <a:lstStyle/>
          <a:p>
            <a:pPr indent="0" marL="0">
              <a:buNone/>
            </a:pPr>
            <a:r>
              <a:rPr lang="en-US" sz="6200" dirty="0">
                <a:solidFill>
                  <a:srgbClr val="ECE8E1"/>
                </a:solidFill>
                <a:latin typeface="Helvetica Neue" pitchFamily="34" charset="0"/>
                <a:ea typeface="Helvetica Neue" pitchFamily="34" charset="-122"/>
                <a:cs typeface="Helvetica Neue" pitchFamily="34" charset="-120"/>
              </a:rPr>
              <a:t>Docker Sandboxes,</a:t>
            </a:r>
            <a:endParaRPr lang="en-US" sz="6200" dirty="0"/>
          </a:p>
        </p:txBody>
      </p:sp>
      <p:sp>
        <p:nvSpPr>
          <p:cNvPr id="5" name="Text 3"/>
          <p:cNvSpPr/>
          <p:nvPr/>
        </p:nvSpPr>
        <p:spPr>
          <a:xfrm>
            <a:off x="960120" y="3794760"/>
            <a:ext cx="9326880" cy="1097280"/>
          </a:xfrm>
          <a:prstGeom prst="rect">
            <a:avLst/>
          </a:prstGeom>
          <a:noFill/>
          <a:ln/>
        </p:spPr>
        <p:txBody>
          <a:bodyPr wrap="square" lIns="0" tIns="0" rIns="0" bIns="0" rtlCol="0" anchor="ctr"/>
          <a:lstStyle/>
          <a:p>
            <a:pPr indent="0" marL="0">
              <a:buNone/>
            </a:pPr>
            <a:r>
              <a:rPr lang="en-US" sz="6200" i="1" dirty="0">
                <a:solidFill>
                  <a:srgbClr val="ECE8E1"/>
                </a:solidFill>
                <a:latin typeface="Helvetica Neue" pitchFamily="34" charset="0"/>
                <a:ea typeface="Helvetica Neue" pitchFamily="34" charset="-122"/>
                <a:cs typeface="Helvetica Neue" pitchFamily="34" charset="-120"/>
              </a:rPr>
              <a:t>and where the </a:t>
            </a:r>
            <a:pPr indent="0" marL="0">
              <a:buNone/>
            </a:pPr>
            <a:r>
              <a:rPr lang="en-US" sz="6200" i="1" dirty="0">
                <a:solidFill>
                  <a:srgbClr val="C5DD97"/>
                </a:solidFill>
                <a:latin typeface="Helvetica Neue" pitchFamily="34" charset="0"/>
                <a:ea typeface="Helvetica Neue" pitchFamily="34" charset="-122"/>
                <a:cs typeface="Helvetica Neue" pitchFamily="34" charset="-120"/>
              </a:rPr>
              <a:t>tokens</a:t>
            </a:r>
            <a:pPr indent="0" marL="0">
              <a:buNone/>
            </a:pPr>
            <a:r>
              <a:rPr lang="en-US" sz="6200" i="1" dirty="0">
                <a:solidFill>
                  <a:srgbClr val="ECE8E1"/>
                </a:solidFill>
                <a:latin typeface="Helvetica Neue" pitchFamily="34" charset="0"/>
                <a:ea typeface="Helvetica Neue" pitchFamily="34" charset="-122"/>
                <a:cs typeface="Helvetica Neue" pitchFamily="34" charset="-120"/>
              </a:rPr>
              <a:t> go.</a:t>
            </a:r>
            <a:endParaRPr lang="en-US" sz="6200" dirty="0"/>
          </a:p>
        </p:txBody>
      </p:sp>
      <p:sp>
        <p:nvSpPr>
          <p:cNvPr id="6" name="Shape 4"/>
          <p:cNvSpPr/>
          <p:nvPr/>
        </p:nvSpPr>
        <p:spPr>
          <a:xfrm>
            <a:off x="1005840" y="5486400"/>
            <a:ext cx="1371600" cy="0"/>
          </a:xfrm>
          <a:prstGeom prst="line">
            <a:avLst/>
          </a:prstGeom>
          <a:noFill/>
          <a:ln w="38100">
            <a:solidFill>
              <a:srgbClr val="C5DD97"/>
            </a:solidFill>
            <a:prstDash val="solid"/>
          </a:ln>
        </p:spPr>
      </p:sp>
      <p:sp>
        <p:nvSpPr>
          <p:cNvPr id="7" name="Text 5"/>
          <p:cNvSpPr/>
          <p:nvPr/>
        </p:nvSpPr>
        <p:spPr>
          <a:xfrm>
            <a:off x="960120" y="5806440"/>
            <a:ext cx="8229600" cy="1097280"/>
          </a:xfrm>
          <a:prstGeom prst="rect">
            <a:avLst/>
          </a:prstGeom>
          <a:noFill/>
          <a:ln/>
        </p:spPr>
        <p:txBody>
          <a:bodyPr wrap="square" lIns="0" tIns="0" rIns="0" bIns="0" rtlCol="0" anchor="ctr"/>
          <a:lstStyle/>
          <a:p>
            <a:pPr indent="0" marL="0">
              <a:lnSpc>
                <a:spcPct val="130000"/>
              </a:lnSpc>
              <a:buNone/>
            </a:pPr>
            <a:r>
              <a:rPr lang="en-US" sz="2400" dirty="0">
                <a:solidFill>
                  <a:srgbClr val="A8A49B"/>
                </a:solidFill>
                <a:latin typeface="Helvetica Neue" pitchFamily="34" charset="0"/>
                <a:ea typeface="Helvetica Neue" pitchFamily="34" charset="-122"/>
                <a:cs typeface="Helvetica Neue" pitchFamily="34" charset="-120"/>
              </a:rPr>
              <a:t>The key stays on the host.</a:t>
            </a:r>
            <a:endParaRPr lang="en-US" sz="2400" dirty="0"/>
          </a:p>
          <a:p>
            <a:pPr indent="0" marL="0">
              <a:lnSpc>
                <a:spcPct val="130000"/>
              </a:lnSpc>
              <a:buNone/>
            </a:pPr>
            <a:r>
              <a:rPr lang="en-US" sz="2400" dirty="0">
                <a:solidFill>
                  <a:srgbClr val="A8A49B"/>
                </a:solidFill>
                <a:latin typeface="Helvetica Neue" pitchFamily="34" charset="0"/>
                <a:ea typeface="Helvetica Neue" pitchFamily="34" charset="-122"/>
                <a:cs typeface="Helvetica Neue" pitchFamily="34" charset="-120"/>
              </a:rPr>
              <a:t>The usage object walks back out.</a:t>
            </a:r>
            <a:endParaRPr lang="en-US" sz="2400" dirty="0"/>
          </a:p>
        </p:txBody>
      </p:sp>
      <p:sp>
        <p:nvSpPr>
          <p:cNvPr id="8" name="Shape 6"/>
          <p:cNvSpPr/>
          <p:nvPr/>
        </p:nvSpPr>
        <p:spPr>
          <a:xfrm>
            <a:off x="10424160" y="1554480"/>
            <a:ext cx="6903720" cy="7223760"/>
          </a:xfrm>
          <a:prstGeom prst="roundRect">
            <a:avLst>
              <a:gd name="adj" fmla="val 1854"/>
            </a:avLst>
          </a:prstGeom>
          <a:solidFill>
            <a:srgbClr val="111110"/>
          </a:solidFill>
          <a:ln w="15875">
            <a:solidFill>
              <a:srgbClr val="2A2A27"/>
            </a:solidFill>
            <a:prstDash val="solid"/>
          </a:ln>
        </p:spPr>
      </p:sp>
      <p:sp>
        <p:nvSpPr>
          <p:cNvPr id="9" name="Text 7"/>
          <p:cNvSpPr/>
          <p:nvPr/>
        </p:nvSpPr>
        <p:spPr>
          <a:xfrm>
            <a:off x="10744200" y="1783080"/>
            <a:ext cx="27432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LAPTOP</a:t>
            </a:r>
            <a:endParaRPr lang="en-US" sz="1300" dirty="0"/>
          </a:p>
        </p:txBody>
      </p:sp>
      <p:sp>
        <p:nvSpPr>
          <p:cNvPr id="10" name="Shape 8"/>
          <p:cNvSpPr/>
          <p:nvPr/>
        </p:nvSpPr>
        <p:spPr>
          <a:xfrm>
            <a:off x="10972800" y="2423160"/>
            <a:ext cx="3840480" cy="3657600"/>
          </a:xfrm>
          <a:prstGeom prst="roundRect">
            <a:avLst>
              <a:gd name="adj" fmla="val 3500"/>
            </a:avLst>
          </a:prstGeom>
          <a:solidFill>
            <a:srgbClr val="0F0F0D"/>
          </a:solidFill>
          <a:ln w="19050">
            <a:solidFill>
              <a:srgbClr val="C5DD97"/>
            </a:solidFill>
            <a:prstDash val="solid"/>
          </a:ln>
        </p:spPr>
      </p:sp>
      <p:sp>
        <p:nvSpPr>
          <p:cNvPr id="11" name="Text 9"/>
          <p:cNvSpPr/>
          <p:nvPr/>
        </p:nvSpPr>
        <p:spPr>
          <a:xfrm>
            <a:off x="11247120" y="2651760"/>
            <a:ext cx="27432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MICROVM</a:t>
            </a:r>
            <a:endParaRPr lang="en-US" sz="1300" dirty="0"/>
          </a:p>
        </p:txBody>
      </p:sp>
      <p:sp>
        <p:nvSpPr>
          <p:cNvPr id="12" name="Shape 10"/>
          <p:cNvSpPr/>
          <p:nvPr/>
        </p:nvSpPr>
        <p:spPr>
          <a:xfrm>
            <a:off x="11338560" y="3246120"/>
            <a:ext cx="3108960" cy="1051560"/>
          </a:xfrm>
          <a:prstGeom prst="roundRect">
            <a:avLst>
              <a:gd name="adj" fmla="val 12174"/>
            </a:avLst>
          </a:prstGeom>
          <a:solidFill>
            <a:srgbClr val="151513"/>
          </a:solidFill>
          <a:ln/>
        </p:spPr>
      </p:sp>
      <p:sp>
        <p:nvSpPr>
          <p:cNvPr id="13" name="Text 11"/>
          <p:cNvSpPr/>
          <p:nvPr/>
        </p:nvSpPr>
        <p:spPr>
          <a:xfrm>
            <a:off x="11612880" y="3246120"/>
            <a:ext cx="2743200" cy="1051560"/>
          </a:xfrm>
          <a:prstGeom prst="rect">
            <a:avLst/>
          </a:prstGeom>
          <a:noFill/>
          <a:ln/>
        </p:spPr>
        <p:txBody>
          <a:bodyPr wrap="square" lIns="0" tIns="0" rIns="0" bIns="0" rtlCol="0" anchor="ctr"/>
          <a:lstStyle/>
          <a:p>
            <a:pPr indent="0" marL="0">
              <a:buNone/>
            </a:pPr>
            <a:r>
              <a:rPr lang="en-US" sz="3000" dirty="0">
                <a:solidFill>
                  <a:srgbClr val="ECE8E1"/>
                </a:solidFill>
                <a:latin typeface="Helvetica Neue" pitchFamily="34" charset="0"/>
                <a:ea typeface="Helvetica Neue" pitchFamily="34" charset="-122"/>
                <a:cs typeface="Helvetica Neue" pitchFamily="34" charset="-120"/>
              </a:rPr>
              <a:t>agent</a:t>
            </a:r>
            <a:endParaRPr lang="en-US" sz="3000" dirty="0"/>
          </a:p>
        </p:txBody>
      </p:sp>
      <p:sp>
        <p:nvSpPr>
          <p:cNvPr id="14" name="Text 12"/>
          <p:cNvSpPr/>
          <p:nvPr/>
        </p:nvSpPr>
        <p:spPr>
          <a:xfrm>
            <a:off x="11338560" y="4572000"/>
            <a:ext cx="3108960" cy="365760"/>
          </a:xfrm>
          <a:prstGeom prst="rect">
            <a:avLst/>
          </a:prstGeom>
          <a:noFill/>
          <a:ln/>
        </p:spPr>
        <p:txBody>
          <a:bodyPr wrap="square" lIns="0" tIns="0" rIns="0" bIns="0" rtlCol="0" anchor="ctr"/>
          <a:lstStyle/>
          <a:p>
            <a:pPr indent="0" marL="0">
              <a:buNone/>
            </a:pPr>
            <a:r>
              <a:rPr lang="en-US" sz="1400" dirty="0">
                <a:solidFill>
                  <a:srgbClr val="C5DD97"/>
                </a:solidFill>
                <a:latin typeface="Menlo" pitchFamily="34" charset="0"/>
                <a:ea typeface="Menlo" pitchFamily="34" charset="-122"/>
                <a:cs typeface="Menlo" pitchFamily="34" charset="-120"/>
              </a:rPr>
              <a:t>statusline.py</a:t>
            </a:r>
            <a:endParaRPr lang="en-US" sz="1400" dirty="0"/>
          </a:p>
        </p:txBody>
      </p:sp>
      <p:sp>
        <p:nvSpPr>
          <p:cNvPr id="15" name="Text 13"/>
          <p:cNvSpPr/>
          <p:nvPr/>
        </p:nvSpPr>
        <p:spPr>
          <a:xfrm>
            <a:off x="11338560" y="4983480"/>
            <a:ext cx="3108960" cy="365760"/>
          </a:xfrm>
          <a:prstGeom prst="rect">
            <a:avLst/>
          </a:prstGeom>
          <a:noFill/>
          <a:ln/>
        </p:spPr>
        <p:txBody>
          <a:bodyPr wrap="square" lIns="0" tIns="0" rIns="0" bIns="0" rtlCol="0" anchor="ctr"/>
          <a:lstStyle/>
          <a:p>
            <a:pPr indent="0" marL="0">
              <a:buNone/>
            </a:pPr>
            <a:r>
              <a:rPr lang="en-US" sz="1400" dirty="0">
                <a:solidFill>
                  <a:srgbClr val="C5DD97"/>
                </a:solidFill>
                <a:latin typeface="Menlo" pitchFamily="34" charset="0"/>
                <a:ea typeface="Menlo" pitchFamily="34" charset="-122"/>
                <a:cs typeface="Menlo" pitchFamily="34" charset="-120"/>
              </a:rPr>
              <a:t>activity.py</a:t>
            </a:r>
            <a:endParaRPr lang="en-US" sz="1400" dirty="0"/>
          </a:p>
        </p:txBody>
      </p:sp>
      <p:sp>
        <p:nvSpPr>
          <p:cNvPr id="16" name="Shape 14"/>
          <p:cNvSpPr/>
          <p:nvPr/>
        </p:nvSpPr>
        <p:spPr>
          <a:xfrm>
            <a:off x="14721840" y="4572000"/>
            <a:ext cx="182880" cy="640080"/>
          </a:xfrm>
          <a:prstGeom prst="rect">
            <a:avLst/>
          </a:prstGeom>
          <a:solidFill>
            <a:srgbClr val="111110"/>
          </a:solidFill>
          <a:ln/>
        </p:spPr>
      </p:sp>
      <p:sp>
        <p:nvSpPr>
          <p:cNvPr id="17" name="Shape 15"/>
          <p:cNvSpPr/>
          <p:nvPr/>
        </p:nvSpPr>
        <p:spPr>
          <a:xfrm>
            <a:off x="14081760" y="4892040"/>
            <a:ext cx="1828800" cy="0"/>
          </a:xfrm>
          <a:prstGeom prst="line">
            <a:avLst/>
          </a:prstGeom>
          <a:noFill/>
          <a:ln w="31750">
            <a:solidFill>
              <a:srgbClr val="C5DD97"/>
            </a:solidFill>
            <a:prstDash val="solid"/>
          </a:ln>
        </p:spPr>
      </p:sp>
      <p:sp>
        <p:nvSpPr>
          <p:cNvPr id="18" name="Shape 16"/>
          <p:cNvSpPr/>
          <p:nvPr/>
        </p:nvSpPr>
        <p:spPr>
          <a:xfrm>
            <a:off x="15910560" y="4892040"/>
            <a:ext cx="0" cy="1691640"/>
          </a:xfrm>
          <a:prstGeom prst="line">
            <a:avLst/>
          </a:prstGeom>
          <a:noFill/>
          <a:ln w="31750">
            <a:solidFill>
              <a:srgbClr val="C5DD97"/>
            </a:solidFill>
            <a:prstDash val="solid"/>
            <a:tailEnd type="triangle"/>
          </a:ln>
        </p:spPr>
      </p:sp>
      <p:sp>
        <p:nvSpPr>
          <p:cNvPr id="19" name="Shape 17"/>
          <p:cNvSpPr/>
          <p:nvPr/>
        </p:nvSpPr>
        <p:spPr>
          <a:xfrm>
            <a:off x="14721840" y="6720840"/>
            <a:ext cx="2377440" cy="731520"/>
          </a:xfrm>
          <a:prstGeom prst="roundRect">
            <a:avLst>
              <a:gd name="adj" fmla="val 17500"/>
            </a:avLst>
          </a:prstGeom>
          <a:solidFill>
            <a:srgbClr val="222A17"/>
          </a:solidFill>
          <a:ln w="12700">
            <a:solidFill>
              <a:srgbClr val="C5DD97"/>
            </a:solidFill>
            <a:prstDash val="solid"/>
          </a:ln>
        </p:spPr>
      </p:sp>
      <p:sp>
        <p:nvSpPr>
          <p:cNvPr id="20" name="Text 18"/>
          <p:cNvSpPr/>
          <p:nvPr/>
        </p:nvSpPr>
        <p:spPr>
          <a:xfrm>
            <a:off x="14721840" y="6720840"/>
            <a:ext cx="2377440" cy="731520"/>
          </a:xfrm>
          <a:prstGeom prst="rect">
            <a:avLst/>
          </a:prstGeom>
          <a:noFill/>
          <a:ln/>
        </p:spPr>
        <p:txBody>
          <a:bodyPr wrap="square" lIns="0" tIns="0" rIns="0" bIns="0" rtlCol="0" anchor="ctr"/>
          <a:lstStyle/>
          <a:p>
            <a:pPr algn="ctr" indent="0" marL="0">
              <a:buNone/>
            </a:pPr>
            <a:r>
              <a:rPr lang="en-US" sz="2000" dirty="0">
                <a:solidFill>
                  <a:srgbClr val="C5DD97"/>
                </a:solidFill>
                <a:latin typeface="Menlo" pitchFamily="34" charset="0"/>
                <a:ea typeface="Menlo" pitchFamily="34" charset="-122"/>
                <a:cs typeface="Menlo" pitchFamily="34" charset="-120"/>
              </a:rPr>
              <a:t>.jsonl</a:t>
            </a:r>
            <a:endParaRPr lang="en-US" sz="2000" dirty="0"/>
          </a:p>
        </p:txBody>
      </p:sp>
      <p:sp>
        <p:nvSpPr>
          <p:cNvPr id="21" name="Shape 19"/>
          <p:cNvSpPr/>
          <p:nvPr/>
        </p:nvSpPr>
        <p:spPr>
          <a:xfrm>
            <a:off x="10972800" y="6876288"/>
            <a:ext cx="1313485" cy="420624"/>
          </a:xfrm>
          <a:prstGeom prst="roundRect">
            <a:avLst>
              <a:gd name="adj" fmla="val 50000"/>
            </a:avLst>
          </a:prstGeom>
          <a:solidFill>
            <a:srgbClr val="1E1E1B"/>
          </a:solidFill>
          <a:ln/>
        </p:spPr>
      </p:sp>
      <p:sp>
        <p:nvSpPr>
          <p:cNvPr id="22" name="Text 20"/>
          <p:cNvSpPr/>
          <p:nvPr/>
        </p:nvSpPr>
        <p:spPr>
          <a:xfrm>
            <a:off x="10972800" y="6876288"/>
            <a:ext cx="1313485" cy="420624"/>
          </a:xfrm>
          <a:prstGeom prst="rect">
            <a:avLst/>
          </a:prstGeom>
          <a:noFill/>
          <a:ln/>
        </p:spPr>
        <p:txBody>
          <a:bodyPr wrap="square" lIns="0" tIns="0" rIns="0" bIns="0" rtlCol="0" anchor="ctr"/>
          <a:lstStyle/>
          <a:p>
            <a:pPr algn="ctr" indent="0" marL="0">
              <a:buNone/>
            </a:pPr>
            <a:r>
              <a:rPr lang="en-US" sz="1400" dirty="0">
                <a:solidFill>
                  <a:srgbClr val="ECE8E1"/>
                </a:solidFill>
                <a:latin typeface="Menlo" pitchFamily="34" charset="0"/>
                <a:ea typeface="Menlo" pitchFamily="34" charset="-122"/>
                <a:cs typeface="Menlo" pitchFamily="34" charset="-120"/>
              </a:rPr>
              <a:t>watch.py</a:t>
            </a:r>
            <a:endParaRPr lang="en-US" sz="1400" dirty="0"/>
          </a:p>
        </p:txBody>
      </p:sp>
      <p:sp>
        <p:nvSpPr>
          <p:cNvPr id="23" name="Shape 21"/>
          <p:cNvSpPr/>
          <p:nvPr/>
        </p:nvSpPr>
        <p:spPr>
          <a:xfrm flipH="1">
            <a:off x="12527280" y="7086600"/>
            <a:ext cx="2103120" cy="0"/>
          </a:xfrm>
          <a:prstGeom prst="line">
            <a:avLst/>
          </a:prstGeom>
          <a:noFill/>
          <a:ln w="19050">
            <a:solidFill>
              <a:srgbClr val="6B6760"/>
            </a:solidFill>
            <a:prstDash val="dash"/>
            <a:tailEnd type="triangle"/>
          </a:ln>
        </p:spPr>
      </p:sp>
      <p:sp>
        <p:nvSpPr>
          <p:cNvPr id="24" name="Text 22"/>
          <p:cNvSpPr/>
          <p:nvPr/>
        </p:nvSpPr>
        <p:spPr>
          <a:xfrm>
            <a:off x="10972800" y="7863840"/>
            <a:ext cx="2743200" cy="365760"/>
          </a:xfrm>
          <a:prstGeom prst="rect">
            <a:avLst/>
          </a:prstGeom>
          <a:noFill/>
          <a:ln/>
        </p:spPr>
        <p:txBody>
          <a:bodyPr wrap="square" lIns="0" tIns="0" rIns="0" bIns="0" rtlCol="0" anchor="ctr"/>
          <a:lstStyle/>
          <a:p>
            <a:pPr indent="0" marL="0">
              <a:buNone/>
            </a:pPr>
            <a:r>
              <a:rPr lang="en-US" sz="1400" strike="sngStrike" dirty="0">
                <a:solidFill>
                  <a:srgbClr val="6B6760"/>
                </a:solidFill>
                <a:latin typeface="Menlo" pitchFamily="34" charset="0"/>
                <a:ea typeface="Menlo" pitchFamily="34" charset="-122"/>
                <a:cs typeface="Menlo" pitchFamily="34" charset="-120"/>
              </a:rPr>
              <a:t>~/.claude</a:t>
            </a:r>
            <a:endParaRPr lang="en-US" sz="1400" dirty="0"/>
          </a:p>
        </p:txBody>
      </p:sp>
      <p:sp>
        <p:nvSpPr>
          <p:cNvPr id="25" name="Text 23"/>
          <p:cNvSpPr/>
          <p:nvPr/>
        </p:nvSpPr>
        <p:spPr>
          <a:xfrm>
            <a:off x="13716000" y="7863840"/>
            <a:ext cx="2743200" cy="365760"/>
          </a:xfrm>
          <a:prstGeom prst="rect">
            <a:avLst/>
          </a:prstGeom>
          <a:noFill/>
          <a:ln/>
        </p:spPr>
        <p:txBody>
          <a:bodyPr wrap="square" lIns="0" tIns="0" rIns="0" bIns="0" rtlCol="0" anchor="ctr"/>
          <a:lstStyle/>
          <a:p>
            <a:pPr indent="0" marL="0">
              <a:buNone/>
            </a:pPr>
            <a:r>
              <a:rPr lang="en-US" sz="1400" dirty="0">
                <a:solidFill>
                  <a:srgbClr val="E8B46A"/>
                </a:solidFill>
                <a:latin typeface="Menlo" pitchFamily="34" charset="0"/>
                <a:ea typeface="Menlo" pitchFamily="34" charset="-122"/>
                <a:cs typeface="Menlo" pitchFamily="34" charset="-120"/>
              </a:rPr>
              <a:t>API key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TWO METERS</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C5DD97"/>
          </a:solidFill>
          <a:ln/>
        </p:spPr>
      </p:sp>
      <p:sp>
        <p:nvSpPr>
          <p:cNvPr id="6" name="Shape 4"/>
          <p:cNvSpPr/>
          <p:nvPr/>
        </p:nvSpPr>
        <p:spPr>
          <a:xfrm>
            <a:off x="3688080" y="9528048"/>
            <a:ext cx="1309116" cy="45720"/>
          </a:xfrm>
          <a:prstGeom prst="rect">
            <a:avLst/>
          </a:prstGeom>
          <a:solidFill>
            <a:srgbClr val="2A2A27"/>
          </a:solidFill>
          <a:ln/>
        </p:spPr>
      </p:sp>
      <p:sp>
        <p:nvSpPr>
          <p:cNvPr id="7" name="Shape 5"/>
          <p:cNvSpPr/>
          <p:nvPr/>
        </p:nvSpPr>
        <p:spPr>
          <a:xfrm>
            <a:off x="5052060" y="9528048"/>
            <a:ext cx="1309116" cy="45720"/>
          </a:xfrm>
          <a:prstGeom prst="rect">
            <a:avLst/>
          </a:prstGeom>
          <a:solidFill>
            <a:srgbClr val="2A2A27"/>
          </a:solidFill>
          <a:ln/>
        </p:spPr>
      </p:sp>
      <p:sp>
        <p:nvSpPr>
          <p:cNvPr id="8" name="Shape 6"/>
          <p:cNvSpPr/>
          <p:nvPr/>
        </p:nvSpPr>
        <p:spPr>
          <a:xfrm>
            <a:off x="6416040" y="9528048"/>
            <a:ext cx="1309116" cy="45720"/>
          </a:xfrm>
          <a:prstGeom prst="rect">
            <a:avLst/>
          </a:prstGeom>
          <a:solidFill>
            <a:srgbClr val="2A2A27"/>
          </a:solidFill>
          <a:ln/>
        </p:spPr>
      </p:sp>
      <p:sp>
        <p:nvSpPr>
          <p:cNvPr id="9" name="Shape 7"/>
          <p:cNvSpPr/>
          <p:nvPr/>
        </p:nvSpPr>
        <p:spPr>
          <a:xfrm>
            <a:off x="7780020" y="9528048"/>
            <a:ext cx="1309116" cy="45720"/>
          </a:xfrm>
          <a:prstGeom prst="rect">
            <a:avLst/>
          </a:prstGeom>
          <a:solidFill>
            <a:srgbClr val="2A2A27"/>
          </a:solidFill>
          <a:ln/>
        </p:spPr>
      </p:sp>
      <p:sp>
        <p:nvSpPr>
          <p:cNvPr id="10" name="Shape 8"/>
          <p:cNvSpPr/>
          <p:nvPr/>
        </p:nvSpPr>
        <p:spPr>
          <a:xfrm>
            <a:off x="9144000" y="9528048"/>
            <a:ext cx="1309116" cy="45720"/>
          </a:xfrm>
          <a:prstGeom prst="rect">
            <a:avLst/>
          </a:prstGeom>
          <a:solidFill>
            <a:srgbClr val="2A2A2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02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One agent. </a:t>
            </a:r>
            <a:pPr indent="0" marL="0">
              <a:buNone/>
            </a:pPr>
            <a:r>
              <a:rPr lang="en-US" sz="4400" dirty="0">
                <a:solidFill>
                  <a:srgbClr val="C5DD97"/>
                </a:solidFill>
                <a:latin typeface="Helvetica Neue" pitchFamily="34" charset="0"/>
                <a:ea typeface="Helvetica Neue" pitchFamily="34" charset="-122"/>
                <a:cs typeface="Helvetica Neue" pitchFamily="34" charset="-120"/>
              </a:rPr>
              <a:t>Two bills.</a:t>
            </a:r>
            <a:endParaRPr lang="en-US" sz="4400" dirty="0"/>
          </a:p>
        </p:txBody>
      </p:sp>
      <p:sp>
        <p:nvSpPr>
          <p:cNvPr id="18" name="Shape 16"/>
          <p:cNvSpPr/>
          <p:nvPr/>
        </p:nvSpPr>
        <p:spPr>
          <a:xfrm>
            <a:off x="960120" y="2240280"/>
            <a:ext cx="7955280" cy="6583680"/>
          </a:xfrm>
          <a:prstGeom prst="roundRect">
            <a:avLst>
              <a:gd name="adj" fmla="val 1944"/>
            </a:avLst>
          </a:prstGeom>
          <a:solidFill>
            <a:srgbClr val="151513"/>
          </a:solidFill>
          <a:ln/>
        </p:spPr>
      </p:sp>
      <p:sp>
        <p:nvSpPr>
          <p:cNvPr id="19" name="Text 17"/>
          <p:cNvSpPr/>
          <p:nvPr/>
        </p:nvSpPr>
        <p:spPr>
          <a:xfrm>
            <a:off x="1417320" y="2606040"/>
            <a:ext cx="36576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SANDBOX</a:t>
            </a:r>
            <a:endParaRPr lang="en-US" sz="1300" dirty="0"/>
          </a:p>
        </p:txBody>
      </p:sp>
      <p:sp>
        <p:nvSpPr>
          <p:cNvPr id="20" name="Text 18"/>
          <p:cNvSpPr/>
          <p:nvPr/>
        </p:nvSpPr>
        <p:spPr>
          <a:xfrm>
            <a:off x="1371600" y="3017520"/>
            <a:ext cx="6858000" cy="1554480"/>
          </a:xfrm>
          <a:prstGeom prst="rect">
            <a:avLst/>
          </a:prstGeom>
          <a:noFill/>
          <a:ln/>
        </p:spPr>
        <p:txBody>
          <a:bodyPr wrap="square" lIns="0" tIns="0" rIns="0" bIns="0" rtlCol="0" anchor="ctr"/>
          <a:lstStyle/>
          <a:p>
            <a:pPr indent="0" marL="0">
              <a:buNone/>
            </a:pPr>
            <a:r>
              <a:rPr lang="en-US" sz="9600" dirty="0">
                <a:solidFill>
                  <a:srgbClr val="ECE8E1"/>
                </a:solidFill>
                <a:latin typeface="Helvetica Neue" pitchFamily="34" charset="0"/>
                <a:ea typeface="Helvetica Neue" pitchFamily="34" charset="-122"/>
                <a:cs typeface="Helvetica Neue" pitchFamily="34" charset="-120"/>
              </a:rPr>
              <a:t>Free</a:t>
            </a:r>
            <a:endParaRPr lang="en-US" sz="9600" dirty="0"/>
          </a:p>
        </p:txBody>
      </p:sp>
      <p:sp>
        <p:nvSpPr>
          <p:cNvPr id="21" name="Text 19"/>
          <p:cNvSpPr/>
          <p:nvPr/>
        </p:nvSpPr>
        <p:spPr>
          <a:xfrm>
            <a:off x="1417320" y="4572000"/>
            <a:ext cx="6858000" cy="457200"/>
          </a:xfrm>
          <a:prstGeom prst="rect">
            <a:avLst/>
          </a:prstGeom>
          <a:noFill/>
          <a:ln/>
        </p:spPr>
        <p:txBody>
          <a:bodyPr wrap="square" lIns="0" tIns="0" rIns="0" bIns="0" rtlCol="0" anchor="ctr"/>
          <a:lstStyle/>
          <a:p>
            <a:pPr indent="0" marL="0">
              <a:buNone/>
            </a:pPr>
            <a:r>
              <a:rPr lang="en-US" sz="2200" dirty="0">
                <a:solidFill>
                  <a:srgbClr val="A8A49B"/>
                </a:solidFill>
                <a:latin typeface="Helvetica Neue" pitchFamily="34" charset="0"/>
                <a:ea typeface="Helvetica Neue" pitchFamily="34" charset="-122"/>
                <a:cs typeface="Helvetica Neue" pitchFamily="34" charset="-120"/>
              </a:rPr>
              <a:t>on your laptop</a:t>
            </a:r>
            <a:endParaRPr lang="en-US" sz="2200" dirty="0"/>
          </a:p>
        </p:txBody>
      </p:sp>
      <p:sp>
        <p:nvSpPr>
          <p:cNvPr id="22" name="Shape 20"/>
          <p:cNvSpPr/>
          <p:nvPr/>
        </p:nvSpPr>
        <p:spPr>
          <a:xfrm>
            <a:off x="1417320" y="5532120"/>
            <a:ext cx="73152" cy="640080"/>
          </a:xfrm>
          <a:prstGeom prst="rect">
            <a:avLst/>
          </a:prstGeom>
          <a:solidFill>
            <a:srgbClr val="ECE8E1"/>
          </a:solidFill>
          <a:ln/>
        </p:spPr>
      </p:sp>
      <p:sp>
        <p:nvSpPr>
          <p:cNvPr id="23" name="Shape 21"/>
          <p:cNvSpPr/>
          <p:nvPr/>
        </p:nvSpPr>
        <p:spPr>
          <a:xfrm>
            <a:off x="1700784" y="5806440"/>
            <a:ext cx="73152" cy="365760"/>
          </a:xfrm>
          <a:prstGeom prst="rect">
            <a:avLst/>
          </a:prstGeom>
          <a:solidFill>
            <a:srgbClr val="ECE8E1"/>
          </a:solidFill>
          <a:ln/>
        </p:spPr>
      </p:sp>
      <p:sp>
        <p:nvSpPr>
          <p:cNvPr id="24" name="Shape 22"/>
          <p:cNvSpPr/>
          <p:nvPr/>
        </p:nvSpPr>
        <p:spPr>
          <a:xfrm>
            <a:off x="1984248" y="5806440"/>
            <a:ext cx="73152" cy="365760"/>
          </a:xfrm>
          <a:prstGeom prst="rect">
            <a:avLst/>
          </a:prstGeom>
          <a:solidFill>
            <a:srgbClr val="ECE8E1"/>
          </a:solidFill>
          <a:ln/>
        </p:spPr>
      </p:sp>
      <p:sp>
        <p:nvSpPr>
          <p:cNvPr id="25" name="Shape 23"/>
          <p:cNvSpPr/>
          <p:nvPr/>
        </p:nvSpPr>
        <p:spPr>
          <a:xfrm>
            <a:off x="2267712" y="5806440"/>
            <a:ext cx="73152" cy="365760"/>
          </a:xfrm>
          <a:prstGeom prst="rect">
            <a:avLst/>
          </a:prstGeom>
          <a:solidFill>
            <a:srgbClr val="ECE8E1"/>
          </a:solidFill>
          <a:ln/>
        </p:spPr>
      </p:sp>
      <p:sp>
        <p:nvSpPr>
          <p:cNvPr id="26" name="Shape 24"/>
          <p:cNvSpPr/>
          <p:nvPr/>
        </p:nvSpPr>
        <p:spPr>
          <a:xfrm>
            <a:off x="2551176" y="5806440"/>
            <a:ext cx="73152" cy="365760"/>
          </a:xfrm>
          <a:prstGeom prst="rect">
            <a:avLst/>
          </a:prstGeom>
          <a:solidFill>
            <a:srgbClr val="ECE8E1"/>
          </a:solidFill>
          <a:ln/>
        </p:spPr>
      </p:sp>
      <p:sp>
        <p:nvSpPr>
          <p:cNvPr id="27" name="Shape 25"/>
          <p:cNvSpPr/>
          <p:nvPr/>
        </p:nvSpPr>
        <p:spPr>
          <a:xfrm>
            <a:off x="2834640" y="5806440"/>
            <a:ext cx="73152" cy="365760"/>
          </a:xfrm>
          <a:prstGeom prst="rect">
            <a:avLst/>
          </a:prstGeom>
          <a:solidFill>
            <a:srgbClr val="ECE8E1"/>
          </a:solidFill>
          <a:ln/>
        </p:spPr>
      </p:sp>
      <p:sp>
        <p:nvSpPr>
          <p:cNvPr id="28" name="Shape 26"/>
          <p:cNvSpPr/>
          <p:nvPr/>
        </p:nvSpPr>
        <p:spPr>
          <a:xfrm>
            <a:off x="3118104" y="5532120"/>
            <a:ext cx="73152" cy="640080"/>
          </a:xfrm>
          <a:prstGeom prst="rect">
            <a:avLst/>
          </a:prstGeom>
          <a:solidFill>
            <a:srgbClr val="ECE8E1"/>
          </a:solidFill>
          <a:ln/>
        </p:spPr>
      </p:sp>
      <p:sp>
        <p:nvSpPr>
          <p:cNvPr id="29" name="Shape 27"/>
          <p:cNvSpPr/>
          <p:nvPr/>
        </p:nvSpPr>
        <p:spPr>
          <a:xfrm>
            <a:off x="3401568" y="5806440"/>
            <a:ext cx="73152" cy="365760"/>
          </a:xfrm>
          <a:prstGeom prst="rect">
            <a:avLst/>
          </a:prstGeom>
          <a:solidFill>
            <a:srgbClr val="ECE8E1"/>
          </a:solidFill>
          <a:ln/>
        </p:spPr>
      </p:sp>
      <p:sp>
        <p:nvSpPr>
          <p:cNvPr id="30" name="Shape 28"/>
          <p:cNvSpPr/>
          <p:nvPr/>
        </p:nvSpPr>
        <p:spPr>
          <a:xfrm>
            <a:off x="3685032" y="5806440"/>
            <a:ext cx="73152" cy="365760"/>
          </a:xfrm>
          <a:prstGeom prst="rect">
            <a:avLst/>
          </a:prstGeom>
          <a:solidFill>
            <a:srgbClr val="ECE8E1"/>
          </a:solidFill>
          <a:ln/>
        </p:spPr>
      </p:sp>
      <p:sp>
        <p:nvSpPr>
          <p:cNvPr id="31" name="Shape 29"/>
          <p:cNvSpPr/>
          <p:nvPr/>
        </p:nvSpPr>
        <p:spPr>
          <a:xfrm>
            <a:off x="3968496" y="5806440"/>
            <a:ext cx="73152" cy="365760"/>
          </a:xfrm>
          <a:prstGeom prst="rect">
            <a:avLst/>
          </a:prstGeom>
          <a:solidFill>
            <a:srgbClr val="ECE8E1"/>
          </a:solidFill>
          <a:ln/>
        </p:spPr>
      </p:sp>
      <p:sp>
        <p:nvSpPr>
          <p:cNvPr id="32" name="Shape 30"/>
          <p:cNvSpPr/>
          <p:nvPr/>
        </p:nvSpPr>
        <p:spPr>
          <a:xfrm>
            <a:off x="4251960" y="5806440"/>
            <a:ext cx="73152" cy="365760"/>
          </a:xfrm>
          <a:prstGeom prst="rect">
            <a:avLst/>
          </a:prstGeom>
          <a:solidFill>
            <a:srgbClr val="ECE8E1"/>
          </a:solidFill>
          <a:ln/>
        </p:spPr>
      </p:sp>
      <p:sp>
        <p:nvSpPr>
          <p:cNvPr id="33" name="Shape 31"/>
          <p:cNvSpPr/>
          <p:nvPr/>
        </p:nvSpPr>
        <p:spPr>
          <a:xfrm>
            <a:off x="4535424" y="5806440"/>
            <a:ext cx="73152" cy="365760"/>
          </a:xfrm>
          <a:prstGeom prst="rect">
            <a:avLst/>
          </a:prstGeom>
          <a:solidFill>
            <a:srgbClr val="ECE8E1"/>
          </a:solidFill>
          <a:ln/>
        </p:spPr>
      </p:sp>
      <p:sp>
        <p:nvSpPr>
          <p:cNvPr id="34" name="Shape 32"/>
          <p:cNvSpPr/>
          <p:nvPr/>
        </p:nvSpPr>
        <p:spPr>
          <a:xfrm>
            <a:off x="4818888" y="5532120"/>
            <a:ext cx="73152" cy="640080"/>
          </a:xfrm>
          <a:prstGeom prst="rect">
            <a:avLst/>
          </a:prstGeom>
          <a:solidFill>
            <a:srgbClr val="ECE8E1"/>
          </a:solidFill>
          <a:ln/>
        </p:spPr>
      </p:sp>
      <p:sp>
        <p:nvSpPr>
          <p:cNvPr id="35" name="Shape 33"/>
          <p:cNvSpPr/>
          <p:nvPr/>
        </p:nvSpPr>
        <p:spPr>
          <a:xfrm>
            <a:off x="5102352" y="5806440"/>
            <a:ext cx="73152" cy="365760"/>
          </a:xfrm>
          <a:prstGeom prst="rect">
            <a:avLst/>
          </a:prstGeom>
          <a:solidFill>
            <a:srgbClr val="ECE8E1"/>
          </a:solidFill>
          <a:ln/>
        </p:spPr>
      </p:sp>
      <p:sp>
        <p:nvSpPr>
          <p:cNvPr id="36" name="Shape 34"/>
          <p:cNvSpPr/>
          <p:nvPr/>
        </p:nvSpPr>
        <p:spPr>
          <a:xfrm>
            <a:off x="5385816" y="5806440"/>
            <a:ext cx="73152" cy="365760"/>
          </a:xfrm>
          <a:prstGeom prst="rect">
            <a:avLst/>
          </a:prstGeom>
          <a:solidFill>
            <a:srgbClr val="ECE8E1"/>
          </a:solidFill>
          <a:ln/>
        </p:spPr>
      </p:sp>
      <p:sp>
        <p:nvSpPr>
          <p:cNvPr id="37" name="Shape 35"/>
          <p:cNvSpPr/>
          <p:nvPr/>
        </p:nvSpPr>
        <p:spPr>
          <a:xfrm>
            <a:off x="5669280" y="5806440"/>
            <a:ext cx="73152" cy="365760"/>
          </a:xfrm>
          <a:prstGeom prst="rect">
            <a:avLst/>
          </a:prstGeom>
          <a:solidFill>
            <a:srgbClr val="2A2A27"/>
          </a:solidFill>
          <a:ln/>
        </p:spPr>
      </p:sp>
      <p:sp>
        <p:nvSpPr>
          <p:cNvPr id="38" name="Shape 36"/>
          <p:cNvSpPr/>
          <p:nvPr/>
        </p:nvSpPr>
        <p:spPr>
          <a:xfrm>
            <a:off x="5952744" y="5806440"/>
            <a:ext cx="73152" cy="365760"/>
          </a:xfrm>
          <a:prstGeom prst="rect">
            <a:avLst/>
          </a:prstGeom>
          <a:solidFill>
            <a:srgbClr val="2A2A27"/>
          </a:solidFill>
          <a:ln/>
        </p:spPr>
      </p:sp>
      <p:sp>
        <p:nvSpPr>
          <p:cNvPr id="39" name="Shape 37"/>
          <p:cNvSpPr/>
          <p:nvPr/>
        </p:nvSpPr>
        <p:spPr>
          <a:xfrm>
            <a:off x="6236208" y="5806440"/>
            <a:ext cx="73152" cy="365760"/>
          </a:xfrm>
          <a:prstGeom prst="rect">
            <a:avLst/>
          </a:prstGeom>
          <a:solidFill>
            <a:srgbClr val="2A2A27"/>
          </a:solidFill>
          <a:ln/>
        </p:spPr>
      </p:sp>
      <p:sp>
        <p:nvSpPr>
          <p:cNvPr id="40" name="Shape 38"/>
          <p:cNvSpPr/>
          <p:nvPr/>
        </p:nvSpPr>
        <p:spPr>
          <a:xfrm>
            <a:off x="6519672" y="5532120"/>
            <a:ext cx="73152" cy="640080"/>
          </a:xfrm>
          <a:prstGeom prst="rect">
            <a:avLst/>
          </a:prstGeom>
          <a:solidFill>
            <a:srgbClr val="2A2A27"/>
          </a:solidFill>
          <a:ln/>
        </p:spPr>
      </p:sp>
      <p:sp>
        <p:nvSpPr>
          <p:cNvPr id="41" name="Shape 39"/>
          <p:cNvSpPr/>
          <p:nvPr/>
        </p:nvSpPr>
        <p:spPr>
          <a:xfrm>
            <a:off x="6803136" y="5806440"/>
            <a:ext cx="73152" cy="365760"/>
          </a:xfrm>
          <a:prstGeom prst="rect">
            <a:avLst/>
          </a:prstGeom>
          <a:solidFill>
            <a:srgbClr val="2A2A27"/>
          </a:solidFill>
          <a:ln/>
        </p:spPr>
      </p:sp>
      <p:sp>
        <p:nvSpPr>
          <p:cNvPr id="42" name="Shape 40"/>
          <p:cNvSpPr/>
          <p:nvPr/>
        </p:nvSpPr>
        <p:spPr>
          <a:xfrm>
            <a:off x="7086600" y="5806440"/>
            <a:ext cx="73152" cy="365760"/>
          </a:xfrm>
          <a:prstGeom prst="rect">
            <a:avLst/>
          </a:prstGeom>
          <a:solidFill>
            <a:srgbClr val="2A2A27"/>
          </a:solidFill>
          <a:ln/>
        </p:spPr>
      </p:sp>
      <p:sp>
        <p:nvSpPr>
          <p:cNvPr id="43" name="Shape 41"/>
          <p:cNvSpPr/>
          <p:nvPr/>
        </p:nvSpPr>
        <p:spPr>
          <a:xfrm>
            <a:off x="7370064" y="5806440"/>
            <a:ext cx="73152" cy="365760"/>
          </a:xfrm>
          <a:prstGeom prst="rect">
            <a:avLst/>
          </a:prstGeom>
          <a:solidFill>
            <a:srgbClr val="2A2A27"/>
          </a:solidFill>
          <a:ln/>
        </p:spPr>
      </p:sp>
      <p:sp>
        <p:nvSpPr>
          <p:cNvPr id="44" name="Shape 42"/>
          <p:cNvSpPr/>
          <p:nvPr/>
        </p:nvSpPr>
        <p:spPr>
          <a:xfrm>
            <a:off x="7653528" y="5806440"/>
            <a:ext cx="73152" cy="365760"/>
          </a:xfrm>
          <a:prstGeom prst="rect">
            <a:avLst/>
          </a:prstGeom>
          <a:solidFill>
            <a:srgbClr val="2A2A27"/>
          </a:solidFill>
          <a:ln/>
        </p:spPr>
      </p:sp>
      <p:sp>
        <p:nvSpPr>
          <p:cNvPr id="45" name="Shape 43"/>
          <p:cNvSpPr/>
          <p:nvPr/>
        </p:nvSpPr>
        <p:spPr>
          <a:xfrm>
            <a:off x="7936992" y="5806440"/>
            <a:ext cx="73152" cy="365760"/>
          </a:xfrm>
          <a:prstGeom prst="rect">
            <a:avLst/>
          </a:prstGeom>
          <a:solidFill>
            <a:srgbClr val="2A2A27"/>
          </a:solidFill>
          <a:ln/>
        </p:spPr>
      </p:sp>
      <p:sp>
        <p:nvSpPr>
          <p:cNvPr id="46" name="Text 44"/>
          <p:cNvSpPr/>
          <p:nvPr/>
        </p:nvSpPr>
        <p:spPr>
          <a:xfrm>
            <a:off x="1417320" y="6446520"/>
            <a:ext cx="6949440" cy="45720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Cloud  </a:t>
            </a:r>
            <a:pPr indent="0" marL="0">
              <a:buNone/>
            </a:pPr>
            <a:r>
              <a:rPr lang="en-US" sz="2200" dirty="0">
                <a:solidFill>
                  <a:srgbClr val="A8A49B"/>
                </a:solidFill>
                <a:latin typeface="Menlo" pitchFamily="34" charset="0"/>
                <a:ea typeface="Menlo" pitchFamily="34" charset="-122"/>
                <a:cs typeface="Menlo" pitchFamily="34" charset="-120"/>
              </a:rPr>
              <a:t>seconds × size</a:t>
            </a:r>
            <a:endParaRPr lang="en-US" sz="2200" dirty="0"/>
          </a:p>
        </p:txBody>
      </p:sp>
      <p:sp>
        <p:nvSpPr>
          <p:cNvPr id="47" name="Text 45"/>
          <p:cNvSpPr/>
          <p:nvPr/>
        </p:nvSpPr>
        <p:spPr>
          <a:xfrm>
            <a:off x="1417320" y="7909560"/>
            <a:ext cx="6949440" cy="457200"/>
          </a:xfrm>
          <a:prstGeom prst="rect">
            <a:avLst/>
          </a:prstGeom>
          <a:noFill/>
          <a:ln/>
        </p:spPr>
        <p:txBody>
          <a:bodyPr wrap="square" lIns="0" tIns="0" rIns="0" bIns="0" rtlCol="0" anchor="ctr"/>
          <a:lstStyle/>
          <a:p>
            <a:pPr indent="0" marL="0">
              <a:buNone/>
            </a:pPr>
            <a:r>
              <a:rPr lang="en-US" sz="1800" dirty="0">
                <a:solidFill>
                  <a:srgbClr val="E8B46A"/>
                </a:solidFill>
                <a:latin typeface="Helvetica Neue" pitchFamily="34" charset="0"/>
                <a:ea typeface="Helvetica Neue" pitchFamily="34" charset="-122"/>
                <a:cs typeface="Helvetica Neue" pitchFamily="34" charset="-120"/>
              </a:rPr>
              <a:t>Docker credits do not pay the model.</a:t>
            </a:r>
            <a:endParaRPr lang="en-US" sz="1800" dirty="0"/>
          </a:p>
        </p:txBody>
      </p:sp>
      <p:sp>
        <p:nvSpPr>
          <p:cNvPr id="48" name="Shape 46"/>
          <p:cNvSpPr/>
          <p:nvPr/>
        </p:nvSpPr>
        <p:spPr>
          <a:xfrm>
            <a:off x="9326880" y="2240280"/>
            <a:ext cx="8001000" cy="6583680"/>
          </a:xfrm>
          <a:prstGeom prst="roundRect">
            <a:avLst>
              <a:gd name="adj" fmla="val 1944"/>
            </a:avLst>
          </a:prstGeom>
          <a:solidFill>
            <a:srgbClr val="151513"/>
          </a:solidFill>
          <a:ln/>
        </p:spPr>
      </p:sp>
      <p:sp>
        <p:nvSpPr>
          <p:cNvPr id="49" name="Text 47"/>
          <p:cNvSpPr/>
          <p:nvPr/>
        </p:nvSpPr>
        <p:spPr>
          <a:xfrm>
            <a:off x="9784080" y="2606040"/>
            <a:ext cx="45720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MODEL PROVIDER</a:t>
            </a:r>
            <a:endParaRPr lang="en-US" sz="1300" dirty="0"/>
          </a:p>
        </p:txBody>
      </p:sp>
      <p:sp>
        <p:nvSpPr>
          <p:cNvPr id="50" name="Text 48"/>
          <p:cNvSpPr/>
          <p:nvPr/>
        </p:nvSpPr>
        <p:spPr>
          <a:xfrm>
            <a:off x="9738360" y="3017520"/>
            <a:ext cx="6858000" cy="1554480"/>
          </a:xfrm>
          <a:prstGeom prst="rect">
            <a:avLst/>
          </a:prstGeom>
          <a:noFill/>
          <a:ln/>
        </p:spPr>
        <p:txBody>
          <a:bodyPr wrap="square" lIns="0" tIns="0" rIns="0" bIns="0" rtlCol="0" anchor="ctr"/>
          <a:lstStyle/>
          <a:p>
            <a:pPr indent="0" marL="0">
              <a:buNone/>
            </a:pPr>
            <a:r>
              <a:rPr lang="en-US" sz="9600" dirty="0">
                <a:solidFill>
                  <a:srgbClr val="ECE8E1"/>
                </a:solidFill>
                <a:latin typeface="Helvetica Neue" pitchFamily="34" charset="0"/>
                <a:ea typeface="Helvetica Neue" pitchFamily="34" charset="-122"/>
                <a:cs typeface="Helvetica Neue" pitchFamily="34" charset="-120"/>
              </a:rPr>
              <a:t>Tokens</a:t>
            </a:r>
            <a:endParaRPr lang="en-US" sz="9600" dirty="0"/>
          </a:p>
        </p:txBody>
      </p:sp>
      <p:sp>
        <p:nvSpPr>
          <p:cNvPr id="51" name="Text 49"/>
          <p:cNvSpPr/>
          <p:nvPr/>
        </p:nvSpPr>
        <p:spPr>
          <a:xfrm>
            <a:off x="9784080" y="4572000"/>
            <a:ext cx="6858000" cy="457200"/>
          </a:xfrm>
          <a:prstGeom prst="rect">
            <a:avLst/>
          </a:prstGeom>
          <a:noFill/>
          <a:ln/>
        </p:spPr>
        <p:txBody>
          <a:bodyPr wrap="square" lIns="0" tIns="0" rIns="0" bIns="0" rtlCol="0" anchor="ctr"/>
          <a:lstStyle/>
          <a:p>
            <a:pPr indent="0" marL="0">
              <a:buNone/>
            </a:pPr>
            <a:r>
              <a:rPr lang="en-US" sz="2200" dirty="0">
                <a:solidFill>
                  <a:srgbClr val="A8A49B"/>
                </a:solidFill>
                <a:latin typeface="Helvetica Neue" pitchFamily="34" charset="0"/>
                <a:ea typeface="Helvetica Neue" pitchFamily="34" charset="-122"/>
                <a:cs typeface="Helvetica Neue" pitchFamily="34" charset="-120"/>
              </a:rPr>
              <a:t>a separate invoice</a:t>
            </a:r>
            <a:endParaRPr lang="en-US" sz="2200" dirty="0"/>
          </a:p>
        </p:txBody>
      </p:sp>
      <p:sp>
        <p:nvSpPr>
          <p:cNvPr id="52" name="Shape 50"/>
          <p:cNvSpPr/>
          <p:nvPr/>
        </p:nvSpPr>
        <p:spPr>
          <a:xfrm>
            <a:off x="9784080" y="5486400"/>
            <a:ext cx="6885258" cy="685800"/>
          </a:xfrm>
          <a:prstGeom prst="rect">
            <a:avLst/>
          </a:prstGeom>
          <a:solidFill>
            <a:srgbClr val="C5DD97"/>
          </a:solidFill>
          <a:ln/>
        </p:spPr>
      </p:sp>
      <p:sp>
        <p:nvSpPr>
          <p:cNvPr id="53" name="Shape 51"/>
          <p:cNvSpPr/>
          <p:nvPr/>
        </p:nvSpPr>
        <p:spPr>
          <a:xfrm>
            <a:off x="16696770" y="5486400"/>
            <a:ext cx="64008" cy="685800"/>
          </a:xfrm>
          <a:prstGeom prst="rect">
            <a:avLst/>
          </a:prstGeom>
          <a:solidFill>
            <a:srgbClr val="ECE8E1"/>
          </a:solidFill>
          <a:ln/>
        </p:spPr>
      </p:sp>
      <p:sp>
        <p:nvSpPr>
          <p:cNvPr id="54" name="Shape 52"/>
          <p:cNvSpPr/>
          <p:nvPr/>
        </p:nvSpPr>
        <p:spPr>
          <a:xfrm>
            <a:off x="16788210" y="5486400"/>
            <a:ext cx="64008" cy="685800"/>
          </a:xfrm>
          <a:prstGeom prst="rect">
            <a:avLst/>
          </a:prstGeom>
          <a:solidFill>
            <a:srgbClr val="A8A49B"/>
          </a:solidFill>
          <a:ln/>
        </p:spPr>
      </p:sp>
      <p:sp>
        <p:nvSpPr>
          <p:cNvPr id="55" name="Shape 53"/>
          <p:cNvSpPr/>
          <p:nvPr/>
        </p:nvSpPr>
        <p:spPr>
          <a:xfrm>
            <a:off x="16879650" y="5486400"/>
            <a:ext cx="64008" cy="685800"/>
          </a:xfrm>
          <a:prstGeom prst="rect">
            <a:avLst/>
          </a:prstGeom>
          <a:solidFill>
            <a:srgbClr val="E8B46A"/>
          </a:solidFill>
          <a:ln/>
        </p:spPr>
      </p:sp>
      <p:sp>
        <p:nvSpPr>
          <p:cNvPr id="56" name="Shape 54"/>
          <p:cNvSpPr/>
          <p:nvPr/>
        </p:nvSpPr>
        <p:spPr>
          <a:xfrm>
            <a:off x="9784080" y="6656832"/>
            <a:ext cx="201168" cy="201168"/>
          </a:xfrm>
          <a:prstGeom prst="rect">
            <a:avLst/>
          </a:prstGeom>
          <a:solidFill>
            <a:srgbClr val="C5DD97"/>
          </a:solidFill>
          <a:ln/>
        </p:spPr>
      </p:sp>
      <p:sp>
        <p:nvSpPr>
          <p:cNvPr id="57" name="Text 55"/>
          <p:cNvSpPr/>
          <p:nvPr/>
        </p:nvSpPr>
        <p:spPr>
          <a:xfrm>
            <a:off x="10149840" y="6537960"/>
            <a:ext cx="3108960" cy="438912"/>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cache read  </a:t>
            </a:r>
            <a:pPr indent="0" marL="0">
              <a:buNone/>
            </a:pPr>
            <a:r>
              <a:rPr lang="en-US" sz="1700" dirty="0">
                <a:solidFill>
                  <a:srgbClr val="ECE8E1"/>
                </a:solidFill>
                <a:latin typeface="Menlo" pitchFamily="34" charset="0"/>
                <a:ea typeface="Menlo" pitchFamily="34" charset="-122"/>
                <a:cs typeface="Menlo" pitchFamily="34" charset="-120"/>
              </a:rPr>
              <a:t>148,900</a:t>
            </a:r>
            <a:endParaRPr lang="en-US" sz="1700" dirty="0"/>
          </a:p>
        </p:txBody>
      </p:sp>
      <p:sp>
        <p:nvSpPr>
          <p:cNvPr id="58" name="Shape 56"/>
          <p:cNvSpPr/>
          <p:nvPr/>
        </p:nvSpPr>
        <p:spPr>
          <a:xfrm>
            <a:off x="13350240" y="6656832"/>
            <a:ext cx="201168" cy="201168"/>
          </a:xfrm>
          <a:prstGeom prst="rect">
            <a:avLst/>
          </a:prstGeom>
          <a:solidFill>
            <a:srgbClr val="ECE8E1"/>
          </a:solidFill>
          <a:ln/>
        </p:spPr>
      </p:sp>
      <p:sp>
        <p:nvSpPr>
          <p:cNvPr id="59" name="Text 57"/>
          <p:cNvSpPr/>
          <p:nvPr/>
        </p:nvSpPr>
        <p:spPr>
          <a:xfrm>
            <a:off x="13716000" y="6537960"/>
            <a:ext cx="3108960" cy="438912"/>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input  </a:t>
            </a:r>
            <a:pPr indent="0" marL="0">
              <a:buNone/>
            </a:pPr>
            <a:r>
              <a:rPr lang="en-US" sz="1700" dirty="0">
                <a:solidFill>
                  <a:srgbClr val="ECE8E1"/>
                </a:solidFill>
                <a:latin typeface="Menlo" pitchFamily="34" charset="0"/>
                <a:ea typeface="Menlo" pitchFamily="34" charset="-122"/>
                <a:cs typeface="Menlo" pitchFamily="34" charset="-120"/>
              </a:rPr>
              <a:t>800</a:t>
            </a:r>
            <a:endParaRPr lang="en-US" sz="1700" dirty="0"/>
          </a:p>
        </p:txBody>
      </p:sp>
      <p:sp>
        <p:nvSpPr>
          <p:cNvPr id="60" name="Shape 58"/>
          <p:cNvSpPr/>
          <p:nvPr/>
        </p:nvSpPr>
        <p:spPr>
          <a:xfrm>
            <a:off x="9784080" y="7205472"/>
            <a:ext cx="201168" cy="201168"/>
          </a:xfrm>
          <a:prstGeom prst="rect">
            <a:avLst/>
          </a:prstGeom>
          <a:solidFill>
            <a:srgbClr val="A8A49B"/>
          </a:solidFill>
          <a:ln/>
        </p:spPr>
      </p:sp>
      <p:sp>
        <p:nvSpPr>
          <p:cNvPr id="61" name="Text 59"/>
          <p:cNvSpPr/>
          <p:nvPr/>
        </p:nvSpPr>
        <p:spPr>
          <a:xfrm>
            <a:off x="10149840" y="7086600"/>
            <a:ext cx="3108960" cy="438912"/>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cache write  </a:t>
            </a:r>
            <a:pPr indent="0" marL="0">
              <a:buNone/>
            </a:pPr>
            <a:r>
              <a:rPr lang="en-US" sz="1700" dirty="0">
                <a:solidFill>
                  <a:srgbClr val="ECE8E1"/>
                </a:solidFill>
                <a:latin typeface="Menlo" pitchFamily="34" charset="0"/>
                <a:ea typeface="Menlo" pitchFamily="34" charset="-122"/>
                <a:cs typeface="Menlo" pitchFamily="34" charset="-120"/>
              </a:rPr>
              <a:t>500</a:t>
            </a:r>
            <a:endParaRPr lang="en-US" sz="1700" dirty="0"/>
          </a:p>
        </p:txBody>
      </p:sp>
      <p:sp>
        <p:nvSpPr>
          <p:cNvPr id="62" name="Shape 60"/>
          <p:cNvSpPr/>
          <p:nvPr/>
        </p:nvSpPr>
        <p:spPr>
          <a:xfrm>
            <a:off x="13350240" y="7205472"/>
            <a:ext cx="201168" cy="201168"/>
          </a:xfrm>
          <a:prstGeom prst="rect">
            <a:avLst/>
          </a:prstGeom>
          <a:solidFill>
            <a:srgbClr val="E8B46A"/>
          </a:solidFill>
          <a:ln/>
        </p:spPr>
      </p:sp>
      <p:sp>
        <p:nvSpPr>
          <p:cNvPr id="63" name="Text 61"/>
          <p:cNvSpPr/>
          <p:nvPr/>
        </p:nvSpPr>
        <p:spPr>
          <a:xfrm>
            <a:off x="13716000" y="7086600"/>
            <a:ext cx="3108960" cy="438912"/>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output  </a:t>
            </a:r>
            <a:pPr indent="0" marL="0">
              <a:buNone/>
            </a:pPr>
            <a:r>
              <a:rPr lang="en-US" sz="1700" dirty="0">
                <a:solidFill>
                  <a:srgbClr val="ECE8E1"/>
                </a:solidFill>
                <a:latin typeface="Menlo" pitchFamily="34" charset="0"/>
                <a:ea typeface="Menlo" pitchFamily="34" charset="-122"/>
                <a:cs typeface="Menlo" pitchFamily="34" charset="-120"/>
              </a:rPr>
              <a:t>88</a:t>
            </a:r>
            <a:endParaRPr lang="en-US" sz="1700" dirty="0"/>
          </a:p>
        </p:txBody>
      </p:sp>
      <p:sp>
        <p:nvSpPr>
          <p:cNvPr id="64" name="Text 62"/>
          <p:cNvSpPr/>
          <p:nvPr/>
        </p:nvSpPr>
        <p:spPr>
          <a:xfrm>
            <a:off x="9784080" y="7909560"/>
            <a:ext cx="6949440" cy="457200"/>
          </a:xfrm>
          <a:prstGeom prst="rect">
            <a:avLst/>
          </a:prstGeom>
          <a:noFill/>
          <a:ln/>
        </p:spPr>
        <p:txBody>
          <a:bodyPr wrap="square" lIns="0" tIns="0" rIns="0" bIns="0" rtlCol="0" anchor="ctr"/>
          <a:lstStyle/>
          <a:p>
            <a:pPr indent="0" marL="0">
              <a:buNone/>
            </a:pPr>
            <a:r>
              <a:rPr lang="en-US" sz="1800" dirty="0">
                <a:solidFill>
                  <a:srgbClr val="C5DD97"/>
                </a:solidFill>
                <a:latin typeface="Helvetica Neue" pitchFamily="34" charset="0"/>
                <a:ea typeface="Helvetica Neue" pitchFamily="34" charset="-122"/>
                <a:cs typeface="Helvetica Neue" pitchFamily="34" charset="-120"/>
              </a:rPr>
              <a:t>One turn. 99% of it is cache read.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THE SANDBOX</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C5DD97"/>
          </a:solidFill>
          <a:ln/>
        </p:spPr>
      </p:sp>
      <p:sp>
        <p:nvSpPr>
          <p:cNvPr id="7" name="Shape 5"/>
          <p:cNvSpPr/>
          <p:nvPr/>
        </p:nvSpPr>
        <p:spPr>
          <a:xfrm>
            <a:off x="5052060" y="9528048"/>
            <a:ext cx="1309116" cy="45720"/>
          </a:xfrm>
          <a:prstGeom prst="rect">
            <a:avLst/>
          </a:prstGeom>
          <a:solidFill>
            <a:srgbClr val="2A2A27"/>
          </a:solidFill>
          <a:ln/>
        </p:spPr>
      </p:sp>
      <p:sp>
        <p:nvSpPr>
          <p:cNvPr id="8" name="Shape 6"/>
          <p:cNvSpPr/>
          <p:nvPr/>
        </p:nvSpPr>
        <p:spPr>
          <a:xfrm>
            <a:off x="6416040" y="9528048"/>
            <a:ext cx="1309116" cy="45720"/>
          </a:xfrm>
          <a:prstGeom prst="rect">
            <a:avLst/>
          </a:prstGeom>
          <a:solidFill>
            <a:srgbClr val="2A2A27"/>
          </a:solidFill>
          <a:ln/>
        </p:spPr>
      </p:sp>
      <p:sp>
        <p:nvSpPr>
          <p:cNvPr id="9" name="Shape 7"/>
          <p:cNvSpPr/>
          <p:nvPr/>
        </p:nvSpPr>
        <p:spPr>
          <a:xfrm>
            <a:off x="7780020" y="9528048"/>
            <a:ext cx="1309116" cy="45720"/>
          </a:xfrm>
          <a:prstGeom prst="rect">
            <a:avLst/>
          </a:prstGeom>
          <a:solidFill>
            <a:srgbClr val="2A2A27"/>
          </a:solidFill>
          <a:ln/>
        </p:spPr>
      </p:sp>
      <p:sp>
        <p:nvSpPr>
          <p:cNvPr id="10" name="Shape 8"/>
          <p:cNvSpPr/>
          <p:nvPr/>
        </p:nvSpPr>
        <p:spPr>
          <a:xfrm>
            <a:off x="9144000" y="9528048"/>
            <a:ext cx="1309116" cy="45720"/>
          </a:xfrm>
          <a:prstGeom prst="rect">
            <a:avLst/>
          </a:prstGeom>
          <a:solidFill>
            <a:srgbClr val="2A2A2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03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The repo goes in. </a:t>
            </a:r>
            <a:pPr indent="0" marL="0">
              <a:buNone/>
            </a:pPr>
            <a:r>
              <a:rPr lang="en-US" sz="4400" dirty="0">
                <a:solidFill>
                  <a:srgbClr val="C5DD97"/>
                </a:solidFill>
                <a:latin typeface="Helvetica Neue" pitchFamily="34" charset="0"/>
                <a:ea typeface="Helvetica Neue" pitchFamily="34" charset="-122"/>
                <a:cs typeface="Helvetica Neue" pitchFamily="34" charset="-120"/>
              </a:rPr>
              <a:t>Home stays out.</a:t>
            </a:r>
            <a:endParaRPr lang="en-US" sz="4400" dirty="0"/>
          </a:p>
        </p:txBody>
      </p:sp>
      <p:sp>
        <p:nvSpPr>
          <p:cNvPr id="18" name="Shape 16"/>
          <p:cNvSpPr/>
          <p:nvPr/>
        </p:nvSpPr>
        <p:spPr>
          <a:xfrm>
            <a:off x="960120" y="2194560"/>
            <a:ext cx="16367760" cy="6080760"/>
          </a:xfrm>
          <a:prstGeom prst="roundRect">
            <a:avLst>
              <a:gd name="adj" fmla="val 2105"/>
            </a:avLst>
          </a:prstGeom>
          <a:solidFill>
            <a:srgbClr val="111110"/>
          </a:solidFill>
          <a:ln w="15875">
            <a:solidFill>
              <a:srgbClr val="2A2A27"/>
            </a:solidFill>
            <a:prstDash val="solid"/>
          </a:ln>
        </p:spPr>
      </p:sp>
      <p:sp>
        <p:nvSpPr>
          <p:cNvPr id="19" name="Text 17"/>
          <p:cNvSpPr/>
          <p:nvPr/>
        </p:nvSpPr>
        <p:spPr>
          <a:xfrm>
            <a:off x="1280160" y="2423160"/>
            <a:ext cx="27432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LAPTOP</a:t>
            </a:r>
            <a:endParaRPr lang="en-US" sz="1300" dirty="0"/>
          </a:p>
        </p:txBody>
      </p:sp>
      <p:sp>
        <p:nvSpPr>
          <p:cNvPr id="20" name="Shape 18"/>
          <p:cNvSpPr/>
          <p:nvPr/>
        </p:nvSpPr>
        <p:spPr>
          <a:xfrm>
            <a:off x="1325880" y="3017520"/>
            <a:ext cx="4023360" cy="1325880"/>
          </a:xfrm>
          <a:prstGeom prst="roundRect">
            <a:avLst>
              <a:gd name="adj" fmla="val 9655"/>
            </a:avLst>
          </a:prstGeom>
          <a:solidFill>
            <a:srgbClr val="151513"/>
          </a:solidFill>
          <a:ln/>
        </p:spPr>
      </p:sp>
      <p:sp>
        <p:nvSpPr>
          <p:cNvPr id="21" name="Text 19"/>
          <p:cNvSpPr/>
          <p:nvPr/>
        </p:nvSpPr>
        <p:spPr>
          <a:xfrm>
            <a:off x="1600200" y="3218688"/>
            <a:ext cx="3566160" cy="502920"/>
          </a:xfrm>
          <a:prstGeom prst="rect">
            <a:avLst/>
          </a:prstGeom>
          <a:noFill/>
          <a:ln/>
        </p:spPr>
        <p:txBody>
          <a:bodyPr wrap="square" lIns="0" tIns="0" rIns="0" bIns="0" rtlCol="0" anchor="ctr"/>
          <a:lstStyle/>
          <a:p>
            <a:pPr indent="0" marL="0">
              <a:buNone/>
            </a:pPr>
            <a:r>
              <a:rPr lang="en-US" sz="2200" strike="sngStrike" dirty="0">
                <a:solidFill>
                  <a:srgbClr val="6B6760"/>
                </a:solidFill>
                <a:latin typeface="Menlo" pitchFamily="34" charset="0"/>
                <a:ea typeface="Menlo" pitchFamily="34" charset="-122"/>
                <a:cs typeface="Menlo" pitchFamily="34" charset="-120"/>
              </a:rPr>
              <a:t>~/.claude</a:t>
            </a:r>
            <a:endParaRPr lang="en-US" sz="2200" dirty="0"/>
          </a:p>
        </p:txBody>
      </p:sp>
      <p:sp>
        <p:nvSpPr>
          <p:cNvPr id="22" name="Text 20"/>
          <p:cNvSpPr/>
          <p:nvPr/>
        </p:nvSpPr>
        <p:spPr>
          <a:xfrm>
            <a:off x="1600200" y="3767328"/>
            <a:ext cx="3566160" cy="365760"/>
          </a:xfrm>
          <a:prstGeom prst="rect">
            <a:avLst/>
          </a:prstGeom>
          <a:noFill/>
          <a:ln/>
        </p:spPr>
        <p:txBody>
          <a:bodyPr wrap="square" lIns="0" tIns="0" rIns="0" bIns="0" rtlCol="0" anchor="ctr"/>
          <a:lstStyle/>
          <a:p>
            <a:pPr indent="0" marL="0">
              <a:buNone/>
            </a:pPr>
            <a:r>
              <a:rPr lang="en-US" sz="1700" dirty="0">
                <a:solidFill>
                  <a:srgbClr val="E8B46A"/>
                </a:solidFill>
                <a:latin typeface="Helvetica Neue" pitchFamily="34" charset="0"/>
                <a:ea typeface="Helvetica Neue" pitchFamily="34" charset="-122"/>
                <a:cs typeface="Helvetica Neue" pitchFamily="34" charset="-120"/>
              </a:rPr>
              <a:t>not loaded</a:t>
            </a:r>
            <a:endParaRPr lang="en-US" sz="1700" dirty="0"/>
          </a:p>
        </p:txBody>
      </p:sp>
      <p:sp>
        <p:nvSpPr>
          <p:cNvPr id="23" name="Shape 21"/>
          <p:cNvSpPr/>
          <p:nvPr/>
        </p:nvSpPr>
        <p:spPr>
          <a:xfrm>
            <a:off x="1325880" y="4709160"/>
            <a:ext cx="4023360" cy="1325880"/>
          </a:xfrm>
          <a:prstGeom prst="roundRect">
            <a:avLst>
              <a:gd name="adj" fmla="val 9655"/>
            </a:avLst>
          </a:prstGeom>
          <a:solidFill>
            <a:srgbClr val="151513"/>
          </a:solidFill>
          <a:ln/>
        </p:spPr>
      </p:sp>
      <p:sp>
        <p:nvSpPr>
          <p:cNvPr id="24" name="Text 22"/>
          <p:cNvSpPr/>
          <p:nvPr/>
        </p:nvSpPr>
        <p:spPr>
          <a:xfrm>
            <a:off x="1600200" y="4910328"/>
            <a:ext cx="3566160" cy="502920"/>
          </a:xfrm>
          <a:prstGeom prst="rect">
            <a:avLst/>
          </a:prstGeom>
          <a:noFill/>
          <a:ln/>
        </p:spPr>
        <p:txBody>
          <a:bodyPr wrap="square" lIns="0" tIns="0" rIns="0" bIns="0" rtlCol="0" anchor="ctr"/>
          <a:lstStyle/>
          <a:p>
            <a:pPr indent="0" marL="0">
              <a:buNone/>
            </a:pPr>
            <a:r>
              <a:rPr lang="en-US" sz="2200" dirty="0">
                <a:solidFill>
                  <a:srgbClr val="E8B46A"/>
                </a:solidFill>
                <a:latin typeface="Menlo" pitchFamily="34" charset="0"/>
                <a:ea typeface="Menlo" pitchFamily="34" charset="-122"/>
                <a:cs typeface="Menlo" pitchFamily="34" charset="-120"/>
              </a:rPr>
              <a:t>API key</a:t>
            </a:r>
            <a:endParaRPr lang="en-US" sz="2200" dirty="0"/>
          </a:p>
        </p:txBody>
      </p:sp>
      <p:sp>
        <p:nvSpPr>
          <p:cNvPr id="25" name="Text 23"/>
          <p:cNvSpPr/>
          <p:nvPr/>
        </p:nvSpPr>
        <p:spPr>
          <a:xfrm>
            <a:off x="1600200" y="5458968"/>
            <a:ext cx="3566160" cy="36576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stays here</a:t>
            </a:r>
            <a:endParaRPr lang="en-US" sz="1700" dirty="0"/>
          </a:p>
        </p:txBody>
      </p:sp>
      <p:sp>
        <p:nvSpPr>
          <p:cNvPr id="26" name="Shape 24"/>
          <p:cNvSpPr/>
          <p:nvPr/>
        </p:nvSpPr>
        <p:spPr>
          <a:xfrm>
            <a:off x="1325880" y="6400800"/>
            <a:ext cx="4023360" cy="1325880"/>
          </a:xfrm>
          <a:prstGeom prst="roundRect">
            <a:avLst>
              <a:gd name="adj" fmla="val 9655"/>
            </a:avLst>
          </a:prstGeom>
          <a:solidFill>
            <a:srgbClr val="151513"/>
          </a:solidFill>
          <a:ln/>
        </p:spPr>
      </p:sp>
      <p:sp>
        <p:nvSpPr>
          <p:cNvPr id="27" name="Text 25"/>
          <p:cNvSpPr/>
          <p:nvPr/>
        </p:nvSpPr>
        <p:spPr>
          <a:xfrm>
            <a:off x="1600200" y="6601968"/>
            <a:ext cx="3566160" cy="502920"/>
          </a:xfrm>
          <a:prstGeom prst="rect">
            <a:avLst/>
          </a:prstGeom>
          <a:noFill/>
          <a:ln/>
        </p:spPr>
        <p:txBody>
          <a:bodyPr wrap="square" lIns="0" tIns="0" rIns="0" bIns="0" rtlCol="0" anchor="ctr"/>
          <a:lstStyle/>
          <a:p>
            <a:pPr indent="0" marL="0">
              <a:buNone/>
            </a:pPr>
            <a:r>
              <a:rPr lang="en-US" sz="2200" dirty="0">
                <a:solidFill>
                  <a:srgbClr val="ECE8E1"/>
                </a:solidFill>
                <a:latin typeface="Menlo" pitchFamily="34" charset="0"/>
                <a:ea typeface="Menlo" pitchFamily="34" charset="-122"/>
                <a:cs typeface="Menlo" pitchFamily="34" charset="-120"/>
              </a:rPr>
              <a:t>repo/</a:t>
            </a:r>
            <a:endParaRPr lang="en-US" sz="2200" dirty="0"/>
          </a:p>
        </p:txBody>
      </p:sp>
      <p:sp>
        <p:nvSpPr>
          <p:cNvPr id="28" name="Text 26"/>
          <p:cNvSpPr/>
          <p:nvPr/>
        </p:nvSpPr>
        <p:spPr>
          <a:xfrm>
            <a:off x="1600200" y="7150608"/>
            <a:ext cx="3566160" cy="36576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your project</a:t>
            </a:r>
            <a:endParaRPr lang="en-US" sz="1700" dirty="0"/>
          </a:p>
        </p:txBody>
      </p:sp>
      <p:sp>
        <p:nvSpPr>
          <p:cNvPr id="29" name="Shape 27"/>
          <p:cNvSpPr/>
          <p:nvPr/>
        </p:nvSpPr>
        <p:spPr>
          <a:xfrm>
            <a:off x="8229600" y="2788920"/>
            <a:ext cx="5852160" cy="5166360"/>
          </a:xfrm>
          <a:prstGeom prst="roundRect">
            <a:avLst>
              <a:gd name="adj" fmla="val 2478"/>
            </a:avLst>
          </a:prstGeom>
          <a:solidFill>
            <a:srgbClr val="0F0F0D"/>
          </a:solidFill>
          <a:ln w="22225">
            <a:solidFill>
              <a:srgbClr val="C5DD97"/>
            </a:solidFill>
            <a:prstDash val="solid"/>
          </a:ln>
        </p:spPr>
      </p:sp>
      <p:sp>
        <p:nvSpPr>
          <p:cNvPr id="30" name="Text 28"/>
          <p:cNvSpPr/>
          <p:nvPr/>
        </p:nvSpPr>
        <p:spPr>
          <a:xfrm>
            <a:off x="8549640" y="3017520"/>
            <a:ext cx="50292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MICROVM · OWN KERNEL</a:t>
            </a:r>
            <a:endParaRPr lang="en-US" sz="1300" dirty="0"/>
          </a:p>
        </p:txBody>
      </p:sp>
      <p:sp>
        <p:nvSpPr>
          <p:cNvPr id="31" name="Text 29"/>
          <p:cNvSpPr/>
          <p:nvPr/>
        </p:nvSpPr>
        <p:spPr>
          <a:xfrm>
            <a:off x="8549640" y="3474720"/>
            <a:ext cx="5212080" cy="822960"/>
          </a:xfrm>
          <a:prstGeom prst="rect">
            <a:avLst/>
          </a:prstGeom>
          <a:noFill/>
          <a:ln/>
        </p:spPr>
        <p:txBody>
          <a:bodyPr wrap="square" lIns="0" tIns="0" rIns="0" bIns="0" rtlCol="0" anchor="ctr"/>
          <a:lstStyle/>
          <a:p>
            <a:pPr indent="0" marL="0">
              <a:buNone/>
            </a:pPr>
            <a:r>
              <a:rPr lang="en-US" sz="4000" dirty="0">
                <a:solidFill>
                  <a:srgbClr val="ECE8E1"/>
                </a:solidFill>
                <a:latin typeface="Helvetica Neue" pitchFamily="34" charset="0"/>
                <a:ea typeface="Helvetica Neue" pitchFamily="34" charset="-122"/>
                <a:cs typeface="Helvetica Neue" pitchFamily="34" charset="-120"/>
              </a:rPr>
              <a:t>agent</a:t>
            </a:r>
            <a:endParaRPr lang="en-US" sz="4000" dirty="0"/>
          </a:p>
        </p:txBody>
      </p:sp>
      <p:sp>
        <p:nvSpPr>
          <p:cNvPr id="32" name="Shape 30"/>
          <p:cNvSpPr/>
          <p:nvPr/>
        </p:nvSpPr>
        <p:spPr>
          <a:xfrm>
            <a:off x="8549640" y="4572000"/>
            <a:ext cx="5212080" cy="868680"/>
          </a:xfrm>
          <a:prstGeom prst="roundRect">
            <a:avLst>
              <a:gd name="adj" fmla="val 14737"/>
            </a:avLst>
          </a:prstGeom>
          <a:solidFill>
            <a:srgbClr val="151513"/>
          </a:solidFill>
          <a:ln/>
        </p:spPr>
      </p:sp>
      <p:sp>
        <p:nvSpPr>
          <p:cNvPr id="33" name="Text 31"/>
          <p:cNvSpPr/>
          <p:nvPr/>
        </p:nvSpPr>
        <p:spPr>
          <a:xfrm>
            <a:off x="8823960" y="4572000"/>
            <a:ext cx="4846320" cy="868680"/>
          </a:xfrm>
          <a:prstGeom prst="rect">
            <a:avLst/>
          </a:prstGeom>
          <a:noFill/>
          <a:ln/>
        </p:spPr>
        <p:txBody>
          <a:bodyPr wrap="square" lIns="0" tIns="0" rIns="0" bIns="0" rtlCol="0" anchor="ctr"/>
          <a:lstStyle/>
          <a:p>
            <a:pPr indent="0" marL="0">
              <a:buNone/>
            </a:pPr>
            <a:r>
              <a:rPr lang="en-US" sz="1400" dirty="0">
                <a:solidFill>
                  <a:srgbClr val="6B6760"/>
                </a:solidFill>
                <a:latin typeface="Menlo" pitchFamily="34" charset="0"/>
                <a:ea typeface="Menlo" pitchFamily="34" charset="-122"/>
                <a:cs typeface="Menlo" pitchFamily="34" charset="-120"/>
              </a:rPr>
              <a:t>ANTHROPIC_API_KEY=placeholder</a:t>
            </a:r>
            <a:endParaRPr lang="en-US" sz="1400" dirty="0"/>
          </a:p>
        </p:txBody>
      </p:sp>
      <p:sp>
        <p:nvSpPr>
          <p:cNvPr id="34" name="Shape 32"/>
          <p:cNvSpPr/>
          <p:nvPr/>
        </p:nvSpPr>
        <p:spPr>
          <a:xfrm>
            <a:off x="8549640" y="5715000"/>
            <a:ext cx="5212080" cy="1143000"/>
          </a:xfrm>
          <a:prstGeom prst="roundRect">
            <a:avLst>
              <a:gd name="adj" fmla="val 11200"/>
            </a:avLst>
          </a:prstGeom>
          <a:solidFill>
            <a:srgbClr val="151513"/>
          </a:solidFill>
          <a:ln/>
        </p:spPr>
      </p:sp>
      <p:sp>
        <p:nvSpPr>
          <p:cNvPr id="35" name="Text 33"/>
          <p:cNvSpPr/>
          <p:nvPr/>
        </p:nvSpPr>
        <p:spPr>
          <a:xfrm>
            <a:off x="8823960" y="5824728"/>
            <a:ext cx="4754880" cy="457200"/>
          </a:xfrm>
          <a:prstGeom prst="rect">
            <a:avLst/>
          </a:prstGeom>
          <a:noFill/>
          <a:ln/>
        </p:spPr>
        <p:txBody>
          <a:bodyPr wrap="square" lIns="0" tIns="0" rIns="0" bIns="0" rtlCol="0" anchor="ctr"/>
          <a:lstStyle/>
          <a:p>
            <a:pPr indent="0" marL="0">
              <a:buNone/>
            </a:pPr>
            <a:r>
              <a:rPr lang="en-US" sz="1800" dirty="0">
                <a:solidFill>
                  <a:srgbClr val="ECE8E1"/>
                </a:solidFill>
                <a:latin typeface="Menlo" pitchFamily="34" charset="0"/>
                <a:ea typeface="Menlo" pitchFamily="34" charset="-122"/>
                <a:cs typeface="Menlo" pitchFamily="34" charset="-120"/>
              </a:rPr>
              <a:t>/workspace</a:t>
            </a:r>
            <a:endParaRPr lang="en-US" sz="1800" dirty="0"/>
          </a:p>
        </p:txBody>
      </p:sp>
      <p:sp>
        <p:nvSpPr>
          <p:cNvPr id="36" name="Text 34"/>
          <p:cNvSpPr/>
          <p:nvPr/>
        </p:nvSpPr>
        <p:spPr>
          <a:xfrm>
            <a:off x="8823960" y="6263640"/>
            <a:ext cx="4754880" cy="41148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.claude/settings.json  ✓</a:t>
            </a:r>
            <a:endParaRPr lang="en-US" sz="1500" dirty="0"/>
          </a:p>
        </p:txBody>
      </p:sp>
      <p:sp>
        <p:nvSpPr>
          <p:cNvPr id="37" name="Shape 35"/>
          <p:cNvSpPr/>
          <p:nvPr/>
        </p:nvSpPr>
        <p:spPr>
          <a:xfrm>
            <a:off x="5349240" y="3675888"/>
            <a:ext cx="2331720" cy="0"/>
          </a:xfrm>
          <a:prstGeom prst="line">
            <a:avLst/>
          </a:prstGeom>
          <a:noFill/>
          <a:ln w="25400">
            <a:solidFill>
              <a:srgbClr val="E8B46A"/>
            </a:solidFill>
            <a:prstDash val="dash"/>
          </a:ln>
        </p:spPr>
      </p:sp>
      <p:sp>
        <p:nvSpPr>
          <p:cNvPr id="38" name="Text 36"/>
          <p:cNvSpPr/>
          <p:nvPr/>
        </p:nvSpPr>
        <p:spPr>
          <a:xfrm>
            <a:off x="7635240" y="3383280"/>
            <a:ext cx="548640" cy="548640"/>
          </a:xfrm>
          <a:prstGeom prst="rect">
            <a:avLst/>
          </a:prstGeom>
          <a:noFill/>
          <a:ln/>
        </p:spPr>
        <p:txBody>
          <a:bodyPr wrap="square" lIns="0" tIns="0" rIns="0" bIns="0" rtlCol="0" anchor="ctr"/>
          <a:lstStyle/>
          <a:p>
            <a:pPr algn="ctr" indent="0" marL="0">
              <a:buNone/>
            </a:pPr>
            <a:r>
              <a:rPr lang="en-US" sz="2600" dirty="0">
                <a:solidFill>
                  <a:srgbClr val="E8B46A"/>
                </a:solidFill>
                <a:latin typeface="Menlo" pitchFamily="34" charset="0"/>
                <a:ea typeface="Menlo" pitchFamily="34" charset="-122"/>
                <a:cs typeface="Menlo" pitchFamily="34" charset="-120"/>
              </a:rPr>
              <a:t>✕</a:t>
            </a:r>
            <a:endParaRPr lang="en-US" sz="2600" dirty="0"/>
          </a:p>
        </p:txBody>
      </p:sp>
      <p:sp>
        <p:nvSpPr>
          <p:cNvPr id="39" name="Shape 37"/>
          <p:cNvSpPr/>
          <p:nvPr/>
        </p:nvSpPr>
        <p:spPr>
          <a:xfrm>
            <a:off x="5349240" y="5376672"/>
            <a:ext cx="1051560" cy="0"/>
          </a:xfrm>
          <a:prstGeom prst="line">
            <a:avLst/>
          </a:prstGeom>
          <a:noFill/>
          <a:ln w="25400">
            <a:solidFill>
              <a:srgbClr val="E8B46A"/>
            </a:solidFill>
            <a:prstDash val="solid"/>
          </a:ln>
        </p:spPr>
      </p:sp>
      <p:sp>
        <p:nvSpPr>
          <p:cNvPr id="40" name="Shape 38"/>
          <p:cNvSpPr/>
          <p:nvPr/>
        </p:nvSpPr>
        <p:spPr>
          <a:xfrm>
            <a:off x="6400800" y="5166360"/>
            <a:ext cx="1280160" cy="420624"/>
          </a:xfrm>
          <a:prstGeom prst="roundRect">
            <a:avLst>
              <a:gd name="adj" fmla="val 50000"/>
            </a:avLst>
          </a:prstGeom>
          <a:solidFill>
            <a:srgbClr val="2C2416"/>
          </a:solidFill>
          <a:ln w="15875">
            <a:solidFill>
              <a:srgbClr val="E8B46A"/>
            </a:solidFill>
            <a:prstDash val="solid"/>
          </a:ln>
        </p:spPr>
      </p:sp>
      <p:sp>
        <p:nvSpPr>
          <p:cNvPr id="41" name="Text 39"/>
          <p:cNvSpPr/>
          <p:nvPr/>
        </p:nvSpPr>
        <p:spPr>
          <a:xfrm>
            <a:off x="6400800" y="5166360"/>
            <a:ext cx="1280160" cy="420624"/>
          </a:xfrm>
          <a:prstGeom prst="rect">
            <a:avLst/>
          </a:prstGeom>
          <a:noFill/>
          <a:ln/>
        </p:spPr>
        <p:txBody>
          <a:bodyPr wrap="square" lIns="0" tIns="0" rIns="0" bIns="0" rtlCol="0" anchor="ctr"/>
          <a:lstStyle/>
          <a:p>
            <a:pPr algn="ctr" indent="0" marL="0">
              <a:buNone/>
            </a:pPr>
            <a:r>
              <a:rPr lang="en-US" sz="1400" dirty="0">
                <a:solidFill>
                  <a:srgbClr val="E8B46A"/>
                </a:solidFill>
                <a:latin typeface="Menlo" pitchFamily="34" charset="0"/>
                <a:ea typeface="Menlo" pitchFamily="34" charset="-122"/>
                <a:cs typeface="Menlo" pitchFamily="34" charset="-120"/>
              </a:rPr>
              <a:t>proxy</a:t>
            </a:r>
            <a:endParaRPr lang="en-US" sz="1400" dirty="0"/>
          </a:p>
        </p:txBody>
      </p:sp>
      <p:sp>
        <p:nvSpPr>
          <p:cNvPr id="42" name="Shape 40"/>
          <p:cNvSpPr/>
          <p:nvPr/>
        </p:nvSpPr>
        <p:spPr>
          <a:xfrm>
            <a:off x="7680960" y="5376672"/>
            <a:ext cx="274320" cy="0"/>
          </a:xfrm>
          <a:prstGeom prst="line">
            <a:avLst/>
          </a:prstGeom>
          <a:noFill/>
          <a:ln w="25400">
            <a:solidFill>
              <a:srgbClr val="E8B46A"/>
            </a:solidFill>
            <a:prstDash val="solid"/>
          </a:ln>
        </p:spPr>
      </p:sp>
      <p:sp>
        <p:nvSpPr>
          <p:cNvPr id="43" name="Shape 41"/>
          <p:cNvSpPr/>
          <p:nvPr/>
        </p:nvSpPr>
        <p:spPr>
          <a:xfrm flipV="1">
            <a:off x="7955280" y="5001768"/>
            <a:ext cx="0" cy="374904"/>
          </a:xfrm>
          <a:prstGeom prst="line">
            <a:avLst/>
          </a:prstGeom>
          <a:noFill/>
          <a:ln w="25400">
            <a:solidFill>
              <a:srgbClr val="E8B46A"/>
            </a:solidFill>
            <a:prstDash val="solid"/>
          </a:ln>
        </p:spPr>
      </p:sp>
      <p:sp>
        <p:nvSpPr>
          <p:cNvPr id="44" name="Shape 42"/>
          <p:cNvSpPr/>
          <p:nvPr/>
        </p:nvSpPr>
        <p:spPr>
          <a:xfrm>
            <a:off x="7955280" y="5001768"/>
            <a:ext cx="548640" cy="0"/>
          </a:xfrm>
          <a:prstGeom prst="line">
            <a:avLst/>
          </a:prstGeom>
          <a:noFill/>
          <a:ln w="25400">
            <a:solidFill>
              <a:srgbClr val="E8B46A"/>
            </a:solidFill>
            <a:prstDash val="solid"/>
            <a:tailEnd type="triangle"/>
          </a:ln>
        </p:spPr>
      </p:sp>
      <p:sp>
        <p:nvSpPr>
          <p:cNvPr id="45" name="Shape 43"/>
          <p:cNvSpPr/>
          <p:nvPr/>
        </p:nvSpPr>
        <p:spPr>
          <a:xfrm>
            <a:off x="5349240" y="7059168"/>
            <a:ext cx="2331720" cy="0"/>
          </a:xfrm>
          <a:prstGeom prst="line">
            <a:avLst/>
          </a:prstGeom>
          <a:noFill/>
          <a:ln w="31750">
            <a:solidFill>
              <a:srgbClr val="C5DD97"/>
            </a:solidFill>
            <a:prstDash val="solid"/>
          </a:ln>
        </p:spPr>
      </p:sp>
      <p:sp>
        <p:nvSpPr>
          <p:cNvPr id="46" name="Shape 44"/>
          <p:cNvSpPr/>
          <p:nvPr/>
        </p:nvSpPr>
        <p:spPr>
          <a:xfrm flipV="1">
            <a:off x="7680960" y="6281928"/>
            <a:ext cx="0" cy="777240"/>
          </a:xfrm>
          <a:prstGeom prst="line">
            <a:avLst/>
          </a:prstGeom>
          <a:noFill/>
          <a:ln w="31750">
            <a:solidFill>
              <a:srgbClr val="C5DD97"/>
            </a:solidFill>
            <a:prstDash val="solid"/>
          </a:ln>
        </p:spPr>
      </p:sp>
      <p:sp>
        <p:nvSpPr>
          <p:cNvPr id="47" name="Shape 45"/>
          <p:cNvSpPr/>
          <p:nvPr/>
        </p:nvSpPr>
        <p:spPr>
          <a:xfrm>
            <a:off x="7680960" y="6281928"/>
            <a:ext cx="822960" cy="0"/>
          </a:xfrm>
          <a:prstGeom prst="line">
            <a:avLst/>
          </a:prstGeom>
          <a:noFill/>
          <a:ln w="31750">
            <a:solidFill>
              <a:srgbClr val="C5DD97"/>
            </a:solidFill>
            <a:prstDash val="solid"/>
            <a:tailEnd type="triangle"/>
          </a:ln>
        </p:spPr>
      </p:sp>
      <p:sp>
        <p:nvSpPr>
          <p:cNvPr id="48" name="Text 46"/>
          <p:cNvSpPr/>
          <p:nvPr/>
        </p:nvSpPr>
        <p:spPr>
          <a:xfrm>
            <a:off x="5486400" y="6675120"/>
            <a:ext cx="2377440" cy="365760"/>
          </a:xfrm>
          <a:prstGeom prst="rect">
            <a:avLst/>
          </a:prstGeom>
          <a:noFill/>
          <a:ln/>
        </p:spPr>
        <p:txBody>
          <a:bodyPr wrap="square" lIns="0" tIns="0" rIns="0" bIns="0" rtlCol="0" anchor="ctr"/>
          <a:lstStyle/>
          <a:p>
            <a:pPr indent="0" marL="0">
              <a:buNone/>
            </a:pPr>
            <a:r>
              <a:rPr lang="en-US" sz="1300" dirty="0">
                <a:solidFill>
                  <a:srgbClr val="C5DD97"/>
                </a:solidFill>
                <a:latin typeface="Menlo" pitchFamily="34" charset="0"/>
                <a:ea typeface="Menlo" pitchFamily="34" charset="-122"/>
                <a:cs typeface="Menlo" pitchFamily="34" charset="-120"/>
              </a:rPr>
              <a:t>mount / clone</a:t>
            </a:r>
            <a:endParaRPr lang="en-US" sz="1300" dirty="0"/>
          </a:p>
        </p:txBody>
      </p:sp>
      <p:sp>
        <p:nvSpPr>
          <p:cNvPr id="49" name="Shape 47"/>
          <p:cNvSpPr/>
          <p:nvPr/>
        </p:nvSpPr>
        <p:spPr>
          <a:xfrm>
            <a:off x="14630400" y="3017520"/>
            <a:ext cx="0" cy="914400"/>
          </a:xfrm>
          <a:prstGeom prst="line">
            <a:avLst/>
          </a:prstGeom>
          <a:noFill/>
          <a:ln w="38100">
            <a:solidFill>
              <a:srgbClr val="C5DD97"/>
            </a:solidFill>
            <a:prstDash val="solid"/>
          </a:ln>
        </p:spPr>
      </p:sp>
      <p:sp>
        <p:nvSpPr>
          <p:cNvPr id="50" name="Text 48"/>
          <p:cNvSpPr/>
          <p:nvPr/>
        </p:nvSpPr>
        <p:spPr>
          <a:xfrm>
            <a:off x="14904720" y="2971800"/>
            <a:ext cx="2286000" cy="457200"/>
          </a:xfrm>
          <a:prstGeom prst="rect">
            <a:avLst/>
          </a:prstGeom>
          <a:noFill/>
          <a:ln/>
        </p:spPr>
        <p:txBody>
          <a:bodyPr wrap="square" lIns="0" tIns="0" rIns="0" bIns="0" rtlCol="0" anchor="ctr"/>
          <a:lstStyle/>
          <a:p>
            <a:pPr indent="0" marL="0">
              <a:buNone/>
            </a:pPr>
            <a:r>
              <a:rPr lang="en-US" sz="2000" dirty="0">
                <a:solidFill>
                  <a:srgbClr val="ECE8E1"/>
                </a:solidFill>
                <a:latin typeface="Helvetica Neue" pitchFamily="34" charset="0"/>
                <a:ea typeface="Helvetica Neue" pitchFamily="34" charset="-122"/>
                <a:cs typeface="Helvetica Neue" pitchFamily="34" charset="-120"/>
              </a:rPr>
              <a:t>kernel</a:t>
            </a:r>
            <a:endParaRPr lang="en-US" sz="2000" dirty="0"/>
          </a:p>
        </p:txBody>
      </p:sp>
      <p:sp>
        <p:nvSpPr>
          <p:cNvPr id="51" name="Text 49"/>
          <p:cNvSpPr/>
          <p:nvPr/>
        </p:nvSpPr>
        <p:spPr>
          <a:xfrm>
            <a:off x="14904720" y="3456432"/>
            <a:ext cx="2286000" cy="36576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own</a:t>
            </a:r>
            <a:endParaRPr lang="en-US" sz="1500" dirty="0"/>
          </a:p>
        </p:txBody>
      </p:sp>
      <p:sp>
        <p:nvSpPr>
          <p:cNvPr id="52" name="Shape 50"/>
          <p:cNvSpPr/>
          <p:nvPr/>
        </p:nvSpPr>
        <p:spPr>
          <a:xfrm>
            <a:off x="14630400" y="4224528"/>
            <a:ext cx="0" cy="914400"/>
          </a:xfrm>
          <a:prstGeom prst="line">
            <a:avLst/>
          </a:prstGeom>
          <a:noFill/>
          <a:ln w="38100">
            <a:solidFill>
              <a:srgbClr val="C5DD97"/>
            </a:solidFill>
            <a:prstDash val="solid"/>
          </a:ln>
        </p:spPr>
      </p:sp>
      <p:sp>
        <p:nvSpPr>
          <p:cNvPr id="53" name="Text 51"/>
          <p:cNvSpPr/>
          <p:nvPr/>
        </p:nvSpPr>
        <p:spPr>
          <a:xfrm>
            <a:off x="14904720" y="4178808"/>
            <a:ext cx="2286000" cy="457200"/>
          </a:xfrm>
          <a:prstGeom prst="rect">
            <a:avLst/>
          </a:prstGeom>
          <a:noFill/>
          <a:ln/>
        </p:spPr>
        <p:txBody>
          <a:bodyPr wrap="square" lIns="0" tIns="0" rIns="0" bIns="0" rtlCol="0" anchor="ctr"/>
          <a:lstStyle/>
          <a:p>
            <a:pPr indent="0" marL="0">
              <a:buNone/>
            </a:pPr>
            <a:r>
              <a:rPr lang="en-US" sz="2000" dirty="0">
                <a:solidFill>
                  <a:srgbClr val="ECE8E1"/>
                </a:solidFill>
                <a:latin typeface="Helvetica Neue" pitchFamily="34" charset="0"/>
                <a:ea typeface="Helvetica Neue" pitchFamily="34" charset="-122"/>
                <a:cs typeface="Helvetica Neue" pitchFamily="34" charset="-120"/>
              </a:rPr>
              <a:t>network</a:t>
            </a:r>
            <a:endParaRPr lang="en-US" sz="2000" dirty="0"/>
          </a:p>
        </p:txBody>
      </p:sp>
      <p:sp>
        <p:nvSpPr>
          <p:cNvPr id="54" name="Text 52"/>
          <p:cNvSpPr/>
          <p:nvPr/>
        </p:nvSpPr>
        <p:spPr>
          <a:xfrm>
            <a:off x="14904720" y="4663440"/>
            <a:ext cx="2286000" cy="36576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allowlist</a:t>
            </a:r>
            <a:endParaRPr lang="en-US" sz="1500" dirty="0"/>
          </a:p>
        </p:txBody>
      </p:sp>
      <p:sp>
        <p:nvSpPr>
          <p:cNvPr id="55" name="Shape 53"/>
          <p:cNvSpPr/>
          <p:nvPr/>
        </p:nvSpPr>
        <p:spPr>
          <a:xfrm>
            <a:off x="14630400" y="5431536"/>
            <a:ext cx="0" cy="914400"/>
          </a:xfrm>
          <a:prstGeom prst="line">
            <a:avLst/>
          </a:prstGeom>
          <a:noFill/>
          <a:ln w="38100">
            <a:solidFill>
              <a:srgbClr val="C5DD97"/>
            </a:solidFill>
            <a:prstDash val="solid"/>
          </a:ln>
        </p:spPr>
      </p:sp>
      <p:sp>
        <p:nvSpPr>
          <p:cNvPr id="56" name="Text 54"/>
          <p:cNvSpPr/>
          <p:nvPr/>
        </p:nvSpPr>
        <p:spPr>
          <a:xfrm>
            <a:off x="14904720" y="5385816"/>
            <a:ext cx="2286000" cy="457200"/>
          </a:xfrm>
          <a:prstGeom prst="rect">
            <a:avLst/>
          </a:prstGeom>
          <a:noFill/>
          <a:ln/>
        </p:spPr>
        <p:txBody>
          <a:bodyPr wrap="square" lIns="0" tIns="0" rIns="0" bIns="0" rtlCol="0" anchor="ctr"/>
          <a:lstStyle/>
          <a:p>
            <a:pPr indent="0" marL="0">
              <a:buNone/>
            </a:pPr>
            <a:r>
              <a:rPr lang="en-US" sz="2000" dirty="0">
                <a:solidFill>
                  <a:srgbClr val="ECE8E1"/>
                </a:solidFill>
                <a:latin typeface="Helvetica Neue" pitchFamily="34" charset="0"/>
                <a:ea typeface="Helvetica Neue" pitchFamily="34" charset="-122"/>
                <a:cs typeface="Helvetica Neue" pitchFamily="34" charset="-120"/>
              </a:rPr>
              <a:t>workspace</a:t>
            </a:r>
            <a:endParaRPr lang="en-US" sz="2000" dirty="0"/>
          </a:p>
        </p:txBody>
      </p:sp>
      <p:sp>
        <p:nvSpPr>
          <p:cNvPr id="57" name="Text 55"/>
          <p:cNvSpPr/>
          <p:nvPr/>
        </p:nvSpPr>
        <p:spPr>
          <a:xfrm>
            <a:off x="14904720" y="5870448"/>
            <a:ext cx="2286000" cy="36576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3 modes</a:t>
            </a:r>
            <a:endParaRPr lang="en-US" sz="1500" dirty="0"/>
          </a:p>
        </p:txBody>
      </p:sp>
      <p:sp>
        <p:nvSpPr>
          <p:cNvPr id="58" name="Shape 56"/>
          <p:cNvSpPr/>
          <p:nvPr/>
        </p:nvSpPr>
        <p:spPr>
          <a:xfrm>
            <a:off x="14630400" y="6638544"/>
            <a:ext cx="0" cy="914400"/>
          </a:xfrm>
          <a:prstGeom prst="line">
            <a:avLst/>
          </a:prstGeom>
          <a:noFill/>
          <a:ln w="38100">
            <a:solidFill>
              <a:srgbClr val="C5DD97"/>
            </a:solidFill>
            <a:prstDash val="solid"/>
          </a:ln>
        </p:spPr>
      </p:sp>
      <p:sp>
        <p:nvSpPr>
          <p:cNvPr id="59" name="Text 57"/>
          <p:cNvSpPr/>
          <p:nvPr/>
        </p:nvSpPr>
        <p:spPr>
          <a:xfrm>
            <a:off x="14904720" y="6592824"/>
            <a:ext cx="2286000" cy="457200"/>
          </a:xfrm>
          <a:prstGeom prst="rect">
            <a:avLst/>
          </a:prstGeom>
          <a:noFill/>
          <a:ln/>
        </p:spPr>
        <p:txBody>
          <a:bodyPr wrap="square" lIns="0" tIns="0" rIns="0" bIns="0" rtlCol="0" anchor="ctr"/>
          <a:lstStyle/>
          <a:p>
            <a:pPr indent="0" marL="0">
              <a:buNone/>
            </a:pPr>
            <a:r>
              <a:rPr lang="en-US" sz="2000" dirty="0">
                <a:solidFill>
                  <a:srgbClr val="ECE8E1"/>
                </a:solidFill>
                <a:latin typeface="Helvetica Neue" pitchFamily="34" charset="0"/>
                <a:ea typeface="Helvetica Neue" pitchFamily="34" charset="-122"/>
                <a:cs typeface="Helvetica Neue" pitchFamily="34" charset="-120"/>
              </a:rPr>
              <a:t>key</a:t>
            </a:r>
            <a:endParaRPr lang="en-US" sz="2000" dirty="0"/>
          </a:p>
        </p:txBody>
      </p:sp>
      <p:sp>
        <p:nvSpPr>
          <p:cNvPr id="60" name="Text 58"/>
          <p:cNvSpPr/>
          <p:nvPr/>
        </p:nvSpPr>
        <p:spPr>
          <a:xfrm>
            <a:off x="14904720" y="7077456"/>
            <a:ext cx="2286000" cy="36576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proxy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THE TRAP</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C5DD97"/>
          </a:solidFill>
          <a:ln/>
        </p:spPr>
      </p:sp>
      <p:sp>
        <p:nvSpPr>
          <p:cNvPr id="8" name="Shape 6"/>
          <p:cNvSpPr/>
          <p:nvPr/>
        </p:nvSpPr>
        <p:spPr>
          <a:xfrm>
            <a:off x="6416040" y="9528048"/>
            <a:ext cx="1309116" cy="45720"/>
          </a:xfrm>
          <a:prstGeom prst="rect">
            <a:avLst/>
          </a:prstGeom>
          <a:solidFill>
            <a:srgbClr val="2A2A27"/>
          </a:solidFill>
          <a:ln/>
        </p:spPr>
      </p:sp>
      <p:sp>
        <p:nvSpPr>
          <p:cNvPr id="9" name="Shape 7"/>
          <p:cNvSpPr/>
          <p:nvPr/>
        </p:nvSpPr>
        <p:spPr>
          <a:xfrm>
            <a:off x="7780020" y="9528048"/>
            <a:ext cx="1309116" cy="45720"/>
          </a:xfrm>
          <a:prstGeom prst="rect">
            <a:avLst/>
          </a:prstGeom>
          <a:solidFill>
            <a:srgbClr val="2A2A27"/>
          </a:solidFill>
          <a:ln/>
        </p:spPr>
      </p:sp>
      <p:sp>
        <p:nvSpPr>
          <p:cNvPr id="10" name="Shape 8"/>
          <p:cNvSpPr/>
          <p:nvPr/>
        </p:nvSpPr>
        <p:spPr>
          <a:xfrm>
            <a:off x="9144000" y="9528048"/>
            <a:ext cx="1309116" cy="45720"/>
          </a:xfrm>
          <a:prstGeom prst="rect">
            <a:avLst/>
          </a:prstGeom>
          <a:solidFill>
            <a:srgbClr val="2A2A2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04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Three ways to look in the wrong place.</a:t>
            </a:r>
            <a:endParaRPr lang="en-US" sz="4400" dirty="0"/>
          </a:p>
        </p:txBody>
      </p:sp>
      <p:sp>
        <p:nvSpPr>
          <p:cNvPr id="18" name="Shape 16"/>
          <p:cNvSpPr/>
          <p:nvPr/>
        </p:nvSpPr>
        <p:spPr>
          <a:xfrm>
            <a:off x="960120" y="2240280"/>
            <a:ext cx="5257800" cy="6583680"/>
          </a:xfrm>
          <a:prstGeom prst="roundRect">
            <a:avLst>
              <a:gd name="adj" fmla="val 2435"/>
            </a:avLst>
          </a:prstGeom>
          <a:solidFill>
            <a:srgbClr val="151513"/>
          </a:solidFill>
          <a:ln/>
        </p:spPr>
      </p:sp>
      <p:sp>
        <p:nvSpPr>
          <p:cNvPr id="19" name="Shape 17"/>
          <p:cNvSpPr/>
          <p:nvPr/>
        </p:nvSpPr>
        <p:spPr>
          <a:xfrm>
            <a:off x="1325880" y="2240280"/>
            <a:ext cx="1097280" cy="64008"/>
          </a:xfrm>
          <a:prstGeom prst="rect">
            <a:avLst/>
          </a:prstGeom>
          <a:solidFill>
            <a:srgbClr val="E8B46A"/>
          </a:solidFill>
          <a:ln/>
        </p:spPr>
      </p:sp>
      <p:sp>
        <p:nvSpPr>
          <p:cNvPr id="20" name="Text 18"/>
          <p:cNvSpPr/>
          <p:nvPr/>
        </p:nvSpPr>
        <p:spPr>
          <a:xfrm>
            <a:off x="1307592" y="2514600"/>
            <a:ext cx="4572000" cy="1645920"/>
          </a:xfrm>
          <a:prstGeom prst="rect">
            <a:avLst/>
          </a:prstGeom>
          <a:noFill/>
          <a:ln/>
        </p:spPr>
        <p:txBody>
          <a:bodyPr wrap="square" lIns="0" tIns="0" rIns="0" bIns="0" rtlCol="0" anchor="ctr"/>
          <a:lstStyle/>
          <a:p>
            <a:pPr indent="0" marL="0">
              <a:buNone/>
            </a:pPr>
            <a:r>
              <a:rPr lang="en-US" sz="11000" dirty="0">
                <a:solidFill>
                  <a:srgbClr val="E8B46A"/>
                </a:solidFill>
                <a:latin typeface="Helvetica Neue" pitchFamily="34" charset="0"/>
                <a:ea typeface="Helvetica Neue" pitchFamily="34" charset="-122"/>
                <a:cs typeface="Helvetica Neue" pitchFamily="34" charset="-120"/>
              </a:rPr>
              <a:t>0</a:t>
            </a:r>
            <a:endParaRPr lang="en-US" sz="11000" dirty="0"/>
          </a:p>
        </p:txBody>
      </p:sp>
      <p:sp>
        <p:nvSpPr>
          <p:cNvPr id="21" name="Text 19"/>
          <p:cNvSpPr/>
          <p:nvPr/>
        </p:nvSpPr>
        <p:spPr>
          <a:xfrm>
            <a:off x="1325880" y="4206240"/>
            <a:ext cx="4572000" cy="502920"/>
          </a:xfrm>
          <a:prstGeom prst="rect">
            <a:avLst/>
          </a:prstGeom>
          <a:noFill/>
          <a:ln/>
        </p:spPr>
        <p:txBody>
          <a:bodyPr wrap="square" lIns="0" tIns="0" rIns="0" bIns="0" rtlCol="0" anchor="ctr"/>
          <a:lstStyle/>
          <a:p>
            <a:pPr indent="0" marL="0">
              <a:buNone/>
            </a:pPr>
            <a:r>
              <a:rPr lang="en-US" sz="2200" dirty="0">
                <a:solidFill>
                  <a:srgbClr val="ECE8E1"/>
                </a:solidFill>
                <a:latin typeface="Menlo" pitchFamily="34" charset="0"/>
                <a:ea typeface="Menlo" pitchFamily="34" charset="-122"/>
                <a:cs typeface="Menlo" pitchFamily="34" charset="-120"/>
              </a:rPr>
              <a:t>ccusage</a:t>
            </a:r>
            <a:endParaRPr lang="en-US" sz="2200" dirty="0"/>
          </a:p>
        </p:txBody>
      </p:sp>
      <p:sp>
        <p:nvSpPr>
          <p:cNvPr id="22" name="Text 20"/>
          <p:cNvSpPr/>
          <p:nvPr/>
        </p:nvSpPr>
        <p:spPr>
          <a:xfrm>
            <a:off x="1325880" y="4709160"/>
            <a:ext cx="457200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reads ~/.claude on the host</a:t>
            </a:r>
            <a:endParaRPr lang="en-US" sz="1700" dirty="0"/>
          </a:p>
        </p:txBody>
      </p:sp>
      <p:sp>
        <p:nvSpPr>
          <p:cNvPr id="23" name="Shape 21"/>
          <p:cNvSpPr/>
          <p:nvPr/>
        </p:nvSpPr>
        <p:spPr>
          <a:xfrm>
            <a:off x="1325880" y="5349240"/>
            <a:ext cx="4526280" cy="1965960"/>
          </a:xfrm>
          <a:prstGeom prst="roundRect">
            <a:avLst>
              <a:gd name="adj" fmla="val 6512"/>
            </a:avLst>
          </a:prstGeom>
          <a:solidFill>
            <a:srgbClr val="0F0F0D"/>
          </a:solidFill>
          <a:ln/>
        </p:spPr>
      </p:sp>
      <p:sp>
        <p:nvSpPr>
          <p:cNvPr id="24" name="Text 22"/>
          <p:cNvSpPr/>
          <p:nvPr/>
        </p:nvSpPr>
        <p:spPr>
          <a:xfrm>
            <a:off x="1554480" y="5532120"/>
            <a:ext cx="4114800" cy="1645920"/>
          </a:xfrm>
          <a:prstGeom prst="rect">
            <a:avLst/>
          </a:prstGeom>
          <a:noFill/>
          <a:ln/>
        </p:spPr>
        <p:txBody>
          <a:bodyPr wrap="square" lIns="0" tIns="0" rIns="0" bIns="0" rtlCol="0" anchor="ctr"/>
          <a:lstStyle/>
          <a:p>
            <a:pPr indent="0" marL="0">
              <a:lnSpc>
                <a:spcPct val="135000"/>
              </a:lnSpc>
              <a:buNone/>
            </a:pPr>
            <a:r>
              <a:rPr lang="en-US" sz="1400" dirty="0">
                <a:solidFill>
                  <a:srgbClr val="6B6760"/>
                </a:solidFill>
                <a:latin typeface="Menlo" pitchFamily="34" charset="0"/>
                <a:ea typeface="Menlo" pitchFamily="34" charset="-122"/>
                <a:cs typeface="Menlo" pitchFamily="34" charset="-120"/>
              </a:rPr>
              <a:t>$ ccusage</a:t>
            </a:r>
            <a:endParaRPr lang="en-US" sz="1400" dirty="0"/>
          </a:p>
          <a:p>
            <a:pPr indent="0" marL="0">
              <a:lnSpc>
                <a:spcPct val="135000"/>
              </a:lnSpc>
              <a:buNone/>
            </a:pPr>
            <a:endParaRPr lang="en-US" sz="1400" dirty="0"/>
          </a:p>
          <a:p>
            <a:pPr indent="0" marL="0">
              <a:lnSpc>
                <a:spcPct val="135000"/>
              </a:lnSpc>
              <a:buNone/>
            </a:pPr>
            <a:r>
              <a:rPr lang="en-US" sz="1400" dirty="0">
                <a:solidFill>
                  <a:srgbClr val="6B6760"/>
                </a:solidFill>
                <a:latin typeface="Menlo" pitchFamily="34" charset="0"/>
                <a:ea typeface="Menlo" pitchFamily="34" charset="-122"/>
                <a:cs typeface="Menlo" pitchFamily="34" charset="-120"/>
              </a:rPr>
              <a:t>  no sessions found</a:t>
            </a:r>
            <a:endParaRPr lang="en-US" sz="1400" dirty="0"/>
          </a:p>
        </p:txBody>
      </p:sp>
      <p:sp>
        <p:nvSpPr>
          <p:cNvPr id="25" name="Shape 23"/>
          <p:cNvSpPr/>
          <p:nvPr/>
        </p:nvSpPr>
        <p:spPr>
          <a:xfrm>
            <a:off x="1325880" y="7863840"/>
            <a:ext cx="954151" cy="420624"/>
          </a:xfrm>
          <a:prstGeom prst="roundRect">
            <a:avLst>
              <a:gd name="adj" fmla="val 50000"/>
            </a:avLst>
          </a:prstGeom>
          <a:solidFill>
            <a:srgbClr val="2C2416"/>
          </a:solidFill>
          <a:ln/>
        </p:spPr>
      </p:sp>
      <p:sp>
        <p:nvSpPr>
          <p:cNvPr id="26" name="Text 24"/>
          <p:cNvSpPr/>
          <p:nvPr/>
        </p:nvSpPr>
        <p:spPr>
          <a:xfrm>
            <a:off x="1325880" y="7863840"/>
            <a:ext cx="954151" cy="420624"/>
          </a:xfrm>
          <a:prstGeom prst="rect">
            <a:avLst/>
          </a:prstGeom>
          <a:noFill/>
          <a:ln/>
        </p:spPr>
        <p:txBody>
          <a:bodyPr wrap="square" lIns="0" tIns="0" rIns="0" bIns="0" rtlCol="0" anchor="ctr"/>
          <a:lstStyle/>
          <a:p>
            <a:pPr algn="ctr" indent="0" marL="0">
              <a:buNone/>
            </a:pPr>
            <a:r>
              <a:rPr lang="en-US" sz="1300" dirty="0">
                <a:solidFill>
                  <a:srgbClr val="E8B46A"/>
                </a:solidFill>
                <a:latin typeface="Menlo" pitchFamily="34" charset="0"/>
                <a:ea typeface="Menlo" pitchFamily="34" charset="-122"/>
                <a:cs typeface="Menlo" pitchFamily="34" charset="-120"/>
              </a:rPr>
              <a:t>BLIND</a:t>
            </a:r>
            <a:endParaRPr lang="en-US" sz="1300" dirty="0"/>
          </a:p>
        </p:txBody>
      </p:sp>
      <p:sp>
        <p:nvSpPr>
          <p:cNvPr id="27" name="Shape 25"/>
          <p:cNvSpPr/>
          <p:nvPr/>
        </p:nvSpPr>
        <p:spPr>
          <a:xfrm>
            <a:off x="6492240" y="2240280"/>
            <a:ext cx="5257800" cy="6583680"/>
          </a:xfrm>
          <a:prstGeom prst="roundRect">
            <a:avLst>
              <a:gd name="adj" fmla="val 2435"/>
            </a:avLst>
          </a:prstGeom>
          <a:solidFill>
            <a:srgbClr val="151513"/>
          </a:solidFill>
          <a:ln/>
        </p:spPr>
      </p:sp>
      <p:sp>
        <p:nvSpPr>
          <p:cNvPr id="28" name="Shape 26"/>
          <p:cNvSpPr/>
          <p:nvPr/>
        </p:nvSpPr>
        <p:spPr>
          <a:xfrm>
            <a:off x="6858000" y="2240280"/>
            <a:ext cx="1097280" cy="64008"/>
          </a:xfrm>
          <a:prstGeom prst="rect">
            <a:avLst/>
          </a:prstGeom>
          <a:solidFill>
            <a:srgbClr val="E8B46A"/>
          </a:solidFill>
          <a:ln/>
        </p:spPr>
      </p:sp>
      <p:sp>
        <p:nvSpPr>
          <p:cNvPr id="29" name="Text 27"/>
          <p:cNvSpPr/>
          <p:nvPr/>
        </p:nvSpPr>
        <p:spPr>
          <a:xfrm>
            <a:off x="6839712" y="2514600"/>
            <a:ext cx="4572000" cy="1645920"/>
          </a:xfrm>
          <a:prstGeom prst="rect">
            <a:avLst/>
          </a:prstGeom>
          <a:noFill/>
          <a:ln/>
        </p:spPr>
        <p:txBody>
          <a:bodyPr wrap="square" lIns="0" tIns="0" rIns="0" bIns="0" rtlCol="0" anchor="ctr"/>
          <a:lstStyle/>
          <a:p>
            <a:pPr indent="0" marL="0">
              <a:buNone/>
            </a:pPr>
            <a:r>
              <a:rPr lang="en-US" sz="11000" dirty="0">
                <a:solidFill>
                  <a:srgbClr val="E8B46A"/>
                </a:solidFill>
                <a:latin typeface="Helvetica Neue" pitchFamily="34" charset="0"/>
                <a:ea typeface="Helvetica Neue" pitchFamily="34" charset="-122"/>
                <a:cs typeface="Helvetica Neue" pitchFamily="34" charset="-120"/>
              </a:rPr>
              <a:t>93</a:t>
            </a:r>
            <a:endParaRPr lang="en-US" sz="11000" dirty="0"/>
          </a:p>
        </p:txBody>
      </p:sp>
      <p:sp>
        <p:nvSpPr>
          <p:cNvPr id="30" name="Text 28"/>
          <p:cNvSpPr/>
          <p:nvPr/>
        </p:nvSpPr>
        <p:spPr>
          <a:xfrm>
            <a:off x="6858000" y="4206240"/>
            <a:ext cx="4572000" cy="502920"/>
          </a:xfrm>
          <a:prstGeom prst="rect">
            <a:avLst/>
          </a:prstGeom>
          <a:noFill/>
          <a:ln/>
        </p:spPr>
        <p:txBody>
          <a:bodyPr wrap="square" lIns="0" tIns="0" rIns="0" bIns="0" rtlCol="0" anchor="ctr"/>
          <a:lstStyle/>
          <a:p>
            <a:pPr indent="0" marL="0">
              <a:buNone/>
            </a:pPr>
            <a:r>
              <a:rPr lang="en-US" sz="2200" dirty="0">
                <a:solidFill>
                  <a:srgbClr val="ECE8E1"/>
                </a:solidFill>
                <a:latin typeface="Menlo" pitchFamily="34" charset="0"/>
                <a:ea typeface="Menlo" pitchFamily="34" charset="-122"/>
                <a:cs typeface="Menlo" pitchFamily="34" charset="-120"/>
              </a:rPr>
              <a:t>sbx policy log</a:t>
            </a:r>
            <a:endParaRPr lang="en-US" sz="2200" dirty="0"/>
          </a:p>
        </p:txBody>
      </p:sp>
      <p:sp>
        <p:nvSpPr>
          <p:cNvPr id="31" name="Text 29"/>
          <p:cNvSpPr/>
          <p:nvPr/>
        </p:nvSpPr>
        <p:spPr>
          <a:xfrm>
            <a:off x="6858000" y="4709160"/>
            <a:ext cx="457200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one row per allowed host</a:t>
            </a:r>
            <a:endParaRPr lang="en-US" sz="1700" dirty="0"/>
          </a:p>
        </p:txBody>
      </p:sp>
      <p:sp>
        <p:nvSpPr>
          <p:cNvPr id="32" name="Shape 30"/>
          <p:cNvSpPr/>
          <p:nvPr/>
        </p:nvSpPr>
        <p:spPr>
          <a:xfrm>
            <a:off x="6858000" y="5349240"/>
            <a:ext cx="4526280" cy="1965960"/>
          </a:xfrm>
          <a:prstGeom prst="roundRect">
            <a:avLst>
              <a:gd name="adj" fmla="val 6512"/>
            </a:avLst>
          </a:prstGeom>
          <a:solidFill>
            <a:srgbClr val="0F0F0D"/>
          </a:solidFill>
          <a:ln/>
        </p:spPr>
      </p:sp>
      <p:sp>
        <p:nvSpPr>
          <p:cNvPr id="33" name="Text 31"/>
          <p:cNvSpPr/>
          <p:nvPr/>
        </p:nvSpPr>
        <p:spPr>
          <a:xfrm>
            <a:off x="7086600" y="5532120"/>
            <a:ext cx="4114800" cy="1645920"/>
          </a:xfrm>
          <a:prstGeom prst="rect">
            <a:avLst/>
          </a:prstGeom>
          <a:noFill/>
          <a:ln/>
        </p:spPr>
        <p:txBody>
          <a:bodyPr wrap="square" lIns="0" tIns="0" rIns="0" bIns="0" rtlCol="0" anchor="ctr"/>
          <a:lstStyle/>
          <a:p>
            <a:pPr indent="0" marL="0">
              <a:lnSpc>
                <a:spcPct val="135000"/>
              </a:lnSpc>
              <a:buNone/>
            </a:pPr>
            <a:r>
              <a:rPr lang="en-US" sz="1400" dirty="0">
                <a:solidFill>
                  <a:srgbClr val="6B6760"/>
                </a:solidFill>
                <a:latin typeface="Menlo" pitchFamily="34" charset="0"/>
                <a:ea typeface="Menlo" pitchFamily="34" charset="-122"/>
                <a:cs typeface="Menlo" pitchFamily="34" charset="-120"/>
              </a:rPr>
              <a:t>allow  api.anthropic.com</a:t>
            </a:r>
            <a:endParaRPr lang="en-US" sz="1400" dirty="0"/>
          </a:p>
          <a:p>
            <a:pPr indent="0" marL="0">
              <a:lnSpc>
                <a:spcPct val="135000"/>
              </a:lnSpc>
              <a:buNone/>
            </a:pPr>
            <a:r>
              <a:rPr lang="en-US" sz="1400" dirty="0">
                <a:solidFill>
                  <a:srgbClr val="6B6760"/>
                </a:solidFill>
                <a:latin typeface="Menlo" pitchFamily="34" charset="0"/>
                <a:ea typeface="Menlo" pitchFamily="34" charset="-122"/>
                <a:cs typeface="Menlo" pitchFamily="34" charset="-120"/>
              </a:rPr>
              <a:t>allow  registry.npmjs.org</a:t>
            </a:r>
            <a:endParaRPr lang="en-US" sz="1400" dirty="0"/>
          </a:p>
          <a:p>
            <a:pPr indent="0" marL="0">
              <a:lnSpc>
                <a:spcPct val="135000"/>
              </a:lnSpc>
              <a:buNone/>
            </a:pPr>
            <a:r>
              <a:rPr lang="en-US" sz="1400" dirty="0">
                <a:solidFill>
                  <a:srgbClr val="6B6760"/>
                </a:solidFill>
                <a:latin typeface="Menlo" pitchFamily="34" charset="0"/>
                <a:ea typeface="Menlo" pitchFamily="34" charset="-122"/>
                <a:cs typeface="Menlo" pitchFamily="34" charset="-120"/>
              </a:rPr>
              <a:t>allow  github.com</a:t>
            </a:r>
            <a:endParaRPr lang="en-US" sz="1400" dirty="0"/>
          </a:p>
          <a:p>
            <a:pPr indent="0" marL="0">
              <a:lnSpc>
                <a:spcPct val="135000"/>
              </a:lnSpc>
              <a:buNone/>
            </a:pPr>
            <a:r>
              <a:rPr lang="en-US" sz="1400" dirty="0">
                <a:solidFill>
                  <a:srgbClr val="6B6760"/>
                </a:solidFill>
                <a:latin typeface="Menlo" pitchFamily="34" charset="0"/>
                <a:ea typeface="Menlo" pitchFamily="34" charset="-122"/>
                <a:cs typeface="Menlo" pitchFamily="34" charset="-120"/>
              </a:rPr>
              <a:t>  … 90 more</a:t>
            </a:r>
            <a:endParaRPr lang="en-US" sz="1400" dirty="0"/>
          </a:p>
        </p:txBody>
      </p:sp>
      <p:sp>
        <p:nvSpPr>
          <p:cNvPr id="34" name="Shape 32"/>
          <p:cNvSpPr/>
          <p:nvPr/>
        </p:nvSpPr>
        <p:spPr>
          <a:xfrm>
            <a:off x="6858000" y="7863840"/>
            <a:ext cx="1451102" cy="420624"/>
          </a:xfrm>
          <a:prstGeom prst="roundRect">
            <a:avLst>
              <a:gd name="adj" fmla="val 50000"/>
            </a:avLst>
          </a:prstGeom>
          <a:solidFill>
            <a:srgbClr val="2C2416"/>
          </a:solidFill>
          <a:ln/>
        </p:spPr>
      </p:sp>
      <p:sp>
        <p:nvSpPr>
          <p:cNvPr id="35" name="Text 33"/>
          <p:cNvSpPr/>
          <p:nvPr/>
        </p:nvSpPr>
        <p:spPr>
          <a:xfrm>
            <a:off x="6858000" y="7863840"/>
            <a:ext cx="1451102" cy="420624"/>
          </a:xfrm>
          <a:prstGeom prst="rect">
            <a:avLst/>
          </a:prstGeom>
          <a:noFill/>
          <a:ln/>
        </p:spPr>
        <p:txBody>
          <a:bodyPr wrap="square" lIns="0" tIns="0" rIns="0" bIns="0" rtlCol="0" anchor="ctr"/>
          <a:lstStyle/>
          <a:p>
            <a:pPr algn="ctr" indent="0" marL="0">
              <a:buNone/>
            </a:pPr>
            <a:r>
              <a:rPr lang="en-US" sz="1300" dirty="0">
                <a:solidFill>
                  <a:srgbClr val="E8B46A"/>
                </a:solidFill>
                <a:latin typeface="Menlo" pitchFamily="34" charset="0"/>
                <a:ea typeface="Menlo" pitchFamily="34" charset="-122"/>
                <a:cs typeface="Menlo" pitchFamily="34" charset="-120"/>
              </a:rPr>
              <a:t>NOT TOKENS</a:t>
            </a:r>
            <a:endParaRPr lang="en-US" sz="1300" dirty="0"/>
          </a:p>
        </p:txBody>
      </p:sp>
      <p:sp>
        <p:nvSpPr>
          <p:cNvPr id="36" name="Shape 34"/>
          <p:cNvSpPr/>
          <p:nvPr/>
        </p:nvSpPr>
        <p:spPr>
          <a:xfrm>
            <a:off x="12024360" y="2240280"/>
            <a:ext cx="5257800" cy="6583680"/>
          </a:xfrm>
          <a:prstGeom prst="roundRect">
            <a:avLst>
              <a:gd name="adj" fmla="val 2435"/>
            </a:avLst>
          </a:prstGeom>
          <a:solidFill>
            <a:srgbClr val="151513"/>
          </a:solidFill>
          <a:ln/>
        </p:spPr>
      </p:sp>
      <p:sp>
        <p:nvSpPr>
          <p:cNvPr id="37" name="Shape 35"/>
          <p:cNvSpPr/>
          <p:nvPr/>
        </p:nvSpPr>
        <p:spPr>
          <a:xfrm>
            <a:off x="12390120" y="2240280"/>
            <a:ext cx="1097280" cy="64008"/>
          </a:xfrm>
          <a:prstGeom prst="rect">
            <a:avLst/>
          </a:prstGeom>
          <a:solidFill>
            <a:srgbClr val="C5DD97"/>
          </a:solidFill>
          <a:ln/>
        </p:spPr>
      </p:sp>
      <p:sp>
        <p:nvSpPr>
          <p:cNvPr id="38" name="Text 36"/>
          <p:cNvSpPr/>
          <p:nvPr/>
        </p:nvSpPr>
        <p:spPr>
          <a:xfrm>
            <a:off x="12371832" y="2514600"/>
            <a:ext cx="4572000" cy="1645920"/>
          </a:xfrm>
          <a:prstGeom prst="rect">
            <a:avLst/>
          </a:prstGeom>
          <a:noFill/>
          <a:ln/>
        </p:spPr>
        <p:txBody>
          <a:bodyPr wrap="square" lIns="0" tIns="0" rIns="0" bIns="0" rtlCol="0" anchor="ctr"/>
          <a:lstStyle/>
          <a:p>
            <a:pPr indent="0" marL="0">
              <a:buNone/>
            </a:pPr>
            <a:r>
              <a:rPr lang="en-US" sz="11000" dirty="0">
                <a:solidFill>
                  <a:srgbClr val="C5DD97"/>
                </a:solidFill>
                <a:latin typeface="Helvetica Neue" pitchFamily="34" charset="0"/>
                <a:ea typeface="Helvetica Neue" pitchFamily="34" charset="-122"/>
                <a:cs typeface="Helvetica Neue" pitchFamily="34" charset="-120"/>
              </a:rPr>
              <a:t>$?</a:t>
            </a:r>
            <a:endParaRPr lang="en-US" sz="11000" dirty="0"/>
          </a:p>
        </p:txBody>
      </p:sp>
      <p:sp>
        <p:nvSpPr>
          <p:cNvPr id="39" name="Text 37"/>
          <p:cNvSpPr/>
          <p:nvPr/>
        </p:nvSpPr>
        <p:spPr>
          <a:xfrm>
            <a:off x="12390120" y="4206240"/>
            <a:ext cx="4572000" cy="502920"/>
          </a:xfrm>
          <a:prstGeom prst="rect">
            <a:avLst/>
          </a:prstGeom>
          <a:noFill/>
          <a:ln/>
        </p:spPr>
        <p:txBody>
          <a:bodyPr wrap="square" lIns="0" tIns="0" rIns="0" bIns="0" rtlCol="0" anchor="ctr"/>
          <a:lstStyle/>
          <a:p>
            <a:pPr indent="0" marL="0">
              <a:buNone/>
            </a:pPr>
            <a:r>
              <a:rPr lang="en-US" sz="2200" dirty="0">
                <a:solidFill>
                  <a:srgbClr val="ECE8E1"/>
                </a:solidFill>
                <a:latin typeface="Menlo" pitchFamily="34" charset="0"/>
                <a:ea typeface="Menlo" pitchFamily="34" charset="-122"/>
                <a:cs typeface="Menlo" pitchFamily="34" charset="-120"/>
              </a:rPr>
              <a:t>/usage</a:t>
            </a:r>
            <a:endParaRPr lang="en-US" sz="2200" dirty="0"/>
          </a:p>
        </p:txBody>
      </p:sp>
      <p:sp>
        <p:nvSpPr>
          <p:cNvPr id="40" name="Text 38"/>
          <p:cNvSpPr/>
          <p:nvPr/>
        </p:nvSpPr>
        <p:spPr>
          <a:xfrm>
            <a:off x="12390120" y="4709160"/>
            <a:ext cx="457200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client-side list price</a:t>
            </a:r>
            <a:endParaRPr lang="en-US" sz="1700" dirty="0"/>
          </a:p>
        </p:txBody>
      </p:sp>
      <p:sp>
        <p:nvSpPr>
          <p:cNvPr id="41" name="Shape 39"/>
          <p:cNvSpPr/>
          <p:nvPr/>
        </p:nvSpPr>
        <p:spPr>
          <a:xfrm>
            <a:off x="12390120" y="5349240"/>
            <a:ext cx="4526280" cy="1965960"/>
          </a:xfrm>
          <a:prstGeom prst="roundRect">
            <a:avLst>
              <a:gd name="adj" fmla="val 6512"/>
            </a:avLst>
          </a:prstGeom>
          <a:solidFill>
            <a:srgbClr val="0F0F0D"/>
          </a:solidFill>
          <a:ln/>
        </p:spPr>
      </p:sp>
      <p:sp>
        <p:nvSpPr>
          <p:cNvPr id="42" name="Text 40"/>
          <p:cNvSpPr/>
          <p:nvPr/>
        </p:nvSpPr>
        <p:spPr>
          <a:xfrm>
            <a:off x="12618720" y="5532120"/>
            <a:ext cx="4114800" cy="1645920"/>
          </a:xfrm>
          <a:prstGeom prst="rect">
            <a:avLst/>
          </a:prstGeom>
          <a:noFill/>
          <a:ln/>
        </p:spPr>
        <p:txBody>
          <a:bodyPr wrap="square" lIns="0" tIns="0" rIns="0" bIns="0" rtlCol="0" anchor="ctr"/>
          <a:lstStyle/>
          <a:p>
            <a:pPr indent="0" marL="0">
              <a:lnSpc>
                <a:spcPct val="135000"/>
              </a:lnSpc>
              <a:buNone/>
            </a:pPr>
            <a:r>
              <a:rPr lang="en-US" sz="1400" dirty="0">
                <a:solidFill>
                  <a:srgbClr val="6B6760"/>
                </a:solidFill>
                <a:latin typeface="Menlo" pitchFamily="34" charset="0"/>
                <a:ea typeface="Menlo" pitchFamily="34" charset="-122"/>
                <a:cs typeface="Menlo" pitchFamily="34" charset="-120"/>
              </a:rPr>
              <a:t>Total cost:  $0.61</a:t>
            </a:r>
            <a:endParaRPr lang="en-US" sz="1400" dirty="0"/>
          </a:p>
          <a:p>
            <a:pPr indent="0" marL="0">
              <a:lnSpc>
                <a:spcPct val="135000"/>
              </a:lnSpc>
              <a:buNone/>
            </a:pPr>
            <a:endParaRPr lang="en-US" sz="1400" dirty="0"/>
          </a:p>
          <a:p>
            <a:pPr indent="0" marL="0">
              <a:lnSpc>
                <a:spcPct val="135000"/>
              </a:lnSpc>
              <a:buNone/>
            </a:pPr>
            <a:r>
              <a:rPr lang="en-US" sz="1400" dirty="0">
                <a:solidFill>
                  <a:srgbClr val="6B6760"/>
                </a:solidFill>
                <a:latin typeface="Menlo" pitchFamily="34" charset="0"/>
                <a:ea typeface="Menlo" pitchFamily="34" charset="-122"/>
                <a:cs typeface="Menlo" pitchFamily="34" charset="-120"/>
              </a:rPr>
              <a:t>  resets on /clear</a:t>
            </a:r>
            <a:endParaRPr lang="en-US" sz="1400" dirty="0"/>
          </a:p>
        </p:txBody>
      </p:sp>
      <p:sp>
        <p:nvSpPr>
          <p:cNvPr id="43" name="Shape 41"/>
          <p:cNvSpPr/>
          <p:nvPr/>
        </p:nvSpPr>
        <p:spPr>
          <a:xfrm>
            <a:off x="12390120" y="7863840"/>
            <a:ext cx="1152931" cy="420624"/>
          </a:xfrm>
          <a:prstGeom prst="roundRect">
            <a:avLst>
              <a:gd name="adj" fmla="val 50000"/>
            </a:avLst>
          </a:prstGeom>
          <a:solidFill>
            <a:srgbClr val="222A17"/>
          </a:solidFill>
          <a:ln/>
        </p:spPr>
      </p:sp>
      <p:sp>
        <p:nvSpPr>
          <p:cNvPr id="44" name="Text 42"/>
          <p:cNvSpPr/>
          <p:nvPr/>
        </p:nvSpPr>
        <p:spPr>
          <a:xfrm>
            <a:off x="12390120" y="7863840"/>
            <a:ext cx="1152931" cy="420624"/>
          </a:xfrm>
          <a:prstGeom prst="rect">
            <a:avLst/>
          </a:prstGeom>
          <a:noFill/>
          <a:ln/>
        </p:spPr>
        <p:txBody>
          <a:bodyPr wrap="square" lIns="0" tIns="0" rIns="0" bIns="0" rtlCol="0" anchor="ctr"/>
          <a:lstStyle/>
          <a:p>
            <a:pPr algn="ctr" indent="0" marL="0">
              <a:buNone/>
            </a:pPr>
            <a:r>
              <a:rPr lang="en-US" sz="1300" dirty="0">
                <a:solidFill>
                  <a:srgbClr val="C5DD97"/>
                </a:solidFill>
                <a:latin typeface="Menlo" pitchFamily="34" charset="0"/>
                <a:ea typeface="Menlo" pitchFamily="34" charset="-122"/>
                <a:cs typeface="Menlo" pitchFamily="34" charset="-120"/>
              </a:rPr>
              <a:t>A GAUGE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THE WAY OUT</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C5DD97"/>
          </a:solidFill>
          <a:ln/>
        </p:spPr>
      </p:sp>
      <p:sp>
        <p:nvSpPr>
          <p:cNvPr id="9" name="Shape 7"/>
          <p:cNvSpPr/>
          <p:nvPr/>
        </p:nvSpPr>
        <p:spPr>
          <a:xfrm>
            <a:off x="7780020" y="9528048"/>
            <a:ext cx="1309116" cy="45720"/>
          </a:xfrm>
          <a:prstGeom prst="rect">
            <a:avLst/>
          </a:prstGeom>
          <a:solidFill>
            <a:srgbClr val="2A2A27"/>
          </a:solidFill>
          <a:ln/>
        </p:spPr>
      </p:sp>
      <p:sp>
        <p:nvSpPr>
          <p:cNvPr id="10" name="Shape 8"/>
          <p:cNvSpPr/>
          <p:nvPr/>
        </p:nvSpPr>
        <p:spPr>
          <a:xfrm>
            <a:off x="9144000" y="9528048"/>
            <a:ext cx="1309116" cy="45720"/>
          </a:xfrm>
          <a:prstGeom prst="rect">
            <a:avLst/>
          </a:prstGeom>
          <a:solidFill>
            <a:srgbClr val="2A2A2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05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Make the usage object </a:t>
            </a:r>
            <a:pPr indent="0" marL="0">
              <a:buNone/>
            </a:pPr>
            <a:r>
              <a:rPr lang="en-US" sz="4400" dirty="0">
                <a:solidFill>
                  <a:srgbClr val="C5DD97"/>
                </a:solidFill>
                <a:latin typeface="Helvetica Neue" pitchFamily="34" charset="0"/>
                <a:ea typeface="Helvetica Neue" pitchFamily="34" charset="-122"/>
                <a:cs typeface="Helvetica Neue" pitchFamily="34" charset="-120"/>
              </a:rPr>
              <a:t>leave.</a:t>
            </a:r>
            <a:endParaRPr lang="en-US" sz="4400" dirty="0"/>
          </a:p>
        </p:txBody>
      </p:sp>
      <p:sp>
        <p:nvSpPr>
          <p:cNvPr id="18" name="Shape 16"/>
          <p:cNvSpPr/>
          <p:nvPr/>
        </p:nvSpPr>
        <p:spPr>
          <a:xfrm>
            <a:off x="960120" y="2240280"/>
            <a:ext cx="5120640" cy="6583680"/>
          </a:xfrm>
          <a:prstGeom prst="roundRect">
            <a:avLst>
              <a:gd name="adj" fmla="val 2500"/>
            </a:avLst>
          </a:prstGeom>
          <a:solidFill>
            <a:srgbClr val="0F0F0D"/>
          </a:solidFill>
          <a:ln w="22225">
            <a:solidFill>
              <a:srgbClr val="C5DD97"/>
            </a:solidFill>
            <a:prstDash val="solid"/>
          </a:ln>
        </p:spPr>
      </p:sp>
      <p:sp>
        <p:nvSpPr>
          <p:cNvPr id="19" name="Text 17"/>
          <p:cNvSpPr/>
          <p:nvPr/>
        </p:nvSpPr>
        <p:spPr>
          <a:xfrm>
            <a:off x="1325880" y="2560320"/>
            <a:ext cx="36576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MICROVM</a:t>
            </a:r>
            <a:endParaRPr lang="en-US" sz="1300" dirty="0"/>
          </a:p>
        </p:txBody>
      </p:sp>
      <p:sp>
        <p:nvSpPr>
          <p:cNvPr id="20" name="Text 18"/>
          <p:cNvSpPr/>
          <p:nvPr/>
        </p:nvSpPr>
        <p:spPr>
          <a:xfrm>
            <a:off x="1325880" y="2971800"/>
            <a:ext cx="4389120" cy="731520"/>
          </a:xfrm>
          <a:prstGeom prst="rect">
            <a:avLst/>
          </a:prstGeom>
          <a:noFill/>
          <a:ln/>
        </p:spPr>
        <p:txBody>
          <a:bodyPr wrap="square" lIns="0" tIns="0" rIns="0" bIns="0" rtlCol="0" anchor="ctr"/>
          <a:lstStyle/>
          <a:p>
            <a:pPr indent="0" marL="0">
              <a:buNone/>
            </a:pPr>
            <a:r>
              <a:rPr lang="en-US" sz="3400" dirty="0">
                <a:solidFill>
                  <a:srgbClr val="ECE8E1"/>
                </a:solidFill>
                <a:latin typeface="Helvetica Neue" pitchFamily="34" charset="0"/>
                <a:ea typeface="Helvetica Neue" pitchFamily="34" charset="-122"/>
                <a:cs typeface="Helvetica Neue" pitchFamily="34" charset="-120"/>
              </a:rPr>
              <a:t>agent</a:t>
            </a:r>
            <a:endParaRPr lang="en-US" sz="3400" dirty="0"/>
          </a:p>
        </p:txBody>
      </p:sp>
      <p:sp>
        <p:nvSpPr>
          <p:cNvPr id="21" name="Shape 19"/>
          <p:cNvSpPr/>
          <p:nvPr/>
        </p:nvSpPr>
        <p:spPr>
          <a:xfrm>
            <a:off x="1325880" y="3977640"/>
            <a:ext cx="4389120" cy="1005840"/>
          </a:xfrm>
          <a:prstGeom prst="roundRect">
            <a:avLst>
              <a:gd name="adj" fmla="val 12727"/>
            </a:avLst>
          </a:prstGeom>
          <a:solidFill>
            <a:srgbClr val="151513"/>
          </a:solidFill>
          <a:ln/>
        </p:spPr>
      </p:sp>
      <p:sp>
        <p:nvSpPr>
          <p:cNvPr id="22" name="Text 20"/>
          <p:cNvSpPr/>
          <p:nvPr/>
        </p:nvSpPr>
        <p:spPr>
          <a:xfrm>
            <a:off x="1600200" y="4096512"/>
            <a:ext cx="36576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STATUS LINE</a:t>
            </a:r>
            <a:endParaRPr lang="en-US" sz="1300" dirty="0"/>
          </a:p>
        </p:txBody>
      </p:sp>
      <p:sp>
        <p:nvSpPr>
          <p:cNvPr id="23" name="Text 21"/>
          <p:cNvSpPr/>
          <p:nvPr/>
        </p:nvSpPr>
        <p:spPr>
          <a:xfrm>
            <a:off x="1600200" y="4434840"/>
            <a:ext cx="4023360" cy="411480"/>
          </a:xfrm>
          <a:prstGeom prst="rect">
            <a:avLst/>
          </a:prstGeom>
          <a:noFill/>
          <a:ln/>
        </p:spPr>
        <p:txBody>
          <a:bodyPr wrap="square" lIns="0" tIns="0" rIns="0" bIns="0" rtlCol="0" anchor="ctr"/>
          <a:lstStyle/>
          <a:p>
            <a:pPr indent="0" marL="0">
              <a:buNone/>
            </a:pPr>
            <a:r>
              <a:rPr lang="en-US" sz="1700" dirty="0">
                <a:solidFill>
                  <a:srgbClr val="C5DD97"/>
                </a:solidFill>
                <a:latin typeface="Menlo" pitchFamily="34" charset="0"/>
                <a:ea typeface="Menlo" pitchFamily="34" charset="-122"/>
                <a:cs typeface="Menlo" pitchFamily="34" charset="-120"/>
              </a:rPr>
              <a:t>statusline.py</a:t>
            </a:r>
            <a:endParaRPr lang="en-US" sz="1700" dirty="0"/>
          </a:p>
        </p:txBody>
      </p:sp>
      <p:sp>
        <p:nvSpPr>
          <p:cNvPr id="24" name="Shape 22"/>
          <p:cNvSpPr/>
          <p:nvPr/>
        </p:nvSpPr>
        <p:spPr>
          <a:xfrm>
            <a:off x="1325880" y="6035040"/>
            <a:ext cx="4389120" cy="1005840"/>
          </a:xfrm>
          <a:prstGeom prst="roundRect">
            <a:avLst>
              <a:gd name="adj" fmla="val 12727"/>
            </a:avLst>
          </a:prstGeom>
          <a:solidFill>
            <a:srgbClr val="151513"/>
          </a:solidFill>
          <a:ln/>
        </p:spPr>
      </p:sp>
      <p:sp>
        <p:nvSpPr>
          <p:cNvPr id="25" name="Text 23"/>
          <p:cNvSpPr/>
          <p:nvPr/>
        </p:nvSpPr>
        <p:spPr>
          <a:xfrm>
            <a:off x="1600200" y="6153912"/>
            <a:ext cx="36576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HOOKS</a:t>
            </a:r>
            <a:endParaRPr lang="en-US" sz="1300" dirty="0"/>
          </a:p>
        </p:txBody>
      </p:sp>
      <p:sp>
        <p:nvSpPr>
          <p:cNvPr id="26" name="Text 24"/>
          <p:cNvSpPr/>
          <p:nvPr/>
        </p:nvSpPr>
        <p:spPr>
          <a:xfrm>
            <a:off x="1600200" y="6492240"/>
            <a:ext cx="4023360" cy="411480"/>
          </a:xfrm>
          <a:prstGeom prst="rect">
            <a:avLst/>
          </a:prstGeom>
          <a:noFill/>
          <a:ln/>
        </p:spPr>
        <p:txBody>
          <a:bodyPr wrap="square" lIns="0" tIns="0" rIns="0" bIns="0" rtlCol="0" anchor="ctr"/>
          <a:lstStyle/>
          <a:p>
            <a:pPr indent="0" marL="0">
              <a:buNone/>
            </a:pPr>
            <a:r>
              <a:rPr lang="en-US" sz="1700" dirty="0">
                <a:solidFill>
                  <a:srgbClr val="C5DD97"/>
                </a:solidFill>
                <a:latin typeface="Menlo" pitchFamily="34" charset="0"/>
                <a:ea typeface="Menlo" pitchFamily="34" charset="-122"/>
                <a:cs typeface="Menlo" pitchFamily="34" charset="-120"/>
              </a:rPr>
              <a:t>activity.py</a:t>
            </a:r>
            <a:endParaRPr lang="en-US" sz="1700" dirty="0"/>
          </a:p>
        </p:txBody>
      </p:sp>
      <p:sp>
        <p:nvSpPr>
          <p:cNvPr id="27" name="Text 25"/>
          <p:cNvSpPr/>
          <p:nvPr/>
        </p:nvSpPr>
        <p:spPr>
          <a:xfrm>
            <a:off x="1325880" y="7863840"/>
            <a:ext cx="4389120" cy="457200"/>
          </a:xfrm>
          <a:prstGeom prst="rect">
            <a:avLst/>
          </a:prstGeom>
          <a:noFill/>
          <a:ln/>
        </p:spPr>
        <p:txBody>
          <a:bodyPr wrap="square" lIns="0" tIns="0" rIns="0" bIns="0" rtlCol="0" anchor="ctr"/>
          <a:lstStyle/>
          <a:p>
            <a:pPr indent="0" marL="0">
              <a:buNone/>
            </a:pPr>
            <a:r>
              <a:rPr lang="en-US" sz="1800" dirty="0">
                <a:solidFill>
                  <a:srgbClr val="A8A49B"/>
                </a:solidFill>
                <a:latin typeface="Helvetica Neue" pitchFamily="34" charset="0"/>
                <a:ea typeface="Helvetica Neue" pitchFamily="34" charset="-122"/>
                <a:cs typeface="Helvetica Neue" pitchFamily="34" charset="-120"/>
              </a:rPr>
              <a:t>already has the numbers</a:t>
            </a:r>
            <a:endParaRPr lang="en-US" sz="1800" dirty="0"/>
          </a:p>
        </p:txBody>
      </p:sp>
      <p:sp>
        <p:nvSpPr>
          <p:cNvPr id="28" name="Shape 26"/>
          <p:cNvSpPr/>
          <p:nvPr/>
        </p:nvSpPr>
        <p:spPr>
          <a:xfrm>
            <a:off x="12573000" y="2240280"/>
            <a:ext cx="4754880" cy="6583680"/>
          </a:xfrm>
          <a:prstGeom prst="roundRect">
            <a:avLst>
              <a:gd name="adj" fmla="val 2692"/>
            </a:avLst>
          </a:prstGeom>
          <a:solidFill>
            <a:srgbClr val="111110"/>
          </a:solidFill>
          <a:ln w="15875">
            <a:solidFill>
              <a:srgbClr val="2A2A27"/>
            </a:solidFill>
            <a:prstDash val="solid"/>
          </a:ln>
        </p:spPr>
      </p:sp>
      <p:sp>
        <p:nvSpPr>
          <p:cNvPr id="29" name="Text 27"/>
          <p:cNvSpPr/>
          <p:nvPr/>
        </p:nvSpPr>
        <p:spPr>
          <a:xfrm>
            <a:off x="12938760" y="2560320"/>
            <a:ext cx="3657600" cy="292608"/>
          </a:xfrm>
          <a:prstGeom prst="rect">
            <a:avLst/>
          </a:prstGeom>
          <a:noFill/>
          <a:ln/>
        </p:spPr>
        <p:txBody>
          <a:bodyPr wrap="square" lIns="0" tIns="0" rIns="0" bIns="0" rtlCol="0" anchor="ctr"/>
          <a:lstStyle/>
          <a:p>
            <a:pPr indent="0" marL="0">
              <a:buNone/>
            </a:pPr>
            <a:r>
              <a:rPr lang="en-US" sz="1300" spc="240" kern="0" dirty="0">
                <a:solidFill>
                  <a:srgbClr val="6B6760"/>
                </a:solidFill>
                <a:latin typeface="Helvetica Neue" pitchFamily="34" charset="0"/>
                <a:ea typeface="Helvetica Neue" pitchFamily="34" charset="-122"/>
                <a:cs typeface="Helvetica Neue" pitchFamily="34" charset="-120"/>
              </a:rPr>
              <a:t>LAPTOP</a:t>
            </a:r>
            <a:endParaRPr lang="en-US" sz="1300" dirty="0"/>
          </a:p>
        </p:txBody>
      </p:sp>
      <p:sp>
        <p:nvSpPr>
          <p:cNvPr id="30" name="Text 28"/>
          <p:cNvSpPr/>
          <p:nvPr/>
        </p:nvSpPr>
        <p:spPr>
          <a:xfrm>
            <a:off x="12938760" y="2971800"/>
            <a:ext cx="4114800" cy="731520"/>
          </a:xfrm>
          <a:prstGeom prst="rect">
            <a:avLst/>
          </a:prstGeom>
          <a:noFill/>
          <a:ln/>
        </p:spPr>
        <p:txBody>
          <a:bodyPr wrap="square" lIns="0" tIns="0" rIns="0" bIns="0" rtlCol="0" anchor="ctr"/>
          <a:lstStyle/>
          <a:p>
            <a:pPr indent="0" marL="0">
              <a:buNone/>
            </a:pPr>
            <a:r>
              <a:rPr lang="en-US" sz="3200" dirty="0">
                <a:solidFill>
                  <a:srgbClr val="ECE8E1"/>
                </a:solidFill>
                <a:latin typeface="Menlo" pitchFamily="34" charset="0"/>
                <a:ea typeface="Menlo" pitchFamily="34" charset="-122"/>
                <a:cs typeface="Menlo" pitchFamily="34" charset="-120"/>
              </a:rPr>
              <a:t>watch.py</a:t>
            </a:r>
            <a:endParaRPr lang="en-US" sz="3200" dirty="0"/>
          </a:p>
        </p:txBody>
      </p:sp>
      <p:sp>
        <p:nvSpPr>
          <p:cNvPr id="31" name="Text 29"/>
          <p:cNvSpPr/>
          <p:nvPr/>
        </p:nvSpPr>
        <p:spPr>
          <a:xfrm>
            <a:off x="12938760" y="4160520"/>
            <a:ext cx="4206240" cy="914400"/>
          </a:xfrm>
          <a:prstGeom prst="rect">
            <a:avLst/>
          </a:prstGeom>
          <a:noFill/>
          <a:ln/>
        </p:spPr>
        <p:txBody>
          <a:bodyPr wrap="square" lIns="0" tIns="0" rIns="0" bIns="0" rtlCol="0" anchor="ctr"/>
          <a:lstStyle/>
          <a:p>
            <a:pPr indent="0" marL="0">
              <a:lnSpc>
                <a:spcPct val="140000"/>
              </a:lnSpc>
              <a:buNone/>
            </a:pPr>
            <a:r>
              <a:rPr lang="en-US" sz="1500" dirty="0">
                <a:solidFill>
                  <a:srgbClr val="A8A49B"/>
                </a:solidFill>
                <a:latin typeface="Menlo" pitchFamily="34" charset="0"/>
                <a:ea typeface="Menlo" pitchFamily="34" charset="-122"/>
                <a:cs typeface="Menlo" pitchFamily="34" charset="-120"/>
              </a:rPr>
              <a:t>.sbx/usage.jsonl</a:t>
            </a:r>
            <a:endParaRPr lang="en-US" sz="1500" dirty="0"/>
          </a:p>
          <a:p>
            <a:pPr indent="0" marL="0">
              <a:lnSpc>
                <a:spcPct val="140000"/>
              </a:lnSpc>
              <a:buNone/>
            </a:pPr>
            <a:r>
              <a:rPr lang="en-US" sz="1500" dirty="0">
                <a:solidFill>
                  <a:srgbClr val="A8A49B"/>
                </a:solidFill>
                <a:latin typeface="Menlo" pitchFamily="34" charset="0"/>
                <a:ea typeface="Menlo" pitchFamily="34" charset="-122"/>
                <a:cs typeface="Menlo" pitchFamily="34" charset="-120"/>
              </a:rPr>
              <a:t>.sbx/activity.jsonl</a:t>
            </a:r>
            <a:endParaRPr lang="en-US" sz="1500" dirty="0"/>
          </a:p>
        </p:txBody>
      </p:sp>
      <p:sp>
        <p:nvSpPr>
          <p:cNvPr id="32" name="Text 30"/>
          <p:cNvSpPr/>
          <p:nvPr/>
        </p:nvSpPr>
        <p:spPr>
          <a:xfrm>
            <a:off x="12938760" y="6355080"/>
            <a:ext cx="4206240" cy="41148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listen.py  :8787</a:t>
            </a:r>
            <a:endParaRPr lang="en-US" sz="1500" dirty="0"/>
          </a:p>
        </p:txBody>
      </p:sp>
      <p:sp>
        <p:nvSpPr>
          <p:cNvPr id="33" name="Shape 31"/>
          <p:cNvSpPr/>
          <p:nvPr/>
        </p:nvSpPr>
        <p:spPr>
          <a:xfrm>
            <a:off x="5989320" y="4160520"/>
            <a:ext cx="182880" cy="731520"/>
          </a:xfrm>
          <a:prstGeom prst="rect">
            <a:avLst/>
          </a:prstGeom>
          <a:solidFill>
            <a:srgbClr val="0B0B0A"/>
          </a:solidFill>
          <a:ln/>
        </p:spPr>
      </p:sp>
      <p:sp>
        <p:nvSpPr>
          <p:cNvPr id="34" name="Shape 32"/>
          <p:cNvSpPr/>
          <p:nvPr/>
        </p:nvSpPr>
        <p:spPr>
          <a:xfrm>
            <a:off x="5715000" y="4526280"/>
            <a:ext cx="6766560" cy="0"/>
          </a:xfrm>
          <a:prstGeom prst="line">
            <a:avLst/>
          </a:prstGeom>
          <a:noFill/>
          <a:ln w="38100">
            <a:solidFill>
              <a:srgbClr val="C5DD97"/>
            </a:solidFill>
            <a:prstDash val="solid"/>
            <a:tailEnd type="triangle"/>
          </a:ln>
        </p:spPr>
      </p:sp>
      <p:sp>
        <p:nvSpPr>
          <p:cNvPr id="35" name="Text 33"/>
          <p:cNvSpPr/>
          <p:nvPr/>
        </p:nvSpPr>
        <p:spPr>
          <a:xfrm>
            <a:off x="6492240" y="3657600"/>
            <a:ext cx="1828800" cy="411480"/>
          </a:xfrm>
          <a:prstGeom prst="rect">
            <a:avLst/>
          </a:prstGeom>
          <a:noFill/>
          <a:ln/>
        </p:spPr>
        <p:txBody>
          <a:bodyPr wrap="square" lIns="0" tIns="0" rIns="0" bIns="0" rtlCol="0" anchor="ctr"/>
          <a:lstStyle/>
          <a:p>
            <a:pPr indent="0" marL="0">
              <a:buNone/>
            </a:pPr>
            <a:r>
              <a:rPr lang="en-US" sz="1400" spc="200" kern="0" dirty="0">
                <a:solidFill>
                  <a:srgbClr val="C5DD97"/>
                </a:solidFill>
                <a:latin typeface="Menlo" pitchFamily="34" charset="0"/>
                <a:ea typeface="Menlo" pitchFamily="34" charset="-122"/>
                <a:cs typeface="Menlo" pitchFamily="34" charset="-120"/>
              </a:rPr>
              <a:t>DOOR 1</a:t>
            </a:r>
            <a:endParaRPr lang="en-US" sz="1400" dirty="0"/>
          </a:p>
        </p:txBody>
      </p:sp>
      <p:sp>
        <p:nvSpPr>
          <p:cNvPr id="36" name="Text 34"/>
          <p:cNvSpPr/>
          <p:nvPr/>
        </p:nvSpPr>
        <p:spPr>
          <a:xfrm>
            <a:off x="7955280" y="3657600"/>
            <a:ext cx="4389120" cy="41148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direct mount</a:t>
            </a:r>
            <a:endParaRPr lang="en-US" sz="2200" dirty="0"/>
          </a:p>
        </p:txBody>
      </p:sp>
      <p:sp>
        <p:nvSpPr>
          <p:cNvPr id="37" name="Text 35"/>
          <p:cNvSpPr/>
          <p:nvPr/>
        </p:nvSpPr>
        <p:spPr>
          <a:xfrm>
            <a:off x="6492240" y="4709160"/>
            <a:ext cx="5852160" cy="411480"/>
          </a:xfrm>
          <a:prstGeom prst="rect">
            <a:avLst/>
          </a:prstGeom>
          <a:noFill/>
          <a:ln/>
        </p:spPr>
        <p:txBody>
          <a:bodyPr wrap="square" lIns="0" tIns="0" rIns="0" bIns="0" rtlCol="0" anchor="ctr"/>
          <a:lstStyle/>
          <a:p>
            <a:pPr indent="0" marL="0">
              <a:buNone/>
            </a:pPr>
            <a:r>
              <a:rPr lang="en-US" sz="1600" dirty="0">
                <a:solidFill>
                  <a:srgbClr val="A8A49B"/>
                </a:solidFill>
                <a:latin typeface="Helvetica Neue" pitchFamily="34" charset="0"/>
                <a:ea typeface="Helvetica Neue" pitchFamily="34" charset="-122"/>
                <a:cs typeface="Helvetica Neue" pitchFamily="34" charset="-120"/>
              </a:rPr>
              <a:t>same directory, append a line</a:t>
            </a:r>
            <a:endParaRPr lang="en-US" sz="1600" dirty="0"/>
          </a:p>
        </p:txBody>
      </p:sp>
      <p:sp>
        <p:nvSpPr>
          <p:cNvPr id="38" name="Shape 36"/>
          <p:cNvSpPr/>
          <p:nvPr/>
        </p:nvSpPr>
        <p:spPr>
          <a:xfrm>
            <a:off x="5989320" y="6217920"/>
            <a:ext cx="182880" cy="731520"/>
          </a:xfrm>
          <a:prstGeom prst="rect">
            <a:avLst/>
          </a:prstGeom>
          <a:solidFill>
            <a:srgbClr val="0B0B0A"/>
          </a:solidFill>
          <a:ln/>
        </p:spPr>
      </p:sp>
      <p:sp>
        <p:nvSpPr>
          <p:cNvPr id="39" name="Shape 37"/>
          <p:cNvSpPr/>
          <p:nvPr/>
        </p:nvSpPr>
        <p:spPr>
          <a:xfrm>
            <a:off x="5715000" y="6583680"/>
            <a:ext cx="6766560" cy="0"/>
          </a:xfrm>
          <a:prstGeom prst="line">
            <a:avLst/>
          </a:prstGeom>
          <a:noFill/>
          <a:ln w="38100">
            <a:solidFill>
              <a:srgbClr val="C5DD97"/>
            </a:solidFill>
            <a:prstDash val="solid"/>
            <a:tailEnd type="triangle"/>
          </a:ln>
        </p:spPr>
      </p:sp>
      <p:sp>
        <p:nvSpPr>
          <p:cNvPr id="40" name="Text 38"/>
          <p:cNvSpPr/>
          <p:nvPr/>
        </p:nvSpPr>
        <p:spPr>
          <a:xfrm>
            <a:off x="6492240" y="5715000"/>
            <a:ext cx="1828800" cy="411480"/>
          </a:xfrm>
          <a:prstGeom prst="rect">
            <a:avLst/>
          </a:prstGeom>
          <a:noFill/>
          <a:ln/>
        </p:spPr>
        <p:txBody>
          <a:bodyPr wrap="square" lIns="0" tIns="0" rIns="0" bIns="0" rtlCol="0" anchor="ctr"/>
          <a:lstStyle/>
          <a:p>
            <a:pPr indent="0" marL="0">
              <a:buNone/>
            </a:pPr>
            <a:r>
              <a:rPr lang="en-US" sz="1400" spc="200" kern="0" dirty="0">
                <a:solidFill>
                  <a:srgbClr val="C5DD97"/>
                </a:solidFill>
                <a:latin typeface="Menlo" pitchFamily="34" charset="0"/>
                <a:ea typeface="Menlo" pitchFamily="34" charset="-122"/>
                <a:cs typeface="Menlo" pitchFamily="34" charset="-120"/>
              </a:rPr>
              <a:t>DOOR 2</a:t>
            </a:r>
            <a:endParaRPr lang="en-US" sz="1400" dirty="0"/>
          </a:p>
        </p:txBody>
      </p:sp>
      <p:sp>
        <p:nvSpPr>
          <p:cNvPr id="41" name="Text 39"/>
          <p:cNvSpPr/>
          <p:nvPr/>
        </p:nvSpPr>
        <p:spPr>
          <a:xfrm>
            <a:off x="7955280" y="5715000"/>
            <a:ext cx="4389120" cy="41148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clone · mountless</a:t>
            </a:r>
            <a:endParaRPr lang="en-US" sz="2200" dirty="0"/>
          </a:p>
        </p:txBody>
      </p:sp>
      <p:sp>
        <p:nvSpPr>
          <p:cNvPr id="42" name="Text 40"/>
          <p:cNvSpPr/>
          <p:nvPr/>
        </p:nvSpPr>
        <p:spPr>
          <a:xfrm>
            <a:off x="6492240" y="6766560"/>
            <a:ext cx="5852160" cy="411480"/>
          </a:xfrm>
          <a:prstGeom prst="rect">
            <a:avLst/>
          </a:prstGeom>
          <a:noFill/>
          <a:ln/>
        </p:spPr>
        <p:txBody>
          <a:bodyPr wrap="square" lIns="0" tIns="0" rIns="0" bIns="0" rtlCol="0" anchor="ctr"/>
          <a:lstStyle/>
          <a:p>
            <a:pPr indent="0" marL="0">
              <a:buNone/>
            </a:pPr>
            <a:r>
              <a:rPr lang="en-US" sz="1600" dirty="0">
                <a:solidFill>
                  <a:srgbClr val="A8A49B"/>
                </a:solidFill>
                <a:latin typeface="Menlo" pitchFamily="34" charset="0"/>
                <a:ea typeface="Menlo" pitchFamily="34" charset="-122"/>
                <a:cs typeface="Menlo" pitchFamily="34" charset="-120"/>
              </a:rPr>
              <a:t>POST host.docker.internal:8787</a:t>
            </a:r>
            <a:endParaRPr lang="en-US" sz="1600" dirty="0"/>
          </a:p>
        </p:txBody>
      </p:sp>
      <p:sp>
        <p:nvSpPr>
          <p:cNvPr id="43" name="Shape 41"/>
          <p:cNvSpPr/>
          <p:nvPr/>
        </p:nvSpPr>
        <p:spPr>
          <a:xfrm>
            <a:off x="6492240" y="7543800"/>
            <a:ext cx="4333418" cy="420624"/>
          </a:xfrm>
          <a:prstGeom prst="roundRect">
            <a:avLst>
              <a:gd name="adj" fmla="val 50000"/>
            </a:avLst>
          </a:prstGeom>
          <a:solidFill>
            <a:srgbClr val="2C2416"/>
          </a:solidFill>
          <a:ln/>
        </p:spPr>
      </p:sp>
      <p:sp>
        <p:nvSpPr>
          <p:cNvPr id="44" name="Text 42"/>
          <p:cNvSpPr/>
          <p:nvPr/>
        </p:nvSpPr>
        <p:spPr>
          <a:xfrm>
            <a:off x="6492240" y="7543800"/>
            <a:ext cx="4333418" cy="420624"/>
          </a:xfrm>
          <a:prstGeom prst="rect">
            <a:avLst/>
          </a:prstGeom>
          <a:noFill/>
          <a:ln/>
        </p:spPr>
        <p:txBody>
          <a:bodyPr wrap="square" lIns="0" tIns="0" rIns="0" bIns="0" rtlCol="0" anchor="ctr"/>
          <a:lstStyle/>
          <a:p>
            <a:pPr algn="ctr" indent="0" marL="0">
              <a:buNone/>
            </a:pPr>
            <a:r>
              <a:rPr lang="en-US" sz="1300" dirty="0">
                <a:solidFill>
                  <a:srgbClr val="E8B46A"/>
                </a:solidFill>
                <a:latin typeface="Menlo" pitchFamily="34" charset="0"/>
                <a:ea typeface="Menlo" pitchFamily="34" charset="-122"/>
                <a:cs typeface="Menlo" pitchFamily="34" charset="-120"/>
              </a:rPr>
              <a:t>sbx policy allow network localhost:8787</a:t>
            </a:r>
            <a:endParaRPr lang="en-US" sz="1300" dirty="0"/>
          </a:p>
        </p:txBody>
      </p:sp>
      <p:sp>
        <p:nvSpPr>
          <p:cNvPr id="45" name="Text 43"/>
          <p:cNvSpPr/>
          <p:nvPr/>
        </p:nvSpPr>
        <p:spPr>
          <a:xfrm>
            <a:off x="960120" y="9006840"/>
            <a:ext cx="16367760" cy="411480"/>
          </a:xfrm>
          <a:prstGeom prst="rect">
            <a:avLst/>
          </a:prstGeom>
          <a:noFill/>
          <a:ln/>
        </p:spPr>
        <p:txBody>
          <a:bodyPr wrap="square" lIns="0" tIns="0" rIns="0" bIns="0" rtlCol="0" anchor="ctr"/>
          <a:lstStyle/>
          <a:p>
            <a:pPr indent="0" marL="0">
              <a:buNone/>
            </a:pPr>
            <a:r>
              <a:rPr lang="en-US" sz="1600" dirty="0">
                <a:solidFill>
                  <a:srgbClr val="6B6760"/>
                </a:solidFill>
                <a:latin typeface="Helvetica Neue" pitchFamily="34" charset="0"/>
                <a:ea typeface="Helvetica Neue" pitchFamily="34" charset="-122"/>
                <a:cs typeface="Helvetica Neue" pitchFamily="34" charset="-120"/>
              </a:rPr>
              <a:t>Neither door carries the key or the prompt.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THE TAP</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C5DD97"/>
          </a:solidFill>
          <a:ln/>
        </p:spPr>
      </p:sp>
      <p:sp>
        <p:nvSpPr>
          <p:cNvPr id="10" name="Shape 8"/>
          <p:cNvSpPr/>
          <p:nvPr/>
        </p:nvSpPr>
        <p:spPr>
          <a:xfrm>
            <a:off x="9144000" y="9528048"/>
            <a:ext cx="1309116" cy="45720"/>
          </a:xfrm>
          <a:prstGeom prst="rect">
            <a:avLst/>
          </a:prstGeom>
          <a:solidFill>
            <a:srgbClr val="2A2A2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06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In the repo. </a:t>
            </a:r>
            <a:pPr indent="0" marL="0">
              <a:buNone/>
            </a:pPr>
            <a:r>
              <a:rPr lang="en-US" sz="4400" dirty="0">
                <a:solidFill>
                  <a:srgbClr val="C5DD97"/>
                </a:solidFill>
                <a:latin typeface="Helvetica Neue" pitchFamily="34" charset="0"/>
                <a:ea typeface="Helvetica Neue" pitchFamily="34" charset="-122"/>
                <a:cs typeface="Helvetica Neue" pitchFamily="34" charset="-120"/>
              </a:rPr>
              <a:t>Not in your home.</a:t>
            </a:r>
            <a:endParaRPr lang="en-US" sz="4400" dirty="0"/>
          </a:p>
        </p:txBody>
      </p:sp>
      <p:sp>
        <p:nvSpPr>
          <p:cNvPr id="18" name="Text 16"/>
          <p:cNvSpPr/>
          <p:nvPr/>
        </p:nvSpPr>
        <p:spPr>
          <a:xfrm>
            <a:off x="960120" y="2286000"/>
            <a:ext cx="27432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TOKENS</a:t>
            </a:r>
            <a:endParaRPr lang="en-US" sz="1300" dirty="0"/>
          </a:p>
        </p:txBody>
      </p:sp>
      <p:sp>
        <p:nvSpPr>
          <p:cNvPr id="19" name="Shape 17"/>
          <p:cNvSpPr/>
          <p:nvPr/>
        </p:nvSpPr>
        <p:spPr>
          <a:xfrm>
            <a:off x="960120" y="2743200"/>
            <a:ext cx="3566160" cy="1371600"/>
          </a:xfrm>
          <a:prstGeom prst="roundRect">
            <a:avLst>
              <a:gd name="adj" fmla="val 9333"/>
            </a:avLst>
          </a:prstGeom>
          <a:solidFill>
            <a:srgbClr val="151513"/>
          </a:solidFill>
          <a:ln/>
        </p:spPr>
      </p:sp>
      <p:sp>
        <p:nvSpPr>
          <p:cNvPr id="20" name="Text 18"/>
          <p:cNvSpPr/>
          <p:nvPr/>
        </p:nvSpPr>
        <p:spPr>
          <a:xfrm>
            <a:off x="1234440" y="2880360"/>
            <a:ext cx="3108960" cy="50292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Claude Code</a:t>
            </a:r>
            <a:endParaRPr lang="en-US" sz="2200" dirty="0"/>
          </a:p>
        </p:txBody>
      </p:sp>
      <p:sp>
        <p:nvSpPr>
          <p:cNvPr id="21" name="Text 19"/>
          <p:cNvSpPr/>
          <p:nvPr/>
        </p:nvSpPr>
        <p:spPr>
          <a:xfrm>
            <a:off x="1234440" y="3429000"/>
            <a:ext cx="3200400" cy="411480"/>
          </a:xfrm>
          <a:prstGeom prst="rect">
            <a:avLst/>
          </a:prstGeom>
          <a:noFill/>
          <a:ln/>
        </p:spPr>
        <p:txBody>
          <a:bodyPr wrap="square" lIns="0" tIns="0" rIns="0" bIns="0" rtlCol="0" anchor="ctr"/>
          <a:lstStyle/>
          <a:p>
            <a:pPr indent="0" marL="0">
              <a:buNone/>
            </a:pPr>
            <a:r>
              <a:rPr lang="en-US" sz="1400" dirty="0">
                <a:solidFill>
                  <a:srgbClr val="6B6760"/>
                </a:solidFill>
                <a:latin typeface="Menlo" pitchFamily="34" charset="0"/>
                <a:ea typeface="Menlo" pitchFamily="34" charset="-122"/>
                <a:cs typeface="Menlo" pitchFamily="34" charset="-120"/>
              </a:rPr>
              <a:t>status line</a:t>
            </a:r>
            <a:endParaRPr lang="en-US" sz="1400" dirty="0"/>
          </a:p>
        </p:txBody>
      </p:sp>
      <p:sp>
        <p:nvSpPr>
          <p:cNvPr id="22" name="Shape 20"/>
          <p:cNvSpPr/>
          <p:nvPr/>
        </p:nvSpPr>
        <p:spPr>
          <a:xfrm>
            <a:off x="4526280" y="3429000"/>
            <a:ext cx="2148840" cy="0"/>
          </a:xfrm>
          <a:prstGeom prst="line">
            <a:avLst/>
          </a:prstGeom>
          <a:noFill/>
          <a:ln w="25400">
            <a:solidFill>
              <a:srgbClr val="6B6760"/>
            </a:solidFill>
            <a:prstDash val="solid"/>
            <a:tailEnd type="triangle"/>
          </a:ln>
        </p:spPr>
      </p:sp>
      <p:sp>
        <p:nvSpPr>
          <p:cNvPr id="23" name="Text 21"/>
          <p:cNvSpPr/>
          <p:nvPr/>
        </p:nvSpPr>
        <p:spPr>
          <a:xfrm>
            <a:off x="4572000" y="2971800"/>
            <a:ext cx="2103120" cy="365760"/>
          </a:xfrm>
          <a:prstGeom prst="rect">
            <a:avLst/>
          </a:prstGeom>
          <a:noFill/>
          <a:ln/>
        </p:spPr>
        <p:txBody>
          <a:bodyPr wrap="square" lIns="0" tIns="0" rIns="0" bIns="0" rtlCol="0" anchor="ctr"/>
          <a:lstStyle/>
          <a:p>
            <a:pPr algn="ctr" indent="0" marL="0">
              <a:buNone/>
            </a:pPr>
            <a:r>
              <a:rPr lang="en-US" sz="1300" dirty="0">
                <a:solidFill>
                  <a:srgbClr val="6B6760"/>
                </a:solidFill>
                <a:latin typeface="Menlo" pitchFamily="34" charset="0"/>
                <a:ea typeface="Menlo" pitchFamily="34" charset="-122"/>
                <a:cs typeface="Menlo" pitchFamily="34" charset="-120"/>
              </a:rPr>
              <a:t>session JSON</a:t>
            </a:r>
            <a:endParaRPr lang="en-US" sz="1300" dirty="0"/>
          </a:p>
        </p:txBody>
      </p:sp>
      <p:sp>
        <p:nvSpPr>
          <p:cNvPr id="24" name="Shape 22"/>
          <p:cNvSpPr/>
          <p:nvPr/>
        </p:nvSpPr>
        <p:spPr>
          <a:xfrm>
            <a:off x="6766560" y="2743200"/>
            <a:ext cx="3931920" cy="1371600"/>
          </a:xfrm>
          <a:prstGeom prst="roundRect">
            <a:avLst>
              <a:gd name="adj" fmla="val 9333"/>
            </a:avLst>
          </a:prstGeom>
          <a:solidFill>
            <a:srgbClr val="222A17"/>
          </a:solidFill>
          <a:ln w="19050">
            <a:solidFill>
              <a:srgbClr val="C5DD97"/>
            </a:solidFill>
            <a:prstDash val="solid"/>
          </a:ln>
        </p:spPr>
      </p:sp>
      <p:sp>
        <p:nvSpPr>
          <p:cNvPr id="25" name="Text 23"/>
          <p:cNvSpPr/>
          <p:nvPr/>
        </p:nvSpPr>
        <p:spPr>
          <a:xfrm>
            <a:off x="6766560" y="2743200"/>
            <a:ext cx="3931920" cy="1371600"/>
          </a:xfrm>
          <a:prstGeom prst="rect">
            <a:avLst/>
          </a:prstGeom>
          <a:noFill/>
          <a:ln/>
        </p:spPr>
        <p:txBody>
          <a:bodyPr wrap="square" lIns="0" tIns="0" rIns="0" bIns="0" rtlCol="0" anchor="ctr"/>
          <a:lstStyle/>
          <a:p>
            <a:pPr algn="ctr" indent="0" marL="0">
              <a:buNone/>
            </a:pPr>
            <a:r>
              <a:rPr lang="en-US" sz="2200" dirty="0">
                <a:solidFill>
                  <a:srgbClr val="C5DD97"/>
                </a:solidFill>
                <a:latin typeface="Menlo" pitchFamily="34" charset="0"/>
                <a:ea typeface="Menlo" pitchFamily="34" charset="-122"/>
                <a:cs typeface="Menlo" pitchFamily="34" charset="-120"/>
              </a:rPr>
              <a:t>statusline.py</a:t>
            </a:r>
            <a:endParaRPr lang="en-US" sz="2200" dirty="0"/>
          </a:p>
        </p:txBody>
      </p:sp>
      <p:sp>
        <p:nvSpPr>
          <p:cNvPr id="26" name="Shape 24"/>
          <p:cNvSpPr/>
          <p:nvPr/>
        </p:nvSpPr>
        <p:spPr>
          <a:xfrm>
            <a:off x="10698480" y="3429000"/>
            <a:ext cx="731520" cy="0"/>
          </a:xfrm>
          <a:prstGeom prst="line">
            <a:avLst/>
          </a:prstGeom>
          <a:noFill/>
          <a:ln w="25400">
            <a:solidFill>
              <a:srgbClr val="C5DD97"/>
            </a:solidFill>
            <a:prstDash val="solid"/>
          </a:ln>
        </p:spPr>
      </p:sp>
      <p:sp>
        <p:nvSpPr>
          <p:cNvPr id="27" name="Shape 25"/>
          <p:cNvSpPr/>
          <p:nvPr/>
        </p:nvSpPr>
        <p:spPr>
          <a:xfrm flipV="1">
            <a:off x="11430000" y="2770632"/>
            <a:ext cx="0" cy="658368"/>
          </a:xfrm>
          <a:prstGeom prst="line">
            <a:avLst/>
          </a:prstGeom>
          <a:noFill/>
          <a:ln w="25400">
            <a:solidFill>
              <a:srgbClr val="C5DD97"/>
            </a:solidFill>
            <a:prstDash val="solid"/>
          </a:ln>
        </p:spPr>
      </p:sp>
      <p:sp>
        <p:nvSpPr>
          <p:cNvPr id="28" name="Shape 26"/>
          <p:cNvSpPr/>
          <p:nvPr/>
        </p:nvSpPr>
        <p:spPr>
          <a:xfrm>
            <a:off x="11430000" y="2770632"/>
            <a:ext cx="731520" cy="0"/>
          </a:xfrm>
          <a:prstGeom prst="line">
            <a:avLst/>
          </a:prstGeom>
          <a:noFill/>
          <a:ln w="25400">
            <a:solidFill>
              <a:srgbClr val="C5DD97"/>
            </a:solidFill>
            <a:prstDash val="solid"/>
            <a:tailEnd type="triangle"/>
          </a:ln>
        </p:spPr>
      </p:sp>
      <p:sp>
        <p:nvSpPr>
          <p:cNvPr id="29" name="Shape 27"/>
          <p:cNvSpPr/>
          <p:nvPr/>
        </p:nvSpPr>
        <p:spPr>
          <a:xfrm>
            <a:off x="12252960" y="2560320"/>
            <a:ext cx="4023360" cy="420624"/>
          </a:xfrm>
          <a:prstGeom prst="roundRect">
            <a:avLst>
              <a:gd name="adj" fmla="val 50000"/>
            </a:avLst>
          </a:prstGeom>
          <a:solidFill>
            <a:srgbClr val="1E1E1B"/>
          </a:solidFill>
          <a:ln/>
        </p:spPr>
      </p:sp>
      <p:sp>
        <p:nvSpPr>
          <p:cNvPr id="30" name="Text 28"/>
          <p:cNvSpPr/>
          <p:nvPr/>
        </p:nvSpPr>
        <p:spPr>
          <a:xfrm>
            <a:off x="12252960" y="2560320"/>
            <a:ext cx="4023360" cy="420624"/>
          </a:xfrm>
          <a:prstGeom prst="rect">
            <a:avLst/>
          </a:prstGeom>
          <a:noFill/>
          <a:ln/>
        </p:spPr>
        <p:txBody>
          <a:bodyPr wrap="square" lIns="0" tIns="0" rIns="0" bIns="0" rtlCol="0" anchor="ctr"/>
          <a:lstStyle/>
          <a:p>
            <a:pPr algn="ctr" indent="0" marL="0">
              <a:buNone/>
            </a:pPr>
            <a:r>
              <a:rPr lang="en-US" sz="1500" dirty="0">
                <a:solidFill>
                  <a:srgbClr val="A8A49B"/>
                </a:solidFill>
                <a:latin typeface="Menlo" pitchFamily="34" charset="0"/>
                <a:ea typeface="Menlo" pitchFamily="34" charset="-122"/>
                <a:cs typeface="Menlo" pitchFamily="34" charset="-120"/>
              </a:rPr>
              <a:t>the bar</a:t>
            </a:r>
            <a:endParaRPr lang="en-US" sz="1500" dirty="0"/>
          </a:p>
        </p:txBody>
      </p:sp>
      <p:sp>
        <p:nvSpPr>
          <p:cNvPr id="31" name="Shape 29"/>
          <p:cNvSpPr/>
          <p:nvPr/>
        </p:nvSpPr>
        <p:spPr>
          <a:xfrm>
            <a:off x="11430000" y="3429000"/>
            <a:ext cx="0" cy="0"/>
          </a:xfrm>
          <a:prstGeom prst="line">
            <a:avLst/>
          </a:prstGeom>
          <a:noFill/>
          <a:ln w="25400">
            <a:solidFill>
              <a:srgbClr val="C5DD97"/>
            </a:solidFill>
            <a:prstDash val="solid"/>
          </a:ln>
        </p:spPr>
      </p:sp>
      <p:sp>
        <p:nvSpPr>
          <p:cNvPr id="32" name="Shape 30"/>
          <p:cNvSpPr/>
          <p:nvPr/>
        </p:nvSpPr>
        <p:spPr>
          <a:xfrm>
            <a:off x="11430000" y="3429000"/>
            <a:ext cx="731520" cy="0"/>
          </a:xfrm>
          <a:prstGeom prst="line">
            <a:avLst/>
          </a:prstGeom>
          <a:noFill/>
          <a:ln w="25400">
            <a:solidFill>
              <a:srgbClr val="C5DD97"/>
            </a:solidFill>
            <a:prstDash val="solid"/>
            <a:tailEnd type="triangle"/>
          </a:ln>
        </p:spPr>
      </p:sp>
      <p:sp>
        <p:nvSpPr>
          <p:cNvPr id="33" name="Shape 31"/>
          <p:cNvSpPr/>
          <p:nvPr/>
        </p:nvSpPr>
        <p:spPr>
          <a:xfrm>
            <a:off x="12252960" y="3218688"/>
            <a:ext cx="4023360" cy="420624"/>
          </a:xfrm>
          <a:prstGeom prst="roundRect">
            <a:avLst>
              <a:gd name="adj" fmla="val 50000"/>
            </a:avLst>
          </a:prstGeom>
          <a:solidFill>
            <a:srgbClr val="1E1E1B"/>
          </a:solidFill>
          <a:ln/>
        </p:spPr>
      </p:sp>
      <p:sp>
        <p:nvSpPr>
          <p:cNvPr id="34" name="Text 32"/>
          <p:cNvSpPr/>
          <p:nvPr/>
        </p:nvSpPr>
        <p:spPr>
          <a:xfrm>
            <a:off x="12252960" y="3218688"/>
            <a:ext cx="4023360" cy="420624"/>
          </a:xfrm>
          <a:prstGeom prst="rect">
            <a:avLst/>
          </a:prstGeom>
          <a:noFill/>
          <a:ln/>
        </p:spPr>
        <p:txBody>
          <a:bodyPr wrap="square" lIns="0" tIns="0" rIns="0" bIns="0" rtlCol="0" anchor="ctr"/>
          <a:lstStyle/>
          <a:p>
            <a:pPr algn="ctr" indent="0" marL="0">
              <a:buNone/>
            </a:pPr>
            <a:r>
              <a:rPr lang="en-US" sz="1500" dirty="0">
                <a:solidFill>
                  <a:srgbClr val="C5DD97"/>
                </a:solidFill>
                <a:latin typeface="Menlo" pitchFamily="34" charset="0"/>
                <a:ea typeface="Menlo" pitchFamily="34" charset="-122"/>
                <a:cs typeface="Menlo" pitchFamily="34" charset="-120"/>
              </a:rPr>
              <a:t>.sbx/usage.jsonl</a:t>
            </a:r>
            <a:endParaRPr lang="en-US" sz="1500" dirty="0"/>
          </a:p>
        </p:txBody>
      </p:sp>
      <p:sp>
        <p:nvSpPr>
          <p:cNvPr id="35" name="Shape 33"/>
          <p:cNvSpPr/>
          <p:nvPr/>
        </p:nvSpPr>
        <p:spPr>
          <a:xfrm>
            <a:off x="11430000" y="3429000"/>
            <a:ext cx="0" cy="658368"/>
          </a:xfrm>
          <a:prstGeom prst="line">
            <a:avLst/>
          </a:prstGeom>
          <a:noFill/>
          <a:ln w="25400">
            <a:solidFill>
              <a:srgbClr val="C5DD97"/>
            </a:solidFill>
            <a:prstDash val="solid"/>
          </a:ln>
        </p:spPr>
      </p:sp>
      <p:sp>
        <p:nvSpPr>
          <p:cNvPr id="36" name="Shape 34"/>
          <p:cNvSpPr/>
          <p:nvPr/>
        </p:nvSpPr>
        <p:spPr>
          <a:xfrm>
            <a:off x="11430000" y="4087368"/>
            <a:ext cx="731520" cy="0"/>
          </a:xfrm>
          <a:prstGeom prst="line">
            <a:avLst/>
          </a:prstGeom>
          <a:noFill/>
          <a:ln w="25400">
            <a:solidFill>
              <a:srgbClr val="C5DD97"/>
            </a:solidFill>
            <a:prstDash val="solid"/>
            <a:tailEnd type="triangle"/>
          </a:ln>
        </p:spPr>
      </p:sp>
      <p:sp>
        <p:nvSpPr>
          <p:cNvPr id="37" name="Shape 35"/>
          <p:cNvSpPr/>
          <p:nvPr/>
        </p:nvSpPr>
        <p:spPr>
          <a:xfrm>
            <a:off x="12252960" y="3877056"/>
            <a:ext cx="4023360" cy="420624"/>
          </a:xfrm>
          <a:prstGeom prst="roundRect">
            <a:avLst>
              <a:gd name="adj" fmla="val 50000"/>
            </a:avLst>
          </a:prstGeom>
          <a:solidFill>
            <a:srgbClr val="1E1E1B"/>
          </a:solidFill>
          <a:ln/>
        </p:spPr>
      </p:sp>
      <p:sp>
        <p:nvSpPr>
          <p:cNvPr id="38" name="Text 36"/>
          <p:cNvSpPr/>
          <p:nvPr/>
        </p:nvSpPr>
        <p:spPr>
          <a:xfrm>
            <a:off x="12252960" y="3877056"/>
            <a:ext cx="4023360" cy="420624"/>
          </a:xfrm>
          <a:prstGeom prst="rect">
            <a:avLst/>
          </a:prstGeom>
          <a:noFill/>
          <a:ln/>
        </p:spPr>
        <p:txBody>
          <a:bodyPr wrap="square" lIns="0" tIns="0" rIns="0" bIns="0" rtlCol="0" anchor="ctr"/>
          <a:lstStyle/>
          <a:p>
            <a:pPr algn="ctr" indent="0" marL="0">
              <a:buNone/>
            </a:pPr>
            <a:r>
              <a:rPr lang="en-US" sz="1500" dirty="0">
                <a:solidFill>
                  <a:srgbClr val="C5DD97"/>
                </a:solidFill>
                <a:latin typeface="Menlo" pitchFamily="34" charset="0"/>
                <a:ea typeface="Menlo" pitchFamily="34" charset="-122"/>
                <a:cs typeface="Menlo" pitchFamily="34" charset="-120"/>
              </a:rPr>
              <a:t>POST :8787</a:t>
            </a:r>
            <a:endParaRPr lang="en-US" sz="1500" dirty="0"/>
          </a:p>
        </p:txBody>
      </p:sp>
      <p:sp>
        <p:nvSpPr>
          <p:cNvPr id="39" name="Text 37"/>
          <p:cNvSpPr/>
          <p:nvPr/>
        </p:nvSpPr>
        <p:spPr>
          <a:xfrm>
            <a:off x="960120" y="5120640"/>
            <a:ext cx="2743200" cy="292608"/>
          </a:xfrm>
          <a:prstGeom prst="rect">
            <a:avLst/>
          </a:prstGeom>
          <a:noFill/>
          <a:ln/>
        </p:spPr>
        <p:txBody>
          <a:bodyPr wrap="square" lIns="0" tIns="0" rIns="0" bIns="0" rtlCol="0" anchor="ctr"/>
          <a:lstStyle/>
          <a:p>
            <a:pPr indent="0" marL="0">
              <a:buNone/>
            </a:pPr>
            <a:r>
              <a:rPr lang="en-US" sz="1300" spc="240" kern="0" dirty="0">
                <a:solidFill>
                  <a:srgbClr val="C5DD97"/>
                </a:solidFill>
                <a:latin typeface="Helvetica Neue" pitchFamily="34" charset="0"/>
                <a:ea typeface="Helvetica Neue" pitchFamily="34" charset="-122"/>
                <a:cs typeface="Helvetica Neue" pitchFamily="34" charset="-120"/>
              </a:rPr>
              <a:t>TOOLS</a:t>
            </a:r>
            <a:endParaRPr lang="en-US" sz="1300" dirty="0"/>
          </a:p>
        </p:txBody>
      </p:sp>
      <p:sp>
        <p:nvSpPr>
          <p:cNvPr id="40" name="Shape 38"/>
          <p:cNvSpPr/>
          <p:nvPr/>
        </p:nvSpPr>
        <p:spPr>
          <a:xfrm>
            <a:off x="960120" y="5577840"/>
            <a:ext cx="3566160" cy="1371600"/>
          </a:xfrm>
          <a:prstGeom prst="roundRect">
            <a:avLst>
              <a:gd name="adj" fmla="val 9333"/>
            </a:avLst>
          </a:prstGeom>
          <a:solidFill>
            <a:srgbClr val="151513"/>
          </a:solidFill>
          <a:ln/>
        </p:spPr>
      </p:sp>
      <p:sp>
        <p:nvSpPr>
          <p:cNvPr id="41" name="Text 39"/>
          <p:cNvSpPr/>
          <p:nvPr/>
        </p:nvSpPr>
        <p:spPr>
          <a:xfrm>
            <a:off x="1234440" y="5715000"/>
            <a:ext cx="3108960" cy="50292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Claude Code</a:t>
            </a:r>
            <a:endParaRPr lang="en-US" sz="2200" dirty="0"/>
          </a:p>
        </p:txBody>
      </p:sp>
      <p:sp>
        <p:nvSpPr>
          <p:cNvPr id="42" name="Text 40"/>
          <p:cNvSpPr/>
          <p:nvPr/>
        </p:nvSpPr>
        <p:spPr>
          <a:xfrm>
            <a:off x="1234440" y="6263640"/>
            <a:ext cx="3200400" cy="411480"/>
          </a:xfrm>
          <a:prstGeom prst="rect">
            <a:avLst/>
          </a:prstGeom>
          <a:noFill/>
          <a:ln/>
        </p:spPr>
        <p:txBody>
          <a:bodyPr wrap="square" lIns="0" tIns="0" rIns="0" bIns="0" rtlCol="0" anchor="ctr"/>
          <a:lstStyle/>
          <a:p>
            <a:pPr indent="0" marL="0">
              <a:buNone/>
            </a:pPr>
            <a:r>
              <a:rPr lang="en-US" sz="1400" dirty="0">
                <a:solidFill>
                  <a:srgbClr val="6B6760"/>
                </a:solidFill>
                <a:latin typeface="Menlo" pitchFamily="34" charset="0"/>
                <a:ea typeface="Menlo" pitchFamily="34" charset="-122"/>
                <a:cs typeface="Menlo" pitchFamily="34" charset="-120"/>
              </a:rPr>
              <a:t>PostToolUse · Stop</a:t>
            </a:r>
            <a:endParaRPr lang="en-US" sz="1400" dirty="0"/>
          </a:p>
        </p:txBody>
      </p:sp>
      <p:sp>
        <p:nvSpPr>
          <p:cNvPr id="43" name="Shape 41"/>
          <p:cNvSpPr/>
          <p:nvPr/>
        </p:nvSpPr>
        <p:spPr>
          <a:xfrm>
            <a:off x="4526280" y="6263640"/>
            <a:ext cx="2148840" cy="0"/>
          </a:xfrm>
          <a:prstGeom prst="line">
            <a:avLst/>
          </a:prstGeom>
          <a:noFill/>
          <a:ln w="25400">
            <a:solidFill>
              <a:srgbClr val="6B6760"/>
            </a:solidFill>
            <a:prstDash val="solid"/>
            <a:tailEnd type="triangle"/>
          </a:ln>
        </p:spPr>
      </p:sp>
      <p:sp>
        <p:nvSpPr>
          <p:cNvPr id="44" name="Text 42"/>
          <p:cNvSpPr/>
          <p:nvPr/>
        </p:nvSpPr>
        <p:spPr>
          <a:xfrm>
            <a:off x="4572000" y="5806440"/>
            <a:ext cx="2103120" cy="365760"/>
          </a:xfrm>
          <a:prstGeom prst="rect">
            <a:avLst/>
          </a:prstGeom>
          <a:noFill/>
          <a:ln/>
        </p:spPr>
        <p:txBody>
          <a:bodyPr wrap="square" lIns="0" tIns="0" rIns="0" bIns="0" rtlCol="0" anchor="ctr"/>
          <a:lstStyle/>
          <a:p>
            <a:pPr algn="ctr" indent="0" marL="0">
              <a:buNone/>
            </a:pPr>
            <a:r>
              <a:rPr lang="en-US" sz="1300" dirty="0">
                <a:solidFill>
                  <a:srgbClr val="6B6760"/>
                </a:solidFill>
                <a:latin typeface="Menlo" pitchFamily="34" charset="0"/>
                <a:ea typeface="Menlo" pitchFamily="34" charset="-122"/>
                <a:cs typeface="Menlo" pitchFamily="34" charset="-120"/>
              </a:rPr>
              <a:t>hook JSON</a:t>
            </a:r>
            <a:endParaRPr lang="en-US" sz="1300" dirty="0"/>
          </a:p>
        </p:txBody>
      </p:sp>
      <p:sp>
        <p:nvSpPr>
          <p:cNvPr id="45" name="Shape 43"/>
          <p:cNvSpPr/>
          <p:nvPr/>
        </p:nvSpPr>
        <p:spPr>
          <a:xfrm>
            <a:off x="6766560" y="5577840"/>
            <a:ext cx="3931920" cy="1371600"/>
          </a:xfrm>
          <a:prstGeom prst="roundRect">
            <a:avLst>
              <a:gd name="adj" fmla="val 9333"/>
            </a:avLst>
          </a:prstGeom>
          <a:solidFill>
            <a:srgbClr val="222A17"/>
          </a:solidFill>
          <a:ln w="19050">
            <a:solidFill>
              <a:srgbClr val="C5DD97"/>
            </a:solidFill>
            <a:prstDash val="solid"/>
          </a:ln>
        </p:spPr>
      </p:sp>
      <p:sp>
        <p:nvSpPr>
          <p:cNvPr id="46" name="Text 44"/>
          <p:cNvSpPr/>
          <p:nvPr/>
        </p:nvSpPr>
        <p:spPr>
          <a:xfrm>
            <a:off x="6766560" y="5577840"/>
            <a:ext cx="3931920" cy="1371600"/>
          </a:xfrm>
          <a:prstGeom prst="rect">
            <a:avLst/>
          </a:prstGeom>
          <a:noFill/>
          <a:ln/>
        </p:spPr>
        <p:txBody>
          <a:bodyPr wrap="square" lIns="0" tIns="0" rIns="0" bIns="0" rtlCol="0" anchor="ctr"/>
          <a:lstStyle/>
          <a:p>
            <a:pPr algn="ctr" indent="0" marL="0">
              <a:buNone/>
            </a:pPr>
            <a:r>
              <a:rPr lang="en-US" sz="2200" dirty="0">
                <a:solidFill>
                  <a:srgbClr val="C5DD97"/>
                </a:solidFill>
                <a:latin typeface="Menlo" pitchFamily="34" charset="0"/>
                <a:ea typeface="Menlo" pitchFamily="34" charset="-122"/>
                <a:cs typeface="Menlo" pitchFamily="34" charset="-120"/>
              </a:rPr>
              <a:t>activity.py</a:t>
            </a:r>
            <a:endParaRPr lang="en-US" sz="2200" dirty="0"/>
          </a:p>
        </p:txBody>
      </p:sp>
      <p:sp>
        <p:nvSpPr>
          <p:cNvPr id="47" name="Shape 45"/>
          <p:cNvSpPr/>
          <p:nvPr/>
        </p:nvSpPr>
        <p:spPr>
          <a:xfrm>
            <a:off x="10698480" y="6263640"/>
            <a:ext cx="731520" cy="0"/>
          </a:xfrm>
          <a:prstGeom prst="line">
            <a:avLst/>
          </a:prstGeom>
          <a:noFill/>
          <a:ln w="25400">
            <a:solidFill>
              <a:srgbClr val="C5DD97"/>
            </a:solidFill>
            <a:prstDash val="solid"/>
          </a:ln>
        </p:spPr>
      </p:sp>
      <p:sp>
        <p:nvSpPr>
          <p:cNvPr id="48" name="Shape 46"/>
          <p:cNvSpPr/>
          <p:nvPr/>
        </p:nvSpPr>
        <p:spPr>
          <a:xfrm flipV="1">
            <a:off x="11430000" y="5934456"/>
            <a:ext cx="0" cy="329184"/>
          </a:xfrm>
          <a:prstGeom prst="line">
            <a:avLst/>
          </a:prstGeom>
          <a:noFill/>
          <a:ln w="25400">
            <a:solidFill>
              <a:srgbClr val="C5DD97"/>
            </a:solidFill>
            <a:prstDash val="solid"/>
          </a:ln>
        </p:spPr>
      </p:sp>
      <p:sp>
        <p:nvSpPr>
          <p:cNvPr id="49" name="Shape 47"/>
          <p:cNvSpPr/>
          <p:nvPr/>
        </p:nvSpPr>
        <p:spPr>
          <a:xfrm>
            <a:off x="11430000" y="5934456"/>
            <a:ext cx="731520" cy="0"/>
          </a:xfrm>
          <a:prstGeom prst="line">
            <a:avLst/>
          </a:prstGeom>
          <a:noFill/>
          <a:ln w="25400">
            <a:solidFill>
              <a:srgbClr val="C5DD97"/>
            </a:solidFill>
            <a:prstDash val="solid"/>
            <a:tailEnd type="triangle"/>
          </a:ln>
        </p:spPr>
      </p:sp>
      <p:sp>
        <p:nvSpPr>
          <p:cNvPr id="50" name="Shape 48"/>
          <p:cNvSpPr/>
          <p:nvPr/>
        </p:nvSpPr>
        <p:spPr>
          <a:xfrm>
            <a:off x="12252960" y="5724144"/>
            <a:ext cx="4023360" cy="420624"/>
          </a:xfrm>
          <a:prstGeom prst="roundRect">
            <a:avLst>
              <a:gd name="adj" fmla="val 50000"/>
            </a:avLst>
          </a:prstGeom>
          <a:solidFill>
            <a:srgbClr val="1E1E1B"/>
          </a:solidFill>
          <a:ln/>
        </p:spPr>
      </p:sp>
      <p:sp>
        <p:nvSpPr>
          <p:cNvPr id="51" name="Text 49"/>
          <p:cNvSpPr/>
          <p:nvPr/>
        </p:nvSpPr>
        <p:spPr>
          <a:xfrm>
            <a:off x="12252960" y="5724144"/>
            <a:ext cx="4023360" cy="420624"/>
          </a:xfrm>
          <a:prstGeom prst="rect">
            <a:avLst/>
          </a:prstGeom>
          <a:noFill/>
          <a:ln/>
        </p:spPr>
        <p:txBody>
          <a:bodyPr wrap="square" lIns="0" tIns="0" rIns="0" bIns="0" rtlCol="0" anchor="ctr"/>
          <a:lstStyle/>
          <a:p>
            <a:pPr algn="ctr" indent="0" marL="0">
              <a:buNone/>
            </a:pPr>
            <a:r>
              <a:rPr lang="en-US" sz="1500" dirty="0">
                <a:solidFill>
                  <a:srgbClr val="C5DD97"/>
                </a:solidFill>
                <a:latin typeface="Menlo" pitchFamily="34" charset="0"/>
                <a:ea typeface="Menlo" pitchFamily="34" charset="-122"/>
                <a:cs typeface="Menlo" pitchFamily="34" charset="-120"/>
              </a:rPr>
              <a:t>.sbx/activity.jsonl</a:t>
            </a:r>
            <a:endParaRPr lang="en-US" sz="1500" dirty="0"/>
          </a:p>
        </p:txBody>
      </p:sp>
      <p:sp>
        <p:nvSpPr>
          <p:cNvPr id="52" name="Shape 50"/>
          <p:cNvSpPr/>
          <p:nvPr/>
        </p:nvSpPr>
        <p:spPr>
          <a:xfrm>
            <a:off x="11430000" y="6263640"/>
            <a:ext cx="0" cy="329184"/>
          </a:xfrm>
          <a:prstGeom prst="line">
            <a:avLst/>
          </a:prstGeom>
          <a:noFill/>
          <a:ln w="25400">
            <a:solidFill>
              <a:srgbClr val="C5DD97"/>
            </a:solidFill>
            <a:prstDash val="solid"/>
          </a:ln>
        </p:spPr>
      </p:sp>
      <p:sp>
        <p:nvSpPr>
          <p:cNvPr id="53" name="Shape 51"/>
          <p:cNvSpPr/>
          <p:nvPr/>
        </p:nvSpPr>
        <p:spPr>
          <a:xfrm>
            <a:off x="11430000" y="6592824"/>
            <a:ext cx="731520" cy="0"/>
          </a:xfrm>
          <a:prstGeom prst="line">
            <a:avLst/>
          </a:prstGeom>
          <a:noFill/>
          <a:ln w="25400">
            <a:solidFill>
              <a:srgbClr val="C5DD97"/>
            </a:solidFill>
            <a:prstDash val="solid"/>
            <a:tailEnd type="triangle"/>
          </a:ln>
        </p:spPr>
      </p:sp>
      <p:sp>
        <p:nvSpPr>
          <p:cNvPr id="54" name="Shape 52"/>
          <p:cNvSpPr/>
          <p:nvPr/>
        </p:nvSpPr>
        <p:spPr>
          <a:xfrm>
            <a:off x="12252960" y="6382512"/>
            <a:ext cx="4023360" cy="420624"/>
          </a:xfrm>
          <a:prstGeom prst="roundRect">
            <a:avLst>
              <a:gd name="adj" fmla="val 50000"/>
            </a:avLst>
          </a:prstGeom>
          <a:solidFill>
            <a:srgbClr val="1E1E1B"/>
          </a:solidFill>
          <a:ln/>
        </p:spPr>
      </p:sp>
      <p:sp>
        <p:nvSpPr>
          <p:cNvPr id="55" name="Text 53"/>
          <p:cNvSpPr/>
          <p:nvPr/>
        </p:nvSpPr>
        <p:spPr>
          <a:xfrm>
            <a:off x="12252960" y="6382512"/>
            <a:ext cx="4023360" cy="420624"/>
          </a:xfrm>
          <a:prstGeom prst="rect">
            <a:avLst/>
          </a:prstGeom>
          <a:noFill/>
          <a:ln/>
        </p:spPr>
        <p:txBody>
          <a:bodyPr wrap="square" lIns="0" tIns="0" rIns="0" bIns="0" rtlCol="0" anchor="ctr"/>
          <a:lstStyle/>
          <a:p>
            <a:pPr algn="ctr" indent="0" marL="0">
              <a:buNone/>
            </a:pPr>
            <a:r>
              <a:rPr lang="en-US" sz="1500" dirty="0">
                <a:solidFill>
                  <a:srgbClr val="C5DD97"/>
                </a:solidFill>
                <a:latin typeface="Menlo" pitchFamily="34" charset="0"/>
                <a:ea typeface="Menlo" pitchFamily="34" charset="-122"/>
                <a:cs typeface="Menlo" pitchFamily="34" charset="-120"/>
              </a:rPr>
              <a:t>POST /activity</a:t>
            </a:r>
            <a:endParaRPr lang="en-US" sz="1500" dirty="0"/>
          </a:p>
        </p:txBody>
      </p:sp>
      <p:sp>
        <p:nvSpPr>
          <p:cNvPr id="56" name="Shape 54"/>
          <p:cNvSpPr/>
          <p:nvPr/>
        </p:nvSpPr>
        <p:spPr>
          <a:xfrm>
            <a:off x="960120" y="8092440"/>
            <a:ext cx="16367760" cy="914400"/>
          </a:xfrm>
          <a:prstGeom prst="roundRect">
            <a:avLst>
              <a:gd name="adj" fmla="val 14000"/>
            </a:avLst>
          </a:prstGeom>
          <a:solidFill>
            <a:srgbClr val="0F0F0D"/>
          </a:solidFill>
          <a:ln/>
        </p:spPr>
      </p:sp>
      <p:sp>
        <p:nvSpPr>
          <p:cNvPr id="57" name="Text 55"/>
          <p:cNvSpPr/>
          <p:nvPr/>
        </p:nvSpPr>
        <p:spPr>
          <a:xfrm>
            <a:off x="1280160" y="8092440"/>
            <a:ext cx="15819120" cy="914400"/>
          </a:xfrm>
          <a:prstGeom prst="rect">
            <a:avLst/>
          </a:prstGeom>
          <a:noFill/>
          <a:ln/>
        </p:spPr>
        <p:txBody>
          <a:bodyPr wrap="square" lIns="0" tIns="0" rIns="0" bIns="0" rtlCol="0" anchor="ctr"/>
          <a:lstStyle/>
          <a:p>
            <a:pPr indent="0" marL="0">
              <a:buNone/>
            </a:pPr>
            <a:r>
              <a:rPr lang="en-US" sz="2000" dirty="0">
                <a:solidFill>
                  <a:srgbClr val="ECE8E1"/>
                </a:solidFill>
                <a:latin typeface="Helvetica Neue" pitchFamily="34" charset="0"/>
                <a:ea typeface="Helvetica Neue" pitchFamily="34" charset="-122"/>
                <a:cs typeface="Helvetica Neue" pitchFamily="34" charset="-120"/>
              </a:rPr>
              <a:t>No tokens spent.   </a:t>
            </a:r>
            <a:pPr indent="0" marL="0">
              <a:buNone/>
            </a:pPr>
            <a:r>
              <a:rPr lang="en-US" sz="2000" dirty="0">
                <a:solidFill>
                  <a:srgbClr val="A8A49B"/>
                </a:solidFill>
                <a:latin typeface="Helvetica Neue" pitchFamily="34" charset="0"/>
                <a:ea typeface="Helvetica Neue" pitchFamily="34" charset="-122"/>
                <a:cs typeface="Helvetica Neue" pitchFamily="34" charset="-120"/>
              </a:rPr>
              <a:t>A refresh is not a new row.   </a:t>
            </a:r>
            <a:pPr indent="0" marL="0">
              <a:buNone/>
            </a:pPr>
            <a:r>
              <a:rPr lang="en-US" sz="2000" dirty="0">
                <a:solidFill>
                  <a:srgbClr val="A8A49B"/>
                </a:solidFill>
                <a:latin typeface="Helvetica Neue" pitchFamily="34" charset="0"/>
                <a:ea typeface="Helvetica Neue" pitchFamily="34" charset="-122"/>
                <a:cs typeface="Helvetica Neue" pitchFamily="34" charset="-120"/>
              </a:rPr>
              <a:t>Tool name only, never the command.</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ON THE HOST</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C5DD97"/>
          </a:solidFill>
          <a:ln/>
        </p:spPr>
      </p:sp>
      <p:sp>
        <p:nvSpPr>
          <p:cNvPr id="11" name="Shape 9"/>
          <p:cNvSpPr/>
          <p:nvPr/>
        </p:nvSpPr>
        <p:spPr>
          <a:xfrm>
            <a:off x="10507980" y="9528048"/>
            <a:ext cx="1309116" cy="45720"/>
          </a:xfrm>
          <a:prstGeom prst="rect">
            <a:avLst/>
          </a:prstGeom>
          <a:solidFill>
            <a:srgbClr val="2A2A2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07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Same session. </a:t>
            </a:r>
            <a:pPr indent="0" marL="0">
              <a:buNone/>
            </a:pPr>
            <a:r>
              <a:rPr lang="en-US" sz="4400" dirty="0">
                <a:solidFill>
                  <a:srgbClr val="C5DD97"/>
                </a:solidFill>
                <a:latin typeface="Helvetica Neue" pitchFamily="34" charset="0"/>
                <a:ea typeface="Helvetica Neue" pitchFamily="34" charset="-122"/>
                <a:cs typeface="Helvetica Neue" pitchFamily="34" charset="-120"/>
              </a:rPr>
              <a:t>Watch the cache.</a:t>
            </a:r>
            <a:endParaRPr lang="en-US" sz="4400" dirty="0"/>
          </a:p>
        </p:txBody>
      </p:sp>
      <p:sp>
        <p:nvSpPr>
          <p:cNvPr id="18" name="Shape 16"/>
          <p:cNvSpPr/>
          <p:nvPr/>
        </p:nvSpPr>
        <p:spPr>
          <a:xfrm>
            <a:off x="960120" y="2194560"/>
            <a:ext cx="6583680" cy="3566160"/>
          </a:xfrm>
          <a:prstGeom prst="roundRect">
            <a:avLst>
              <a:gd name="adj" fmla="val 3590"/>
            </a:avLst>
          </a:prstGeom>
          <a:solidFill>
            <a:srgbClr val="0F0F0D"/>
          </a:solidFill>
          <a:ln w="12700">
            <a:solidFill>
              <a:srgbClr val="2A2A27"/>
            </a:solidFill>
            <a:prstDash val="solid"/>
          </a:ln>
        </p:spPr>
      </p:sp>
      <p:sp>
        <p:nvSpPr>
          <p:cNvPr id="19" name="Shape 17"/>
          <p:cNvSpPr/>
          <p:nvPr/>
        </p:nvSpPr>
        <p:spPr>
          <a:xfrm>
            <a:off x="978408" y="2212848"/>
            <a:ext cx="6547104" cy="457200"/>
          </a:xfrm>
          <a:prstGeom prst="roundRect">
            <a:avLst>
              <a:gd name="adj" fmla="val 24000"/>
            </a:avLst>
          </a:prstGeom>
          <a:solidFill>
            <a:srgbClr val="1E1E1B"/>
          </a:solidFill>
          <a:ln/>
        </p:spPr>
      </p:sp>
      <p:sp>
        <p:nvSpPr>
          <p:cNvPr id="20" name="Shape 18"/>
          <p:cNvSpPr/>
          <p:nvPr/>
        </p:nvSpPr>
        <p:spPr>
          <a:xfrm>
            <a:off x="978408" y="2523744"/>
            <a:ext cx="6547104" cy="146304"/>
          </a:xfrm>
          <a:prstGeom prst="rect">
            <a:avLst/>
          </a:prstGeom>
          <a:solidFill>
            <a:srgbClr val="1E1E1B"/>
          </a:solidFill>
          <a:ln/>
        </p:spPr>
      </p:sp>
      <p:sp>
        <p:nvSpPr>
          <p:cNvPr id="21" name="Shape 19"/>
          <p:cNvSpPr/>
          <p:nvPr/>
        </p:nvSpPr>
        <p:spPr>
          <a:xfrm>
            <a:off x="1188720" y="2350008"/>
            <a:ext cx="155448" cy="155448"/>
          </a:xfrm>
          <a:prstGeom prst="ellipse">
            <a:avLst/>
          </a:prstGeom>
          <a:solidFill>
            <a:srgbClr val="D9695F"/>
          </a:solidFill>
          <a:ln/>
        </p:spPr>
      </p:sp>
      <p:sp>
        <p:nvSpPr>
          <p:cNvPr id="22" name="Shape 20"/>
          <p:cNvSpPr/>
          <p:nvPr/>
        </p:nvSpPr>
        <p:spPr>
          <a:xfrm>
            <a:off x="1463040" y="2350008"/>
            <a:ext cx="155448" cy="155448"/>
          </a:xfrm>
          <a:prstGeom prst="ellipse">
            <a:avLst/>
          </a:prstGeom>
          <a:solidFill>
            <a:srgbClr val="D9B45F"/>
          </a:solidFill>
          <a:ln/>
        </p:spPr>
      </p:sp>
      <p:sp>
        <p:nvSpPr>
          <p:cNvPr id="23" name="Shape 21"/>
          <p:cNvSpPr/>
          <p:nvPr/>
        </p:nvSpPr>
        <p:spPr>
          <a:xfrm>
            <a:off x="1737360" y="2350008"/>
            <a:ext cx="155448" cy="155448"/>
          </a:xfrm>
          <a:prstGeom prst="ellipse">
            <a:avLst/>
          </a:prstGeom>
          <a:solidFill>
            <a:srgbClr val="8DBF6A"/>
          </a:solidFill>
          <a:ln/>
        </p:spPr>
      </p:sp>
      <p:sp>
        <p:nvSpPr>
          <p:cNvPr id="24" name="Text 22"/>
          <p:cNvSpPr/>
          <p:nvPr/>
        </p:nvSpPr>
        <p:spPr>
          <a:xfrm>
            <a:off x="2148840" y="2212848"/>
            <a:ext cx="4206240" cy="457200"/>
          </a:xfrm>
          <a:prstGeom prst="rect">
            <a:avLst/>
          </a:prstGeom>
          <a:noFill/>
          <a:ln/>
        </p:spPr>
        <p:txBody>
          <a:bodyPr wrap="square" lIns="0" tIns="0" rIns="0" bIns="0" rtlCol="0" anchor="ctr"/>
          <a:lstStyle/>
          <a:p>
            <a:pPr algn="ctr" indent="0" marL="0">
              <a:buNone/>
            </a:pPr>
            <a:r>
              <a:rPr lang="en-US" sz="1300" dirty="0">
                <a:solidFill>
                  <a:srgbClr val="6B6760"/>
                </a:solidFill>
                <a:latin typeface="Menlo" pitchFamily="34" charset="0"/>
                <a:ea typeface="Menlo" pitchFamily="34" charset="-122"/>
                <a:cs typeface="Menlo" pitchFamily="34" charset="-120"/>
              </a:rPr>
              <a:t>inside the sandbox</a:t>
            </a:r>
            <a:endParaRPr lang="en-US" sz="1300" dirty="0"/>
          </a:p>
        </p:txBody>
      </p:sp>
      <p:sp>
        <p:nvSpPr>
          <p:cNvPr id="25" name="Text 23"/>
          <p:cNvSpPr/>
          <p:nvPr/>
        </p:nvSpPr>
        <p:spPr>
          <a:xfrm>
            <a:off x="1280160" y="2926080"/>
            <a:ext cx="5943600" cy="36576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&gt; refactor the parser</a:t>
            </a:r>
            <a:endParaRPr lang="en-US" sz="1500" dirty="0"/>
          </a:p>
        </p:txBody>
      </p:sp>
      <p:sp>
        <p:nvSpPr>
          <p:cNvPr id="26" name="Text 24"/>
          <p:cNvSpPr/>
          <p:nvPr/>
        </p:nvSpPr>
        <p:spPr>
          <a:xfrm>
            <a:off x="1280160" y="3383280"/>
            <a:ext cx="5943600" cy="365760"/>
          </a:xfrm>
          <a:prstGeom prst="rect">
            <a:avLst/>
          </a:prstGeom>
          <a:noFill/>
          <a:ln/>
        </p:spPr>
        <p:txBody>
          <a:bodyPr wrap="square" lIns="0" tIns="0" rIns="0" bIns="0" rtlCol="0" anchor="ctr"/>
          <a:lstStyle/>
          <a:p>
            <a:pPr indent="0" marL="0">
              <a:buNone/>
            </a:pPr>
            <a:r>
              <a:rPr lang="en-US" sz="1500" dirty="0">
                <a:solidFill>
                  <a:srgbClr val="6B6760"/>
                </a:solidFill>
                <a:latin typeface="Menlo" pitchFamily="34" charset="0"/>
                <a:ea typeface="Menlo" pitchFamily="34" charset="-122"/>
                <a:cs typeface="Menlo" pitchFamily="34" charset="-120"/>
              </a:rPr>
              <a:t>⏺ Edit src/parse.ts</a:t>
            </a:r>
            <a:endParaRPr lang="en-US" sz="1500" dirty="0"/>
          </a:p>
        </p:txBody>
      </p:sp>
      <p:sp>
        <p:nvSpPr>
          <p:cNvPr id="27" name="Shape 25"/>
          <p:cNvSpPr/>
          <p:nvPr/>
        </p:nvSpPr>
        <p:spPr>
          <a:xfrm>
            <a:off x="1143000" y="4846320"/>
            <a:ext cx="6217920" cy="685800"/>
          </a:xfrm>
          <a:prstGeom prst="roundRect">
            <a:avLst>
              <a:gd name="adj" fmla="val 10667"/>
            </a:avLst>
          </a:prstGeom>
          <a:solidFill>
            <a:srgbClr val="1E1E1B"/>
          </a:solidFill>
          <a:ln/>
        </p:spPr>
      </p:sp>
      <p:sp>
        <p:nvSpPr>
          <p:cNvPr id="28" name="Text 26"/>
          <p:cNvSpPr/>
          <p:nvPr/>
        </p:nvSpPr>
        <p:spPr>
          <a:xfrm>
            <a:off x="1371600" y="4846320"/>
            <a:ext cx="5852160" cy="685800"/>
          </a:xfrm>
          <a:prstGeom prst="rect">
            <a:avLst/>
          </a:prstGeom>
          <a:noFill/>
          <a:ln/>
        </p:spPr>
        <p:txBody>
          <a:bodyPr wrap="square" lIns="0" tIns="0" rIns="0" bIns="0" rtlCol="0" anchor="ctr"/>
          <a:lstStyle/>
          <a:p>
            <a:pPr indent="0" marL="0">
              <a:buNone/>
            </a:pPr>
            <a:r>
              <a:rPr lang="en-US" sz="1700" dirty="0">
                <a:solidFill>
                  <a:srgbClr val="C5DD97"/>
                </a:solidFill>
                <a:latin typeface="Menlo" pitchFamily="34" charset="0"/>
                <a:ea typeface="Menlo" pitchFamily="34" charset="-122"/>
                <a:cs typeface="Menlo" pitchFamily="34" charset="-120"/>
              </a:rPr>
              <a:t>claude-sonnet   $0.61   ctx 34%</a:t>
            </a:r>
            <a:endParaRPr lang="en-US" sz="1700" dirty="0"/>
          </a:p>
        </p:txBody>
      </p:sp>
      <p:sp>
        <p:nvSpPr>
          <p:cNvPr id="29" name="Shape 27"/>
          <p:cNvSpPr/>
          <p:nvPr/>
        </p:nvSpPr>
        <p:spPr>
          <a:xfrm>
            <a:off x="7863840" y="2194560"/>
            <a:ext cx="9464040" cy="3566160"/>
          </a:xfrm>
          <a:prstGeom prst="roundRect">
            <a:avLst>
              <a:gd name="adj" fmla="val 3590"/>
            </a:avLst>
          </a:prstGeom>
          <a:solidFill>
            <a:srgbClr val="0F0F0D"/>
          </a:solidFill>
          <a:ln w="12700">
            <a:solidFill>
              <a:srgbClr val="2A2A27"/>
            </a:solidFill>
            <a:prstDash val="solid"/>
          </a:ln>
        </p:spPr>
      </p:sp>
      <p:sp>
        <p:nvSpPr>
          <p:cNvPr id="30" name="Shape 28"/>
          <p:cNvSpPr/>
          <p:nvPr/>
        </p:nvSpPr>
        <p:spPr>
          <a:xfrm>
            <a:off x="7882128" y="2212848"/>
            <a:ext cx="9427464" cy="457200"/>
          </a:xfrm>
          <a:prstGeom prst="roundRect">
            <a:avLst>
              <a:gd name="adj" fmla="val 24000"/>
            </a:avLst>
          </a:prstGeom>
          <a:solidFill>
            <a:srgbClr val="1E1E1B"/>
          </a:solidFill>
          <a:ln/>
        </p:spPr>
      </p:sp>
      <p:sp>
        <p:nvSpPr>
          <p:cNvPr id="31" name="Shape 29"/>
          <p:cNvSpPr/>
          <p:nvPr/>
        </p:nvSpPr>
        <p:spPr>
          <a:xfrm>
            <a:off x="7882128" y="2523744"/>
            <a:ext cx="9427464" cy="146304"/>
          </a:xfrm>
          <a:prstGeom prst="rect">
            <a:avLst/>
          </a:prstGeom>
          <a:solidFill>
            <a:srgbClr val="1E1E1B"/>
          </a:solidFill>
          <a:ln/>
        </p:spPr>
      </p:sp>
      <p:sp>
        <p:nvSpPr>
          <p:cNvPr id="32" name="Shape 30"/>
          <p:cNvSpPr/>
          <p:nvPr/>
        </p:nvSpPr>
        <p:spPr>
          <a:xfrm>
            <a:off x="8092440" y="2350008"/>
            <a:ext cx="155448" cy="155448"/>
          </a:xfrm>
          <a:prstGeom prst="ellipse">
            <a:avLst/>
          </a:prstGeom>
          <a:solidFill>
            <a:srgbClr val="D9695F"/>
          </a:solidFill>
          <a:ln/>
        </p:spPr>
      </p:sp>
      <p:sp>
        <p:nvSpPr>
          <p:cNvPr id="33" name="Shape 31"/>
          <p:cNvSpPr/>
          <p:nvPr/>
        </p:nvSpPr>
        <p:spPr>
          <a:xfrm>
            <a:off x="8366760" y="2350008"/>
            <a:ext cx="155448" cy="155448"/>
          </a:xfrm>
          <a:prstGeom prst="ellipse">
            <a:avLst/>
          </a:prstGeom>
          <a:solidFill>
            <a:srgbClr val="D9B45F"/>
          </a:solidFill>
          <a:ln/>
        </p:spPr>
      </p:sp>
      <p:sp>
        <p:nvSpPr>
          <p:cNvPr id="34" name="Shape 32"/>
          <p:cNvSpPr/>
          <p:nvPr/>
        </p:nvSpPr>
        <p:spPr>
          <a:xfrm>
            <a:off x="8641080" y="2350008"/>
            <a:ext cx="155448" cy="155448"/>
          </a:xfrm>
          <a:prstGeom prst="ellipse">
            <a:avLst/>
          </a:prstGeom>
          <a:solidFill>
            <a:srgbClr val="8DBF6A"/>
          </a:solidFill>
          <a:ln/>
        </p:spPr>
      </p:sp>
      <p:sp>
        <p:nvSpPr>
          <p:cNvPr id="35" name="Text 33"/>
          <p:cNvSpPr/>
          <p:nvPr/>
        </p:nvSpPr>
        <p:spPr>
          <a:xfrm>
            <a:off x="9052560" y="2212848"/>
            <a:ext cx="7086600" cy="457200"/>
          </a:xfrm>
          <a:prstGeom prst="rect">
            <a:avLst/>
          </a:prstGeom>
          <a:noFill/>
          <a:ln/>
        </p:spPr>
        <p:txBody>
          <a:bodyPr wrap="square" lIns="0" tIns="0" rIns="0" bIns="0" rtlCol="0" anchor="ctr"/>
          <a:lstStyle/>
          <a:p>
            <a:pPr algn="ctr" indent="0" marL="0">
              <a:buNone/>
            </a:pPr>
            <a:r>
              <a:rPr lang="en-US" sz="1300" dirty="0">
                <a:solidFill>
                  <a:srgbClr val="6B6760"/>
                </a:solidFill>
                <a:latin typeface="Menlo" pitchFamily="34" charset="0"/>
                <a:ea typeface="Menlo" pitchFamily="34" charset="-122"/>
                <a:cs typeface="Menlo" pitchFamily="34" charset="-120"/>
              </a:rPr>
              <a:t>host · tail -f .sbx/usage.jsonl</a:t>
            </a:r>
            <a:endParaRPr lang="en-US" sz="1300" dirty="0"/>
          </a:p>
        </p:txBody>
      </p:sp>
      <p:sp>
        <p:nvSpPr>
          <p:cNvPr id="36" name="Text 34"/>
          <p:cNvSpPr/>
          <p:nvPr/>
        </p:nvSpPr>
        <p:spPr>
          <a:xfrm>
            <a:off x="8183880" y="3108960"/>
            <a:ext cx="8869680" cy="1280160"/>
          </a:xfrm>
          <a:prstGeom prst="rect">
            <a:avLst/>
          </a:prstGeom>
          <a:noFill/>
          <a:ln/>
        </p:spPr>
        <p:txBody>
          <a:bodyPr wrap="square" lIns="0" tIns="0" rIns="0" bIns="0" rtlCol="0" anchor="ctr"/>
          <a:lstStyle/>
          <a:p>
            <a:pPr indent="0" marL="0">
              <a:lnSpc>
                <a:spcPct val="170000"/>
              </a:lnSpc>
              <a:buNone/>
            </a:pPr>
            <a:r>
              <a:rPr lang="en-US" sz="1600" dirty="0">
                <a:solidFill>
                  <a:srgbClr val="6B6760"/>
                </a:solidFill>
                <a:latin typeface="Menlo" pitchFamily="34" charset="0"/>
                <a:ea typeface="Menlo" pitchFamily="34" charset="-122"/>
                <a:cs typeface="Menlo" pitchFamily="34" charset="-120"/>
              </a:rPr>
              <a:t>{"usd":0.42,"output":190,</a:t>
            </a:r>
            <a:pPr indent="0" marL="0">
              <a:lnSpc>
                <a:spcPct val="170000"/>
              </a:lnSpc>
              <a:buNone/>
            </a:pPr>
            <a:r>
              <a:rPr lang="en-US" sz="1600" dirty="0">
                <a:solidFill>
                  <a:srgbClr val="A8A49B"/>
                </a:solidFill>
                <a:latin typeface="Menlo" pitchFamily="34" charset="0"/>
                <a:ea typeface="Menlo" pitchFamily="34" charset="-122"/>
                <a:cs typeface="Menlo" pitchFamily="34" charset="-120"/>
              </a:rPr>
              <a:t>"cache_read":140220</a:t>
            </a:r>
            <a:pPr indent="0" marL="0">
              <a:lnSpc>
                <a:spcPct val="170000"/>
              </a:lnSpc>
              <a:buNone/>
            </a:pPr>
            <a:r>
              <a:rPr lang="en-US" sz="1600" dirty="0">
                <a:solidFill>
                  <a:srgbClr val="6B6760"/>
                </a:solidFill>
                <a:latin typeface="Menlo" pitchFamily="34" charset="0"/>
                <a:ea typeface="Menlo" pitchFamily="34" charset="-122"/>
                <a:cs typeface="Menlo" pitchFamily="34" charset="-120"/>
              </a:rPr>
              <a:t>,…}</a:t>
            </a:r>
            <a:endParaRPr lang="en-US" sz="1600" dirty="0"/>
          </a:p>
          <a:p>
            <a:pPr indent="0" marL="0">
              <a:lnSpc>
                <a:spcPct val="170000"/>
              </a:lnSpc>
              <a:buNone/>
            </a:pPr>
            <a:r>
              <a:rPr lang="en-US" sz="1600" dirty="0">
                <a:solidFill>
                  <a:srgbClr val="ECE8E1"/>
                </a:solidFill>
                <a:latin typeface="Menlo" pitchFamily="34" charset="0"/>
                <a:ea typeface="Menlo" pitchFamily="34" charset="-122"/>
                <a:cs typeface="Menlo" pitchFamily="34" charset="-120"/>
              </a:rPr>
              <a:t>{"usd":0.61,"output":88,</a:t>
            </a:r>
            <a:pPr indent="0" marL="0">
              <a:lnSpc>
                <a:spcPct val="170000"/>
              </a:lnSpc>
              <a:buNone/>
            </a:pPr>
            <a:r>
              <a:rPr lang="en-US" sz="1600" dirty="0">
                <a:solidFill>
                  <a:srgbClr val="C5DD97"/>
                </a:solidFill>
                <a:latin typeface="Menlo" pitchFamily="34" charset="0"/>
                <a:ea typeface="Menlo" pitchFamily="34" charset="-122"/>
                <a:cs typeface="Menlo" pitchFamily="34" charset="-120"/>
              </a:rPr>
              <a:t>"cache_read":148900</a:t>
            </a:r>
            <a:pPr indent="0" marL="0">
              <a:lnSpc>
                <a:spcPct val="170000"/>
              </a:lnSpc>
              <a:buNone/>
            </a:pPr>
            <a:r>
              <a:rPr lang="en-US" sz="1600" dirty="0">
                <a:solidFill>
                  <a:srgbClr val="ECE8E1"/>
                </a:solidFill>
                <a:latin typeface="Menlo" pitchFamily="34" charset="0"/>
                <a:ea typeface="Menlo" pitchFamily="34" charset="-122"/>
                <a:cs typeface="Menlo" pitchFamily="34" charset="-120"/>
              </a:rPr>
              <a:t>,…}</a:t>
            </a:r>
            <a:endParaRPr lang="en-US" sz="1600" dirty="0"/>
          </a:p>
        </p:txBody>
      </p:sp>
      <p:sp>
        <p:nvSpPr>
          <p:cNvPr id="37" name="Text 35"/>
          <p:cNvSpPr/>
          <p:nvPr/>
        </p:nvSpPr>
        <p:spPr>
          <a:xfrm>
            <a:off x="8183880" y="4526280"/>
            <a:ext cx="457200" cy="365760"/>
          </a:xfrm>
          <a:prstGeom prst="rect">
            <a:avLst/>
          </a:prstGeom>
          <a:noFill/>
          <a:ln/>
        </p:spPr>
        <p:txBody>
          <a:bodyPr wrap="square" lIns="0" tIns="0" rIns="0" bIns="0" rtlCol="0" anchor="ctr"/>
          <a:lstStyle/>
          <a:p>
            <a:pPr indent="0" marL="0">
              <a:buNone/>
            </a:pPr>
            <a:r>
              <a:rPr lang="en-US" sz="1600" dirty="0">
                <a:solidFill>
                  <a:srgbClr val="C5DD97"/>
                </a:solidFill>
                <a:latin typeface="Menlo" pitchFamily="34" charset="0"/>
                <a:ea typeface="Menlo" pitchFamily="34" charset="-122"/>
                <a:cs typeface="Menlo" pitchFamily="34" charset="-120"/>
              </a:rPr>
              <a:t>▍</a:t>
            </a:r>
            <a:endParaRPr lang="en-US" sz="1600" dirty="0"/>
          </a:p>
        </p:txBody>
      </p:sp>
      <p:sp>
        <p:nvSpPr>
          <p:cNvPr id="38" name="Shape 36"/>
          <p:cNvSpPr/>
          <p:nvPr/>
        </p:nvSpPr>
        <p:spPr>
          <a:xfrm>
            <a:off x="960120" y="6080760"/>
            <a:ext cx="3931920" cy="2743200"/>
          </a:xfrm>
          <a:prstGeom prst="roundRect">
            <a:avLst>
              <a:gd name="adj" fmla="val 4667"/>
            </a:avLst>
          </a:prstGeom>
          <a:solidFill>
            <a:srgbClr val="151513"/>
          </a:solidFill>
          <a:ln/>
        </p:spPr>
      </p:sp>
      <p:sp>
        <p:nvSpPr>
          <p:cNvPr id="39" name="Text 37"/>
          <p:cNvSpPr/>
          <p:nvPr/>
        </p:nvSpPr>
        <p:spPr>
          <a:xfrm>
            <a:off x="1234440" y="6309360"/>
            <a:ext cx="3383280" cy="365760"/>
          </a:xfrm>
          <a:prstGeom prst="rect">
            <a:avLst/>
          </a:prstGeom>
          <a:noFill/>
          <a:ln/>
        </p:spPr>
        <p:txBody>
          <a:bodyPr wrap="square" lIns="0" tIns="0" rIns="0" bIns="0" rtlCol="0" anchor="ctr"/>
          <a:lstStyle/>
          <a:p>
            <a:pPr indent="0" marL="0">
              <a:buNone/>
            </a:pPr>
            <a:r>
              <a:rPr lang="en-US" sz="1500" dirty="0">
                <a:solidFill>
                  <a:srgbClr val="6B6760"/>
                </a:solidFill>
                <a:latin typeface="Menlo" pitchFamily="34" charset="0"/>
                <a:ea typeface="Menlo" pitchFamily="34" charset="-122"/>
                <a:cs typeface="Menlo" pitchFamily="34" charset="-120"/>
              </a:rPr>
              <a:t>cache_read</a:t>
            </a:r>
            <a:endParaRPr lang="en-US" sz="1500" dirty="0"/>
          </a:p>
        </p:txBody>
      </p:sp>
      <p:sp>
        <p:nvSpPr>
          <p:cNvPr id="40" name="Shape 38"/>
          <p:cNvSpPr/>
          <p:nvPr/>
        </p:nvSpPr>
        <p:spPr>
          <a:xfrm>
            <a:off x="1234440" y="7040057"/>
            <a:ext cx="548640" cy="1463863"/>
          </a:xfrm>
          <a:prstGeom prst="rect">
            <a:avLst/>
          </a:prstGeom>
          <a:solidFill>
            <a:srgbClr val="2A2A27"/>
          </a:solidFill>
          <a:ln/>
        </p:spPr>
      </p:sp>
      <p:sp>
        <p:nvSpPr>
          <p:cNvPr id="41" name="Shape 39"/>
          <p:cNvSpPr/>
          <p:nvPr/>
        </p:nvSpPr>
        <p:spPr>
          <a:xfrm>
            <a:off x="1920240" y="6949440"/>
            <a:ext cx="548640" cy="1554480"/>
          </a:xfrm>
          <a:prstGeom prst="rect">
            <a:avLst/>
          </a:prstGeom>
          <a:solidFill>
            <a:srgbClr val="C5DD97"/>
          </a:solidFill>
          <a:ln/>
        </p:spPr>
      </p:sp>
      <p:sp>
        <p:nvSpPr>
          <p:cNvPr id="42" name="Text 40"/>
          <p:cNvSpPr/>
          <p:nvPr/>
        </p:nvSpPr>
        <p:spPr>
          <a:xfrm>
            <a:off x="2788920" y="6995160"/>
            <a:ext cx="2011680" cy="548640"/>
          </a:xfrm>
          <a:prstGeom prst="rect">
            <a:avLst/>
          </a:prstGeom>
          <a:noFill/>
          <a:ln/>
        </p:spPr>
        <p:txBody>
          <a:bodyPr wrap="square" lIns="0" tIns="0" rIns="0" bIns="0" rtlCol="0" anchor="ctr"/>
          <a:lstStyle/>
          <a:p>
            <a:pPr indent="0" marL="0">
              <a:buNone/>
            </a:pPr>
            <a:r>
              <a:rPr lang="en-US" sz="2800" dirty="0">
                <a:solidFill>
                  <a:srgbClr val="C5DD97"/>
                </a:solidFill>
                <a:latin typeface="Helvetica Neue" pitchFamily="34" charset="0"/>
                <a:ea typeface="Helvetica Neue" pitchFamily="34" charset="-122"/>
                <a:cs typeface="Helvetica Neue" pitchFamily="34" charset="-120"/>
              </a:rPr>
              <a:t>up</a:t>
            </a:r>
            <a:endParaRPr lang="en-US" sz="2800" dirty="0"/>
          </a:p>
        </p:txBody>
      </p:sp>
      <p:sp>
        <p:nvSpPr>
          <p:cNvPr id="43" name="Text 41"/>
          <p:cNvSpPr/>
          <p:nvPr/>
        </p:nvSpPr>
        <p:spPr>
          <a:xfrm>
            <a:off x="2788920" y="7635240"/>
            <a:ext cx="2103120" cy="365760"/>
          </a:xfrm>
          <a:prstGeom prst="rect">
            <a:avLst/>
          </a:prstGeom>
          <a:noFill/>
          <a:ln/>
        </p:spPr>
        <p:txBody>
          <a:bodyPr wrap="square" lIns="0" tIns="0" rIns="0" bIns="0" rtlCol="0" anchor="ctr"/>
          <a:lstStyle/>
          <a:p>
            <a:pPr indent="0" marL="0">
              <a:buNone/>
            </a:pPr>
            <a:r>
              <a:rPr lang="en-US" sz="1200" dirty="0">
                <a:solidFill>
                  <a:srgbClr val="6B6760"/>
                </a:solidFill>
                <a:latin typeface="Menlo" pitchFamily="34" charset="0"/>
                <a:ea typeface="Menlo" pitchFamily="34" charset="-122"/>
                <a:cs typeface="Menlo" pitchFamily="34" charset="-120"/>
              </a:rPr>
              <a:t>140,220 → 148,900</a:t>
            </a:r>
            <a:endParaRPr lang="en-US" sz="1200" dirty="0"/>
          </a:p>
        </p:txBody>
      </p:sp>
      <p:sp>
        <p:nvSpPr>
          <p:cNvPr id="44" name="Shape 42"/>
          <p:cNvSpPr/>
          <p:nvPr/>
        </p:nvSpPr>
        <p:spPr>
          <a:xfrm>
            <a:off x="5120640" y="6080760"/>
            <a:ext cx="3931920" cy="2743200"/>
          </a:xfrm>
          <a:prstGeom prst="roundRect">
            <a:avLst>
              <a:gd name="adj" fmla="val 4667"/>
            </a:avLst>
          </a:prstGeom>
          <a:solidFill>
            <a:srgbClr val="151513"/>
          </a:solidFill>
          <a:ln/>
        </p:spPr>
      </p:sp>
      <p:sp>
        <p:nvSpPr>
          <p:cNvPr id="45" name="Text 43"/>
          <p:cNvSpPr/>
          <p:nvPr/>
        </p:nvSpPr>
        <p:spPr>
          <a:xfrm>
            <a:off x="5394960" y="6309360"/>
            <a:ext cx="3383280" cy="365760"/>
          </a:xfrm>
          <a:prstGeom prst="rect">
            <a:avLst/>
          </a:prstGeom>
          <a:noFill/>
          <a:ln/>
        </p:spPr>
        <p:txBody>
          <a:bodyPr wrap="square" lIns="0" tIns="0" rIns="0" bIns="0" rtlCol="0" anchor="ctr"/>
          <a:lstStyle/>
          <a:p>
            <a:pPr indent="0" marL="0">
              <a:buNone/>
            </a:pPr>
            <a:r>
              <a:rPr lang="en-US" sz="1500" dirty="0">
                <a:solidFill>
                  <a:srgbClr val="6B6760"/>
                </a:solidFill>
                <a:latin typeface="Menlo" pitchFamily="34" charset="0"/>
                <a:ea typeface="Menlo" pitchFamily="34" charset="-122"/>
                <a:cs typeface="Menlo" pitchFamily="34" charset="-120"/>
              </a:rPr>
              <a:t>output</a:t>
            </a:r>
            <a:endParaRPr lang="en-US" sz="1500" dirty="0"/>
          </a:p>
        </p:txBody>
      </p:sp>
      <p:sp>
        <p:nvSpPr>
          <p:cNvPr id="46" name="Shape 44"/>
          <p:cNvSpPr/>
          <p:nvPr/>
        </p:nvSpPr>
        <p:spPr>
          <a:xfrm>
            <a:off x="5394960" y="6949440"/>
            <a:ext cx="548640" cy="1554480"/>
          </a:xfrm>
          <a:prstGeom prst="rect">
            <a:avLst/>
          </a:prstGeom>
          <a:solidFill>
            <a:srgbClr val="2A2A27"/>
          </a:solidFill>
          <a:ln/>
        </p:spPr>
      </p:sp>
      <p:sp>
        <p:nvSpPr>
          <p:cNvPr id="47" name="Shape 45"/>
          <p:cNvSpPr/>
          <p:nvPr/>
        </p:nvSpPr>
        <p:spPr>
          <a:xfrm>
            <a:off x="6080760" y="7783950"/>
            <a:ext cx="548640" cy="719970"/>
          </a:xfrm>
          <a:prstGeom prst="rect">
            <a:avLst/>
          </a:prstGeom>
          <a:solidFill>
            <a:srgbClr val="ECE8E1"/>
          </a:solidFill>
          <a:ln/>
        </p:spPr>
      </p:sp>
      <p:sp>
        <p:nvSpPr>
          <p:cNvPr id="48" name="Text 46"/>
          <p:cNvSpPr/>
          <p:nvPr/>
        </p:nvSpPr>
        <p:spPr>
          <a:xfrm>
            <a:off x="6949440" y="6995160"/>
            <a:ext cx="2011680" cy="548640"/>
          </a:xfrm>
          <a:prstGeom prst="rect">
            <a:avLst/>
          </a:prstGeom>
          <a:noFill/>
          <a:ln/>
        </p:spPr>
        <p:txBody>
          <a:bodyPr wrap="square" lIns="0" tIns="0" rIns="0" bIns="0" rtlCol="0" anchor="ctr"/>
          <a:lstStyle/>
          <a:p>
            <a:pPr indent="0" marL="0">
              <a:buNone/>
            </a:pPr>
            <a:r>
              <a:rPr lang="en-US" sz="2800" dirty="0">
                <a:solidFill>
                  <a:srgbClr val="ECE8E1"/>
                </a:solidFill>
                <a:latin typeface="Helvetica Neue" pitchFamily="34" charset="0"/>
                <a:ea typeface="Helvetica Neue" pitchFamily="34" charset="-122"/>
                <a:cs typeface="Helvetica Neue" pitchFamily="34" charset="-120"/>
              </a:rPr>
              <a:t>down</a:t>
            </a:r>
            <a:endParaRPr lang="en-US" sz="2800" dirty="0"/>
          </a:p>
        </p:txBody>
      </p:sp>
      <p:sp>
        <p:nvSpPr>
          <p:cNvPr id="49" name="Text 47"/>
          <p:cNvSpPr/>
          <p:nvPr/>
        </p:nvSpPr>
        <p:spPr>
          <a:xfrm>
            <a:off x="6949440" y="7635240"/>
            <a:ext cx="2103120" cy="365760"/>
          </a:xfrm>
          <a:prstGeom prst="rect">
            <a:avLst/>
          </a:prstGeom>
          <a:noFill/>
          <a:ln/>
        </p:spPr>
        <p:txBody>
          <a:bodyPr wrap="square" lIns="0" tIns="0" rIns="0" bIns="0" rtlCol="0" anchor="ctr"/>
          <a:lstStyle/>
          <a:p>
            <a:pPr indent="0" marL="0">
              <a:buNone/>
            </a:pPr>
            <a:r>
              <a:rPr lang="en-US" sz="1200" dirty="0">
                <a:solidFill>
                  <a:srgbClr val="6B6760"/>
                </a:solidFill>
                <a:latin typeface="Menlo" pitchFamily="34" charset="0"/>
                <a:ea typeface="Menlo" pitchFamily="34" charset="-122"/>
                <a:cs typeface="Menlo" pitchFamily="34" charset="-120"/>
              </a:rPr>
              <a:t>190 → 88</a:t>
            </a:r>
            <a:endParaRPr lang="en-US" sz="1200" dirty="0"/>
          </a:p>
        </p:txBody>
      </p:sp>
      <p:sp>
        <p:nvSpPr>
          <p:cNvPr id="50" name="Shape 48"/>
          <p:cNvSpPr/>
          <p:nvPr/>
        </p:nvSpPr>
        <p:spPr>
          <a:xfrm>
            <a:off x="9281160" y="6080760"/>
            <a:ext cx="3931920" cy="2743200"/>
          </a:xfrm>
          <a:prstGeom prst="roundRect">
            <a:avLst>
              <a:gd name="adj" fmla="val 4667"/>
            </a:avLst>
          </a:prstGeom>
          <a:solidFill>
            <a:srgbClr val="151513"/>
          </a:solidFill>
          <a:ln/>
        </p:spPr>
      </p:sp>
      <p:sp>
        <p:nvSpPr>
          <p:cNvPr id="51" name="Text 49"/>
          <p:cNvSpPr/>
          <p:nvPr/>
        </p:nvSpPr>
        <p:spPr>
          <a:xfrm>
            <a:off x="9555480" y="6309360"/>
            <a:ext cx="3383280" cy="365760"/>
          </a:xfrm>
          <a:prstGeom prst="rect">
            <a:avLst/>
          </a:prstGeom>
          <a:noFill/>
          <a:ln/>
        </p:spPr>
        <p:txBody>
          <a:bodyPr wrap="square" lIns="0" tIns="0" rIns="0" bIns="0" rtlCol="0" anchor="ctr"/>
          <a:lstStyle/>
          <a:p>
            <a:pPr indent="0" marL="0">
              <a:buNone/>
            </a:pPr>
            <a:r>
              <a:rPr lang="en-US" sz="1500" dirty="0">
                <a:solidFill>
                  <a:srgbClr val="6B6760"/>
                </a:solidFill>
                <a:latin typeface="Menlo" pitchFamily="34" charset="0"/>
                <a:ea typeface="Menlo" pitchFamily="34" charset="-122"/>
                <a:cs typeface="Menlo" pitchFamily="34" charset="-120"/>
              </a:rPr>
              <a:t>usd</a:t>
            </a:r>
            <a:endParaRPr lang="en-US" sz="1500" dirty="0"/>
          </a:p>
        </p:txBody>
      </p:sp>
      <p:sp>
        <p:nvSpPr>
          <p:cNvPr id="52" name="Shape 50"/>
          <p:cNvSpPr/>
          <p:nvPr/>
        </p:nvSpPr>
        <p:spPr>
          <a:xfrm>
            <a:off x="9555480" y="7433622"/>
            <a:ext cx="548640" cy="1070298"/>
          </a:xfrm>
          <a:prstGeom prst="rect">
            <a:avLst/>
          </a:prstGeom>
          <a:solidFill>
            <a:srgbClr val="2A2A27"/>
          </a:solidFill>
          <a:ln/>
        </p:spPr>
      </p:sp>
      <p:sp>
        <p:nvSpPr>
          <p:cNvPr id="53" name="Shape 51"/>
          <p:cNvSpPr/>
          <p:nvPr/>
        </p:nvSpPr>
        <p:spPr>
          <a:xfrm>
            <a:off x="10241280" y="6949440"/>
            <a:ext cx="548640" cy="1554480"/>
          </a:xfrm>
          <a:prstGeom prst="rect">
            <a:avLst/>
          </a:prstGeom>
          <a:solidFill>
            <a:srgbClr val="ECE8E1"/>
          </a:solidFill>
          <a:ln/>
        </p:spPr>
      </p:sp>
      <p:sp>
        <p:nvSpPr>
          <p:cNvPr id="54" name="Text 52"/>
          <p:cNvSpPr/>
          <p:nvPr/>
        </p:nvSpPr>
        <p:spPr>
          <a:xfrm>
            <a:off x="11109960" y="6995160"/>
            <a:ext cx="2011680" cy="548640"/>
          </a:xfrm>
          <a:prstGeom prst="rect">
            <a:avLst/>
          </a:prstGeom>
          <a:noFill/>
          <a:ln/>
        </p:spPr>
        <p:txBody>
          <a:bodyPr wrap="square" lIns="0" tIns="0" rIns="0" bIns="0" rtlCol="0" anchor="ctr"/>
          <a:lstStyle/>
          <a:p>
            <a:pPr indent="0" marL="0">
              <a:buNone/>
            </a:pPr>
            <a:r>
              <a:rPr lang="en-US" sz="2800" dirty="0">
                <a:solidFill>
                  <a:srgbClr val="ECE8E1"/>
                </a:solidFill>
                <a:latin typeface="Helvetica Neue" pitchFamily="34" charset="0"/>
                <a:ea typeface="Helvetica Neue" pitchFamily="34" charset="-122"/>
                <a:cs typeface="Helvetica Neue" pitchFamily="34" charset="-120"/>
              </a:rPr>
              <a:t>barely</a:t>
            </a:r>
            <a:endParaRPr lang="en-US" sz="2800" dirty="0"/>
          </a:p>
        </p:txBody>
      </p:sp>
      <p:sp>
        <p:nvSpPr>
          <p:cNvPr id="55" name="Text 53"/>
          <p:cNvSpPr/>
          <p:nvPr/>
        </p:nvSpPr>
        <p:spPr>
          <a:xfrm>
            <a:off x="11109960" y="7635240"/>
            <a:ext cx="2103120" cy="365760"/>
          </a:xfrm>
          <a:prstGeom prst="rect">
            <a:avLst/>
          </a:prstGeom>
          <a:noFill/>
          <a:ln/>
        </p:spPr>
        <p:txBody>
          <a:bodyPr wrap="square" lIns="0" tIns="0" rIns="0" bIns="0" rtlCol="0" anchor="ctr"/>
          <a:lstStyle/>
          <a:p>
            <a:pPr indent="0" marL="0">
              <a:buNone/>
            </a:pPr>
            <a:r>
              <a:rPr lang="en-US" sz="1200" dirty="0">
                <a:solidFill>
                  <a:srgbClr val="6B6760"/>
                </a:solidFill>
                <a:latin typeface="Menlo" pitchFamily="34" charset="0"/>
                <a:ea typeface="Menlo" pitchFamily="34" charset="-122"/>
                <a:cs typeface="Menlo" pitchFamily="34" charset="-120"/>
              </a:rPr>
              <a:t>0.42 → 0.61</a:t>
            </a:r>
            <a:endParaRPr lang="en-US" sz="1200" dirty="0"/>
          </a:p>
        </p:txBody>
      </p:sp>
      <p:sp>
        <p:nvSpPr>
          <p:cNvPr id="56" name="Shape 54"/>
          <p:cNvSpPr/>
          <p:nvPr/>
        </p:nvSpPr>
        <p:spPr>
          <a:xfrm>
            <a:off x="13441680" y="6080760"/>
            <a:ext cx="3931920" cy="2743200"/>
          </a:xfrm>
          <a:prstGeom prst="roundRect">
            <a:avLst>
              <a:gd name="adj" fmla="val 4667"/>
            </a:avLst>
          </a:prstGeom>
          <a:solidFill>
            <a:srgbClr val="151513"/>
          </a:solidFill>
          <a:ln/>
        </p:spPr>
      </p:sp>
      <p:sp>
        <p:nvSpPr>
          <p:cNvPr id="57" name="Text 55"/>
          <p:cNvSpPr/>
          <p:nvPr/>
        </p:nvSpPr>
        <p:spPr>
          <a:xfrm>
            <a:off x="13716000" y="6309360"/>
            <a:ext cx="3383280" cy="365760"/>
          </a:xfrm>
          <a:prstGeom prst="rect">
            <a:avLst/>
          </a:prstGeom>
          <a:noFill/>
          <a:ln/>
        </p:spPr>
        <p:txBody>
          <a:bodyPr wrap="square" lIns="0" tIns="0" rIns="0" bIns="0" rtlCol="0" anchor="ctr"/>
          <a:lstStyle/>
          <a:p>
            <a:pPr indent="0" marL="0">
              <a:buNone/>
            </a:pPr>
            <a:r>
              <a:rPr lang="en-US" sz="1500" dirty="0">
                <a:solidFill>
                  <a:srgbClr val="6B6760"/>
                </a:solidFill>
                <a:latin typeface="Menlo" pitchFamily="34" charset="0"/>
                <a:ea typeface="Menlo" pitchFamily="34" charset="-122"/>
                <a:cs typeface="Menlo" pitchFamily="34" charset="-120"/>
              </a:rPr>
              <a:t>hosts</a:t>
            </a:r>
            <a:endParaRPr lang="en-US" sz="1500" dirty="0"/>
          </a:p>
        </p:txBody>
      </p:sp>
      <p:sp>
        <p:nvSpPr>
          <p:cNvPr id="58" name="Shape 56"/>
          <p:cNvSpPr/>
          <p:nvPr/>
        </p:nvSpPr>
        <p:spPr>
          <a:xfrm>
            <a:off x="13716000" y="6949440"/>
            <a:ext cx="548640" cy="1554480"/>
          </a:xfrm>
          <a:prstGeom prst="rect">
            <a:avLst/>
          </a:prstGeom>
          <a:solidFill>
            <a:srgbClr val="2A2A27"/>
          </a:solidFill>
          <a:ln/>
        </p:spPr>
      </p:sp>
      <p:sp>
        <p:nvSpPr>
          <p:cNvPr id="59" name="Shape 57"/>
          <p:cNvSpPr/>
          <p:nvPr/>
        </p:nvSpPr>
        <p:spPr>
          <a:xfrm>
            <a:off x="14401800" y="6949440"/>
            <a:ext cx="548640" cy="1554480"/>
          </a:xfrm>
          <a:prstGeom prst="rect">
            <a:avLst/>
          </a:prstGeom>
          <a:solidFill>
            <a:srgbClr val="6B6760"/>
          </a:solidFill>
          <a:ln/>
        </p:spPr>
      </p:sp>
      <p:sp>
        <p:nvSpPr>
          <p:cNvPr id="60" name="Text 58"/>
          <p:cNvSpPr/>
          <p:nvPr/>
        </p:nvSpPr>
        <p:spPr>
          <a:xfrm>
            <a:off x="15270480" y="6995160"/>
            <a:ext cx="2011680" cy="548640"/>
          </a:xfrm>
          <a:prstGeom prst="rect">
            <a:avLst/>
          </a:prstGeom>
          <a:noFill/>
          <a:ln/>
        </p:spPr>
        <p:txBody>
          <a:bodyPr wrap="square" lIns="0" tIns="0" rIns="0" bIns="0" rtlCol="0" anchor="ctr"/>
          <a:lstStyle/>
          <a:p>
            <a:pPr indent="0" marL="0">
              <a:buNone/>
            </a:pPr>
            <a:r>
              <a:rPr lang="en-US" sz="2800" dirty="0">
                <a:solidFill>
                  <a:srgbClr val="A8A49B"/>
                </a:solidFill>
                <a:latin typeface="Helvetica Neue" pitchFamily="34" charset="0"/>
                <a:ea typeface="Helvetica Neue" pitchFamily="34" charset="-122"/>
                <a:cs typeface="Helvetica Neue" pitchFamily="34" charset="-120"/>
              </a:rPr>
              <a:t>same</a:t>
            </a:r>
            <a:endParaRPr lang="en-US" sz="2800" dirty="0"/>
          </a:p>
        </p:txBody>
      </p:sp>
      <p:sp>
        <p:nvSpPr>
          <p:cNvPr id="61" name="Text 59"/>
          <p:cNvSpPr/>
          <p:nvPr/>
        </p:nvSpPr>
        <p:spPr>
          <a:xfrm>
            <a:off x="15270480" y="7635240"/>
            <a:ext cx="2103120" cy="365760"/>
          </a:xfrm>
          <a:prstGeom prst="rect">
            <a:avLst/>
          </a:prstGeom>
          <a:noFill/>
          <a:ln/>
        </p:spPr>
        <p:txBody>
          <a:bodyPr wrap="square" lIns="0" tIns="0" rIns="0" bIns="0" rtlCol="0" anchor="ctr"/>
          <a:lstStyle/>
          <a:p>
            <a:pPr indent="0" marL="0">
              <a:buNone/>
            </a:pPr>
            <a:r>
              <a:rPr lang="en-US" sz="1200" dirty="0">
                <a:solidFill>
                  <a:srgbClr val="6B6760"/>
                </a:solidFill>
                <a:latin typeface="Menlo" pitchFamily="34" charset="0"/>
                <a:ea typeface="Menlo" pitchFamily="34" charset="-122"/>
                <a:cs typeface="Menlo" pitchFamily="34" charset="-120"/>
              </a:rPr>
              <a:t>93 → 93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THE MONITOR</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6B6760"/>
          </a:solidFill>
          <a:ln/>
        </p:spPr>
      </p:sp>
      <p:sp>
        <p:nvSpPr>
          <p:cNvPr id="11" name="Shape 9"/>
          <p:cNvSpPr/>
          <p:nvPr/>
        </p:nvSpPr>
        <p:spPr>
          <a:xfrm>
            <a:off x="10507980" y="9528048"/>
            <a:ext cx="1309116" cy="45720"/>
          </a:xfrm>
          <a:prstGeom prst="rect">
            <a:avLst/>
          </a:prstGeom>
          <a:solidFill>
            <a:srgbClr val="C5DD97"/>
          </a:solidFill>
          <a:ln/>
        </p:spPr>
      </p:sp>
      <p:sp>
        <p:nvSpPr>
          <p:cNvPr id="12" name="Shape 10"/>
          <p:cNvSpPr/>
          <p:nvPr/>
        </p:nvSpPr>
        <p:spPr>
          <a:xfrm>
            <a:off x="11871960" y="9528048"/>
            <a:ext cx="1309116" cy="45720"/>
          </a:xfrm>
          <a:prstGeom prst="rect">
            <a:avLst/>
          </a:prstGeom>
          <a:solidFill>
            <a:srgbClr val="2A2A2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08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Watch every sandbox, </a:t>
            </a:r>
            <a:pPr indent="0" marL="0">
              <a:buNone/>
            </a:pPr>
            <a:r>
              <a:rPr lang="en-US" sz="4400" dirty="0">
                <a:solidFill>
                  <a:srgbClr val="C5DD97"/>
                </a:solidFill>
                <a:latin typeface="Helvetica Neue" pitchFamily="34" charset="0"/>
                <a:ea typeface="Helvetica Neue" pitchFamily="34" charset="-122"/>
                <a:cs typeface="Helvetica Neue" pitchFamily="34" charset="-120"/>
              </a:rPr>
              <a:t>not one tail.</a:t>
            </a:r>
            <a:endParaRPr lang="en-US" sz="4400" dirty="0"/>
          </a:p>
        </p:txBody>
      </p:sp>
      <p:sp>
        <p:nvSpPr>
          <p:cNvPr id="18" name="Shape 16"/>
          <p:cNvSpPr/>
          <p:nvPr/>
        </p:nvSpPr>
        <p:spPr>
          <a:xfrm>
            <a:off x="960120" y="2148840"/>
            <a:ext cx="16367760" cy="3749040"/>
          </a:xfrm>
          <a:prstGeom prst="roundRect">
            <a:avLst>
              <a:gd name="adj" fmla="val 3415"/>
            </a:avLst>
          </a:prstGeom>
          <a:solidFill>
            <a:srgbClr val="0F0F0D"/>
          </a:solidFill>
          <a:ln w="12700">
            <a:solidFill>
              <a:srgbClr val="2A2A27"/>
            </a:solidFill>
            <a:prstDash val="solid"/>
          </a:ln>
        </p:spPr>
      </p:sp>
      <p:sp>
        <p:nvSpPr>
          <p:cNvPr id="19" name="Shape 17"/>
          <p:cNvSpPr/>
          <p:nvPr/>
        </p:nvSpPr>
        <p:spPr>
          <a:xfrm>
            <a:off x="978408" y="2167128"/>
            <a:ext cx="16331184" cy="457200"/>
          </a:xfrm>
          <a:prstGeom prst="roundRect">
            <a:avLst>
              <a:gd name="adj" fmla="val 24000"/>
            </a:avLst>
          </a:prstGeom>
          <a:solidFill>
            <a:srgbClr val="1E1E1B"/>
          </a:solidFill>
          <a:ln/>
        </p:spPr>
      </p:sp>
      <p:sp>
        <p:nvSpPr>
          <p:cNvPr id="20" name="Shape 18"/>
          <p:cNvSpPr/>
          <p:nvPr/>
        </p:nvSpPr>
        <p:spPr>
          <a:xfrm>
            <a:off x="978408" y="2478024"/>
            <a:ext cx="16331184" cy="146304"/>
          </a:xfrm>
          <a:prstGeom prst="rect">
            <a:avLst/>
          </a:prstGeom>
          <a:solidFill>
            <a:srgbClr val="1E1E1B"/>
          </a:solidFill>
          <a:ln/>
        </p:spPr>
      </p:sp>
      <p:sp>
        <p:nvSpPr>
          <p:cNvPr id="21" name="Shape 19"/>
          <p:cNvSpPr/>
          <p:nvPr/>
        </p:nvSpPr>
        <p:spPr>
          <a:xfrm>
            <a:off x="1188720" y="2304288"/>
            <a:ext cx="155448" cy="155448"/>
          </a:xfrm>
          <a:prstGeom prst="ellipse">
            <a:avLst/>
          </a:prstGeom>
          <a:solidFill>
            <a:srgbClr val="D9695F"/>
          </a:solidFill>
          <a:ln/>
        </p:spPr>
      </p:sp>
      <p:sp>
        <p:nvSpPr>
          <p:cNvPr id="22" name="Shape 20"/>
          <p:cNvSpPr/>
          <p:nvPr/>
        </p:nvSpPr>
        <p:spPr>
          <a:xfrm>
            <a:off x="1463040" y="2304288"/>
            <a:ext cx="155448" cy="155448"/>
          </a:xfrm>
          <a:prstGeom prst="ellipse">
            <a:avLst/>
          </a:prstGeom>
          <a:solidFill>
            <a:srgbClr val="D9B45F"/>
          </a:solidFill>
          <a:ln/>
        </p:spPr>
      </p:sp>
      <p:sp>
        <p:nvSpPr>
          <p:cNvPr id="23" name="Shape 21"/>
          <p:cNvSpPr/>
          <p:nvPr/>
        </p:nvSpPr>
        <p:spPr>
          <a:xfrm>
            <a:off x="1737360" y="2304288"/>
            <a:ext cx="155448" cy="155448"/>
          </a:xfrm>
          <a:prstGeom prst="ellipse">
            <a:avLst/>
          </a:prstGeom>
          <a:solidFill>
            <a:srgbClr val="8DBF6A"/>
          </a:solidFill>
          <a:ln/>
        </p:spPr>
      </p:sp>
      <p:sp>
        <p:nvSpPr>
          <p:cNvPr id="24" name="Text 22"/>
          <p:cNvSpPr/>
          <p:nvPr/>
        </p:nvSpPr>
        <p:spPr>
          <a:xfrm>
            <a:off x="2148840" y="2167128"/>
            <a:ext cx="13990320" cy="457200"/>
          </a:xfrm>
          <a:prstGeom prst="rect">
            <a:avLst/>
          </a:prstGeom>
          <a:noFill/>
          <a:ln/>
        </p:spPr>
        <p:txBody>
          <a:bodyPr wrap="square" lIns="0" tIns="0" rIns="0" bIns="0" rtlCol="0" anchor="ctr"/>
          <a:lstStyle/>
          <a:p>
            <a:pPr algn="ctr" indent="0" marL="0">
              <a:buNone/>
            </a:pPr>
            <a:r>
              <a:rPr lang="en-US" sz="1300" dirty="0">
                <a:solidFill>
                  <a:srgbClr val="6B6760"/>
                </a:solidFill>
                <a:latin typeface="Menlo" pitchFamily="34" charset="0"/>
                <a:ea typeface="Menlo" pitchFamily="34" charset="-122"/>
                <a:cs typeface="Menlo" pitchFamily="34" charset="-120"/>
              </a:rPr>
              <a:t>host · python3 usage-tap/watch.py --budget 2</a:t>
            </a:r>
            <a:endParaRPr lang="en-US" sz="1300" dirty="0"/>
          </a:p>
        </p:txBody>
      </p:sp>
      <p:sp>
        <p:nvSpPr>
          <p:cNvPr id="25" name="Shape 23"/>
          <p:cNvSpPr/>
          <p:nvPr/>
        </p:nvSpPr>
        <p:spPr>
          <a:xfrm>
            <a:off x="1143000" y="4105656"/>
            <a:ext cx="16002000" cy="530352"/>
          </a:xfrm>
          <a:prstGeom prst="roundRect">
            <a:avLst>
              <a:gd name="adj" fmla="val 10345"/>
            </a:avLst>
          </a:prstGeom>
          <a:solidFill>
            <a:srgbClr val="2C2416"/>
          </a:solidFill>
          <a:ln/>
        </p:spPr>
      </p:sp>
      <p:sp>
        <p:nvSpPr>
          <p:cNvPr id="26" name="Text 24"/>
          <p:cNvSpPr/>
          <p:nvPr/>
        </p:nvSpPr>
        <p:spPr>
          <a:xfrm>
            <a:off x="1280160" y="2971800"/>
            <a:ext cx="15727680" cy="530352"/>
          </a:xfrm>
          <a:prstGeom prst="rect">
            <a:avLst/>
          </a:prstGeom>
          <a:noFill/>
          <a:ln/>
        </p:spPr>
        <p:txBody>
          <a:bodyPr wrap="square" lIns="0" tIns="0" rIns="0" bIns="0" rtlCol="0" anchor="ctr"/>
          <a:lstStyle/>
          <a:p>
            <a:pPr indent="0" marL="0">
              <a:buNone/>
            </a:pPr>
            <a:r>
              <a:rPr lang="en-US" sz="1600" dirty="0">
                <a:solidFill>
                  <a:srgbClr val="6B6760"/>
                </a:solidFill>
                <a:latin typeface="Menlo" pitchFamily="34" charset="0"/>
                <a:ea typeface="Menlo" pitchFamily="34" charset="-122"/>
                <a:cs typeface="Menlo" pitchFamily="34" charset="-120"/>
              </a:rPr>
              <a:t>session   model              usd  $/min  cache   ctx    5h  idle  tools</a:t>
            </a:r>
            <a:endParaRPr lang="en-US" sz="1600" dirty="0"/>
          </a:p>
        </p:txBody>
      </p:sp>
      <p:sp>
        <p:nvSpPr>
          <p:cNvPr id="27" name="Text 25"/>
          <p:cNvSpPr/>
          <p:nvPr/>
        </p:nvSpPr>
        <p:spPr>
          <a:xfrm>
            <a:off x="1280160" y="3538728"/>
            <a:ext cx="15727680" cy="530352"/>
          </a:xfrm>
          <a:prstGeom prst="rect">
            <a:avLst/>
          </a:prstGeom>
          <a:noFill/>
          <a:ln/>
        </p:spPr>
        <p:txBody>
          <a:bodyPr wrap="square" lIns="0" tIns="0" rIns="0" bIns="0" rtlCol="0" anchor="ctr"/>
          <a:lstStyle/>
          <a:p>
            <a:pPr indent="0" marL="0">
              <a:buNone/>
            </a:pPr>
            <a:r>
              <a:rPr lang="en-US" sz="1600" dirty="0">
                <a:solidFill>
                  <a:srgbClr val="ECE8E1"/>
                </a:solidFill>
                <a:latin typeface="Menlo" pitchFamily="34" charset="0"/>
                <a:ea typeface="Menlo" pitchFamily="34" charset="-122"/>
                <a:cs typeface="Menlo" pitchFamily="34" charset="-120"/>
              </a:rPr>
              <a:t>a41f09c2  claude-sonnet     0.61   0.04    97%   34%     -    4s  Read×12 Edit×5 Bash×3</a:t>
            </a:r>
            <a:endParaRPr lang="en-US" sz="1600" dirty="0"/>
          </a:p>
        </p:txBody>
      </p:sp>
      <p:sp>
        <p:nvSpPr>
          <p:cNvPr id="28" name="Text 26"/>
          <p:cNvSpPr/>
          <p:nvPr/>
        </p:nvSpPr>
        <p:spPr>
          <a:xfrm>
            <a:off x="1280160" y="4105656"/>
            <a:ext cx="15727680" cy="530352"/>
          </a:xfrm>
          <a:prstGeom prst="rect">
            <a:avLst/>
          </a:prstGeom>
          <a:noFill/>
          <a:ln/>
        </p:spPr>
        <p:txBody>
          <a:bodyPr wrap="square" lIns="0" tIns="0" rIns="0" bIns="0" rtlCol="0" anchor="ctr"/>
          <a:lstStyle/>
          <a:p>
            <a:pPr indent="0" marL="0">
              <a:buNone/>
            </a:pPr>
            <a:r>
              <a:rPr lang="en-US" sz="1600" dirty="0">
                <a:solidFill>
                  <a:srgbClr val="E8B46A"/>
                </a:solidFill>
                <a:latin typeface="Menlo" pitchFamily="34" charset="0"/>
                <a:ea typeface="Menlo" pitchFamily="34" charset="-122"/>
                <a:cs typeface="Menlo" pitchFamily="34" charset="-120"/>
              </a:rPr>
              <a:t>7be2d118  claude-opus       2.37   0.31    41%   78%     -   12s  Bash×40 WebFetch×9  over $2</a:t>
            </a:r>
            <a:endParaRPr lang="en-US" sz="1600" dirty="0"/>
          </a:p>
        </p:txBody>
      </p:sp>
      <p:sp>
        <p:nvSpPr>
          <p:cNvPr id="29" name="Text 27"/>
          <p:cNvSpPr/>
          <p:nvPr/>
        </p:nvSpPr>
        <p:spPr>
          <a:xfrm>
            <a:off x="1280160" y="4672584"/>
            <a:ext cx="15727680" cy="530352"/>
          </a:xfrm>
          <a:prstGeom prst="rect">
            <a:avLst/>
          </a:prstGeom>
          <a:noFill/>
          <a:ln/>
        </p:spPr>
        <p:txBody>
          <a:bodyPr wrap="square" lIns="0" tIns="0" rIns="0" bIns="0" rtlCol="0" anchor="ctr"/>
          <a:lstStyle/>
          <a:p>
            <a:pPr indent="0" marL="0">
              <a:buNone/>
            </a:pPr>
            <a:r>
              <a:rPr lang="en-US" sz="1600" dirty="0">
                <a:solidFill>
                  <a:srgbClr val="6B6760"/>
                </a:solidFill>
                <a:latin typeface="Menlo" pitchFamily="34" charset="0"/>
                <a:ea typeface="Menlo" pitchFamily="34" charset="-122"/>
                <a:cs typeface="Menlo" pitchFamily="34" charset="-120"/>
              </a:rPr>
              <a:t>c09e7a55  claude-haiku      0.03   0.00    88%    6%     -   14m  Grep×2</a:t>
            </a:r>
            <a:endParaRPr lang="en-US" sz="1600" dirty="0"/>
          </a:p>
        </p:txBody>
      </p:sp>
      <p:sp>
        <p:nvSpPr>
          <p:cNvPr id="30" name="Shape 28"/>
          <p:cNvSpPr/>
          <p:nvPr/>
        </p:nvSpPr>
        <p:spPr>
          <a:xfrm>
            <a:off x="5439258" y="3410712"/>
            <a:ext cx="611632" cy="45720"/>
          </a:xfrm>
          <a:prstGeom prst="rect">
            <a:avLst/>
          </a:prstGeom>
          <a:solidFill>
            <a:srgbClr val="C5DD97"/>
          </a:solidFill>
          <a:ln/>
        </p:spPr>
      </p:sp>
      <p:sp>
        <p:nvSpPr>
          <p:cNvPr id="31" name="Shape 29"/>
          <p:cNvSpPr/>
          <p:nvPr/>
        </p:nvSpPr>
        <p:spPr>
          <a:xfrm>
            <a:off x="960120" y="6263640"/>
            <a:ext cx="3931920" cy="2560320"/>
          </a:xfrm>
          <a:prstGeom prst="roundRect">
            <a:avLst>
              <a:gd name="adj" fmla="val 5000"/>
            </a:avLst>
          </a:prstGeom>
          <a:solidFill>
            <a:srgbClr val="151513"/>
          </a:solidFill>
          <a:ln/>
        </p:spPr>
      </p:sp>
      <p:sp>
        <p:nvSpPr>
          <p:cNvPr id="32" name="Shape 30"/>
          <p:cNvSpPr/>
          <p:nvPr/>
        </p:nvSpPr>
        <p:spPr>
          <a:xfrm>
            <a:off x="1234440" y="6263640"/>
            <a:ext cx="822960" cy="54864"/>
          </a:xfrm>
          <a:prstGeom prst="rect">
            <a:avLst/>
          </a:prstGeom>
          <a:solidFill>
            <a:srgbClr val="C5DD97"/>
          </a:solidFill>
          <a:ln/>
        </p:spPr>
      </p:sp>
      <p:sp>
        <p:nvSpPr>
          <p:cNvPr id="33" name="Text 31"/>
          <p:cNvSpPr/>
          <p:nvPr/>
        </p:nvSpPr>
        <p:spPr>
          <a:xfrm>
            <a:off x="1234440" y="6537960"/>
            <a:ext cx="3383280" cy="640080"/>
          </a:xfrm>
          <a:prstGeom prst="rect">
            <a:avLst/>
          </a:prstGeom>
          <a:noFill/>
          <a:ln/>
        </p:spPr>
        <p:txBody>
          <a:bodyPr wrap="square" lIns="0" tIns="0" rIns="0" bIns="0" rtlCol="0" anchor="ctr"/>
          <a:lstStyle/>
          <a:p>
            <a:pPr indent="0" marL="0">
              <a:buNone/>
            </a:pPr>
            <a:r>
              <a:rPr lang="en-US" sz="3000" dirty="0">
                <a:solidFill>
                  <a:srgbClr val="C5DD97"/>
                </a:solidFill>
                <a:latin typeface="Menlo" pitchFamily="34" charset="0"/>
                <a:ea typeface="Menlo" pitchFamily="34" charset="-122"/>
                <a:cs typeface="Menlo" pitchFamily="34" charset="-120"/>
              </a:rPr>
              <a:t>$/min</a:t>
            </a:r>
            <a:endParaRPr lang="en-US" sz="3000" dirty="0"/>
          </a:p>
        </p:txBody>
      </p:sp>
      <p:sp>
        <p:nvSpPr>
          <p:cNvPr id="34" name="Text 32"/>
          <p:cNvSpPr/>
          <p:nvPr/>
        </p:nvSpPr>
        <p:spPr>
          <a:xfrm>
            <a:off x="1234440" y="7315200"/>
            <a:ext cx="3383280" cy="45720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burn rate</a:t>
            </a:r>
            <a:endParaRPr lang="en-US" sz="2200" dirty="0"/>
          </a:p>
        </p:txBody>
      </p:sp>
      <p:sp>
        <p:nvSpPr>
          <p:cNvPr id="35" name="Text 33"/>
          <p:cNvSpPr/>
          <p:nvPr/>
        </p:nvSpPr>
        <p:spPr>
          <a:xfrm>
            <a:off x="1234440" y="7863840"/>
            <a:ext cx="338328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catch the runaway</a:t>
            </a:r>
            <a:endParaRPr lang="en-US" sz="1700" dirty="0"/>
          </a:p>
        </p:txBody>
      </p:sp>
      <p:sp>
        <p:nvSpPr>
          <p:cNvPr id="36" name="Shape 34"/>
          <p:cNvSpPr/>
          <p:nvPr/>
        </p:nvSpPr>
        <p:spPr>
          <a:xfrm>
            <a:off x="6295542" y="3410712"/>
            <a:ext cx="611632" cy="45720"/>
          </a:xfrm>
          <a:prstGeom prst="rect">
            <a:avLst/>
          </a:prstGeom>
          <a:solidFill>
            <a:srgbClr val="C5DD97"/>
          </a:solidFill>
          <a:ln/>
        </p:spPr>
      </p:sp>
      <p:sp>
        <p:nvSpPr>
          <p:cNvPr id="37" name="Shape 35"/>
          <p:cNvSpPr/>
          <p:nvPr/>
        </p:nvSpPr>
        <p:spPr>
          <a:xfrm>
            <a:off x="5120640" y="6263640"/>
            <a:ext cx="3931920" cy="2560320"/>
          </a:xfrm>
          <a:prstGeom prst="roundRect">
            <a:avLst>
              <a:gd name="adj" fmla="val 5000"/>
            </a:avLst>
          </a:prstGeom>
          <a:solidFill>
            <a:srgbClr val="151513"/>
          </a:solidFill>
          <a:ln/>
        </p:spPr>
      </p:sp>
      <p:sp>
        <p:nvSpPr>
          <p:cNvPr id="38" name="Shape 36"/>
          <p:cNvSpPr/>
          <p:nvPr/>
        </p:nvSpPr>
        <p:spPr>
          <a:xfrm>
            <a:off x="5394960" y="6263640"/>
            <a:ext cx="822960" cy="54864"/>
          </a:xfrm>
          <a:prstGeom prst="rect">
            <a:avLst/>
          </a:prstGeom>
          <a:solidFill>
            <a:srgbClr val="C5DD97"/>
          </a:solidFill>
          <a:ln/>
        </p:spPr>
      </p:sp>
      <p:sp>
        <p:nvSpPr>
          <p:cNvPr id="39" name="Text 37"/>
          <p:cNvSpPr/>
          <p:nvPr/>
        </p:nvSpPr>
        <p:spPr>
          <a:xfrm>
            <a:off x="5394960" y="6537960"/>
            <a:ext cx="3383280" cy="640080"/>
          </a:xfrm>
          <a:prstGeom prst="rect">
            <a:avLst/>
          </a:prstGeom>
          <a:noFill/>
          <a:ln/>
        </p:spPr>
        <p:txBody>
          <a:bodyPr wrap="square" lIns="0" tIns="0" rIns="0" bIns="0" rtlCol="0" anchor="ctr"/>
          <a:lstStyle/>
          <a:p>
            <a:pPr indent="0" marL="0">
              <a:buNone/>
            </a:pPr>
            <a:r>
              <a:rPr lang="en-US" sz="3000" dirty="0">
                <a:solidFill>
                  <a:srgbClr val="C5DD97"/>
                </a:solidFill>
                <a:latin typeface="Menlo" pitchFamily="34" charset="0"/>
                <a:ea typeface="Menlo" pitchFamily="34" charset="-122"/>
                <a:cs typeface="Menlo" pitchFamily="34" charset="-120"/>
              </a:rPr>
              <a:t>cache</a:t>
            </a:r>
            <a:endParaRPr lang="en-US" sz="3000" dirty="0"/>
          </a:p>
        </p:txBody>
      </p:sp>
      <p:sp>
        <p:nvSpPr>
          <p:cNvPr id="40" name="Text 38"/>
          <p:cNvSpPr/>
          <p:nvPr/>
        </p:nvSpPr>
        <p:spPr>
          <a:xfrm>
            <a:off x="5394960" y="7315200"/>
            <a:ext cx="3383280" cy="45720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read / all input</a:t>
            </a:r>
            <a:endParaRPr lang="en-US" sz="2200" dirty="0"/>
          </a:p>
        </p:txBody>
      </p:sp>
      <p:sp>
        <p:nvSpPr>
          <p:cNvPr id="41" name="Text 39"/>
          <p:cNvSpPr/>
          <p:nvPr/>
        </p:nvSpPr>
        <p:spPr>
          <a:xfrm>
            <a:off x="5394960" y="7863840"/>
            <a:ext cx="338328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cold cache costs</a:t>
            </a:r>
            <a:endParaRPr lang="en-US" sz="1700" dirty="0"/>
          </a:p>
        </p:txBody>
      </p:sp>
      <p:sp>
        <p:nvSpPr>
          <p:cNvPr id="42" name="Shape 40"/>
          <p:cNvSpPr/>
          <p:nvPr/>
        </p:nvSpPr>
        <p:spPr>
          <a:xfrm>
            <a:off x="8130438" y="3410712"/>
            <a:ext cx="244653" cy="45720"/>
          </a:xfrm>
          <a:prstGeom prst="rect">
            <a:avLst/>
          </a:prstGeom>
          <a:solidFill>
            <a:srgbClr val="C5DD97"/>
          </a:solidFill>
          <a:ln/>
        </p:spPr>
      </p:sp>
      <p:sp>
        <p:nvSpPr>
          <p:cNvPr id="43" name="Shape 41"/>
          <p:cNvSpPr/>
          <p:nvPr/>
        </p:nvSpPr>
        <p:spPr>
          <a:xfrm>
            <a:off x="9281160" y="6263640"/>
            <a:ext cx="3931920" cy="2560320"/>
          </a:xfrm>
          <a:prstGeom prst="roundRect">
            <a:avLst>
              <a:gd name="adj" fmla="val 5000"/>
            </a:avLst>
          </a:prstGeom>
          <a:solidFill>
            <a:srgbClr val="151513"/>
          </a:solidFill>
          <a:ln/>
        </p:spPr>
      </p:sp>
      <p:sp>
        <p:nvSpPr>
          <p:cNvPr id="44" name="Shape 42"/>
          <p:cNvSpPr/>
          <p:nvPr/>
        </p:nvSpPr>
        <p:spPr>
          <a:xfrm>
            <a:off x="9555480" y="6263640"/>
            <a:ext cx="822960" cy="54864"/>
          </a:xfrm>
          <a:prstGeom prst="rect">
            <a:avLst/>
          </a:prstGeom>
          <a:solidFill>
            <a:srgbClr val="C5DD97"/>
          </a:solidFill>
          <a:ln/>
        </p:spPr>
      </p:sp>
      <p:sp>
        <p:nvSpPr>
          <p:cNvPr id="45" name="Text 43"/>
          <p:cNvSpPr/>
          <p:nvPr/>
        </p:nvSpPr>
        <p:spPr>
          <a:xfrm>
            <a:off x="9555480" y="6537960"/>
            <a:ext cx="3383280" cy="640080"/>
          </a:xfrm>
          <a:prstGeom prst="rect">
            <a:avLst/>
          </a:prstGeom>
          <a:noFill/>
          <a:ln/>
        </p:spPr>
        <p:txBody>
          <a:bodyPr wrap="square" lIns="0" tIns="0" rIns="0" bIns="0" rtlCol="0" anchor="ctr"/>
          <a:lstStyle/>
          <a:p>
            <a:pPr indent="0" marL="0">
              <a:buNone/>
            </a:pPr>
            <a:r>
              <a:rPr lang="en-US" sz="3000" dirty="0">
                <a:solidFill>
                  <a:srgbClr val="C5DD97"/>
                </a:solidFill>
                <a:latin typeface="Menlo" pitchFamily="34" charset="0"/>
                <a:ea typeface="Menlo" pitchFamily="34" charset="-122"/>
                <a:cs typeface="Menlo" pitchFamily="34" charset="-120"/>
              </a:rPr>
              <a:t>5h</a:t>
            </a:r>
            <a:endParaRPr lang="en-US" sz="3000" dirty="0"/>
          </a:p>
        </p:txBody>
      </p:sp>
      <p:sp>
        <p:nvSpPr>
          <p:cNvPr id="46" name="Text 44"/>
          <p:cNvSpPr/>
          <p:nvPr/>
        </p:nvSpPr>
        <p:spPr>
          <a:xfrm>
            <a:off x="9555480" y="7315200"/>
            <a:ext cx="3383280" cy="45720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plan limit</a:t>
            </a:r>
            <a:endParaRPr lang="en-US" sz="2200" dirty="0"/>
          </a:p>
        </p:txBody>
      </p:sp>
      <p:sp>
        <p:nvSpPr>
          <p:cNvPr id="47" name="Text 45"/>
          <p:cNvSpPr/>
          <p:nvPr/>
        </p:nvSpPr>
        <p:spPr>
          <a:xfrm>
            <a:off x="9555480" y="7863840"/>
            <a:ext cx="338328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the Pro / Max unit</a:t>
            </a:r>
            <a:endParaRPr lang="en-US" sz="1700" dirty="0"/>
          </a:p>
        </p:txBody>
      </p:sp>
      <p:sp>
        <p:nvSpPr>
          <p:cNvPr id="48" name="Shape 46"/>
          <p:cNvSpPr/>
          <p:nvPr/>
        </p:nvSpPr>
        <p:spPr>
          <a:xfrm>
            <a:off x="9353702" y="3410712"/>
            <a:ext cx="611632" cy="45720"/>
          </a:xfrm>
          <a:prstGeom prst="rect">
            <a:avLst/>
          </a:prstGeom>
          <a:solidFill>
            <a:srgbClr val="C5DD97"/>
          </a:solidFill>
          <a:ln/>
        </p:spPr>
      </p:sp>
      <p:sp>
        <p:nvSpPr>
          <p:cNvPr id="49" name="Shape 47"/>
          <p:cNvSpPr/>
          <p:nvPr/>
        </p:nvSpPr>
        <p:spPr>
          <a:xfrm>
            <a:off x="13441680" y="6263640"/>
            <a:ext cx="3931920" cy="2560320"/>
          </a:xfrm>
          <a:prstGeom prst="roundRect">
            <a:avLst>
              <a:gd name="adj" fmla="val 5000"/>
            </a:avLst>
          </a:prstGeom>
          <a:solidFill>
            <a:srgbClr val="151513"/>
          </a:solidFill>
          <a:ln/>
        </p:spPr>
      </p:sp>
      <p:sp>
        <p:nvSpPr>
          <p:cNvPr id="50" name="Shape 48"/>
          <p:cNvSpPr/>
          <p:nvPr/>
        </p:nvSpPr>
        <p:spPr>
          <a:xfrm>
            <a:off x="13716000" y="6263640"/>
            <a:ext cx="822960" cy="54864"/>
          </a:xfrm>
          <a:prstGeom prst="rect">
            <a:avLst/>
          </a:prstGeom>
          <a:solidFill>
            <a:srgbClr val="C5DD97"/>
          </a:solidFill>
          <a:ln/>
        </p:spPr>
      </p:sp>
      <p:sp>
        <p:nvSpPr>
          <p:cNvPr id="51" name="Text 49"/>
          <p:cNvSpPr/>
          <p:nvPr/>
        </p:nvSpPr>
        <p:spPr>
          <a:xfrm>
            <a:off x="13716000" y="6537960"/>
            <a:ext cx="3383280" cy="640080"/>
          </a:xfrm>
          <a:prstGeom prst="rect">
            <a:avLst/>
          </a:prstGeom>
          <a:noFill/>
          <a:ln/>
        </p:spPr>
        <p:txBody>
          <a:bodyPr wrap="square" lIns="0" tIns="0" rIns="0" bIns="0" rtlCol="0" anchor="ctr"/>
          <a:lstStyle/>
          <a:p>
            <a:pPr indent="0" marL="0">
              <a:buNone/>
            </a:pPr>
            <a:r>
              <a:rPr lang="en-US" sz="3000" dirty="0">
                <a:solidFill>
                  <a:srgbClr val="C5DD97"/>
                </a:solidFill>
                <a:latin typeface="Menlo" pitchFamily="34" charset="0"/>
                <a:ea typeface="Menlo" pitchFamily="34" charset="-122"/>
                <a:cs typeface="Menlo" pitchFamily="34" charset="-120"/>
              </a:rPr>
              <a:t>tools</a:t>
            </a:r>
            <a:endParaRPr lang="en-US" sz="3000" dirty="0"/>
          </a:p>
        </p:txBody>
      </p:sp>
      <p:sp>
        <p:nvSpPr>
          <p:cNvPr id="52" name="Text 50"/>
          <p:cNvSpPr/>
          <p:nvPr/>
        </p:nvSpPr>
        <p:spPr>
          <a:xfrm>
            <a:off x="13716000" y="7315200"/>
            <a:ext cx="3383280" cy="457200"/>
          </a:xfrm>
          <a:prstGeom prst="rect">
            <a:avLst/>
          </a:prstGeom>
          <a:noFill/>
          <a:ln/>
        </p:spPr>
        <p:txBody>
          <a:bodyPr wrap="square" lIns="0" tIns="0" rIns="0" bIns="0" rtlCol="0" anchor="ctr"/>
          <a:lstStyle/>
          <a:p>
            <a:pPr indent="0" marL="0">
              <a:buNone/>
            </a:pPr>
            <a:r>
              <a:rPr lang="en-US" sz="2200" dirty="0">
                <a:solidFill>
                  <a:srgbClr val="ECE8E1"/>
                </a:solidFill>
                <a:latin typeface="Helvetica Neue" pitchFamily="34" charset="0"/>
                <a:ea typeface="Helvetica Neue" pitchFamily="34" charset="-122"/>
                <a:cs typeface="Helvetica Neue" pitchFamily="34" charset="-120"/>
              </a:rPr>
              <a:t>from the hook</a:t>
            </a:r>
            <a:endParaRPr lang="en-US" sz="2200" dirty="0"/>
          </a:p>
        </p:txBody>
      </p:sp>
      <p:sp>
        <p:nvSpPr>
          <p:cNvPr id="53" name="Text 51"/>
          <p:cNvSpPr/>
          <p:nvPr/>
        </p:nvSpPr>
        <p:spPr>
          <a:xfrm>
            <a:off x="13716000" y="7863840"/>
            <a:ext cx="3383280" cy="411480"/>
          </a:xfrm>
          <a:prstGeom prst="rect">
            <a:avLst/>
          </a:prstGeom>
          <a:noFill/>
          <a:ln/>
        </p:spPr>
        <p:txBody>
          <a:bodyPr wrap="square" lIns="0" tIns="0" rIns="0" bIns="0" rtlCol="0" anchor="ctr"/>
          <a:lstStyle/>
          <a:p>
            <a:pPr indent="0" marL="0">
              <a:buNone/>
            </a:pPr>
            <a:r>
              <a:rPr lang="en-US" sz="1700" dirty="0">
                <a:solidFill>
                  <a:srgbClr val="A8A49B"/>
                </a:solidFill>
                <a:latin typeface="Helvetica Neue" pitchFamily="34" charset="0"/>
                <a:ea typeface="Helvetica Neue" pitchFamily="34" charset="-122"/>
                <a:cs typeface="Helvetica Neue" pitchFamily="34" charset="-120"/>
              </a:rPr>
              <a:t>what it is doing</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ONE ROW</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6B6760"/>
          </a:solidFill>
          <a:ln/>
        </p:spPr>
      </p:sp>
      <p:sp>
        <p:nvSpPr>
          <p:cNvPr id="11" name="Shape 9"/>
          <p:cNvSpPr/>
          <p:nvPr/>
        </p:nvSpPr>
        <p:spPr>
          <a:xfrm>
            <a:off x="10507980" y="9528048"/>
            <a:ext cx="1309116" cy="45720"/>
          </a:xfrm>
          <a:prstGeom prst="rect">
            <a:avLst/>
          </a:prstGeom>
          <a:solidFill>
            <a:srgbClr val="6B6760"/>
          </a:solidFill>
          <a:ln/>
        </p:spPr>
      </p:sp>
      <p:sp>
        <p:nvSpPr>
          <p:cNvPr id="12" name="Shape 10"/>
          <p:cNvSpPr/>
          <p:nvPr/>
        </p:nvSpPr>
        <p:spPr>
          <a:xfrm>
            <a:off x="11871960" y="9528048"/>
            <a:ext cx="1309116" cy="45720"/>
          </a:xfrm>
          <a:prstGeom prst="rect">
            <a:avLst/>
          </a:prstGeom>
          <a:solidFill>
            <a:srgbClr val="C5DD97"/>
          </a:solidFill>
          <a:ln/>
        </p:spPr>
      </p:sp>
      <p:sp>
        <p:nvSpPr>
          <p:cNvPr id="13" name="Shape 11"/>
          <p:cNvSpPr/>
          <p:nvPr/>
        </p:nvSpPr>
        <p:spPr>
          <a:xfrm>
            <a:off x="13235940" y="9528048"/>
            <a:ext cx="1309116" cy="45720"/>
          </a:xfrm>
          <a:prstGeom prst="rect">
            <a:avLst/>
          </a:prstGeom>
          <a:solidFill>
            <a:srgbClr val="2A2A2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09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Two scopes. </a:t>
            </a:r>
            <a:pPr indent="0" marL="0">
              <a:buNone/>
            </a:pPr>
            <a:r>
              <a:rPr lang="en-US" sz="4400" dirty="0">
                <a:solidFill>
                  <a:srgbClr val="C5DD97"/>
                </a:solidFill>
                <a:latin typeface="Helvetica Neue" pitchFamily="34" charset="0"/>
                <a:ea typeface="Helvetica Neue" pitchFamily="34" charset="-122"/>
                <a:cs typeface="Helvetica Neue" pitchFamily="34" charset="-120"/>
              </a:rPr>
              <a:t>Don't add them up.</a:t>
            </a:r>
            <a:endParaRPr lang="en-US" sz="4400" dirty="0"/>
          </a:p>
        </p:txBody>
      </p:sp>
      <p:sp>
        <p:nvSpPr>
          <p:cNvPr id="18" name="Shape 16"/>
          <p:cNvSpPr/>
          <p:nvPr/>
        </p:nvSpPr>
        <p:spPr>
          <a:xfrm>
            <a:off x="960120" y="2286000"/>
            <a:ext cx="16367760" cy="2377440"/>
          </a:xfrm>
          <a:prstGeom prst="roundRect">
            <a:avLst>
              <a:gd name="adj" fmla="val 5385"/>
            </a:avLst>
          </a:prstGeom>
          <a:solidFill>
            <a:srgbClr val="0F0F0D"/>
          </a:solidFill>
          <a:ln/>
        </p:spPr>
      </p:sp>
      <p:sp>
        <p:nvSpPr>
          <p:cNvPr id="19" name="Text 17"/>
          <p:cNvSpPr/>
          <p:nvPr/>
        </p:nvSpPr>
        <p:spPr>
          <a:xfrm>
            <a:off x="1280160" y="2514600"/>
            <a:ext cx="3657600" cy="411480"/>
          </a:xfrm>
          <a:prstGeom prst="rect">
            <a:avLst/>
          </a:prstGeom>
          <a:noFill/>
          <a:ln/>
        </p:spPr>
        <p:txBody>
          <a:bodyPr wrap="square" lIns="0" tIns="0" rIns="0" bIns="0" rtlCol="0" anchor="ctr"/>
          <a:lstStyle/>
          <a:p>
            <a:pPr indent="0" marL="0">
              <a:buNone/>
            </a:pPr>
            <a:r>
              <a:rPr lang="en-US" sz="1800" dirty="0">
                <a:solidFill>
                  <a:srgbClr val="6B6760"/>
                </a:solidFill>
                <a:latin typeface="Menlo" pitchFamily="34" charset="0"/>
                <a:ea typeface="Menlo" pitchFamily="34" charset="-122"/>
                <a:cs typeface="Menlo" pitchFamily="34" charset="-120"/>
              </a:rPr>
              <a:t>usd</a:t>
            </a:r>
            <a:endParaRPr lang="en-US" sz="1800" dirty="0"/>
          </a:p>
        </p:txBody>
      </p:sp>
      <p:sp>
        <p:nvSpPr>
          <p:cNvPr id="20" name="Text 18"/>
          <p:cNvSpPr/>
          <p:nvPr/>
        </p:nvSpPr>
        <p:spPr>
          <a:xfrm>
            <a:off x="1234440" y="3017520"/>
            <a:ext cx="3657600" cy="1188720"/>
          </a:xfrm>
          <a:prstGeom prst="rect">
            <a:avLst/>
          </a:prstGeom>
          <a:noFill/>
          <a:ln/>
        </p:spPr>
        <p:txBody>
          <a:bodyPr wrap="square" lIns="0" tIns="0" rIns="0" bIns="0" rtlCol="0" anchor="ctr"/>
          <a:lstStyle/>
          <a:p>
            <a:pPr indent="0" marL="0">
              <a:buNone/>
            </a:pPr>
            <a:r>
              <a:rPr lang="en-US" sz="6000" dirty="0">
                <a:solidFill>
                  <a:srgbClr val="C5DD97"/>
                </a:solidFill>
                <a:latin typeface="Helvetica Neue" pitchFamily="34" charset="0"/>
                <a:ea typeface="Helvetica Neue" pitchFamily="34" charset="-122"/>
                <a:cs typeface="Helvetica Neue" pitchFamily="34" charset="-120"/>
              </a:rPr>
              <a:t>0.61</a:t>
            </a:r>
            <a:endParaRPr lang="en-US" sz="6000" dirty="0"/>
          </a:p>
        </p:txBody>
      </p:sp>
      <p:sp>
        <p:nvSpPr>
          <p:cNvPr id="21" name="Text 19"/>
          <p:cNvSpPr/>
          <p:nvPr/>
        </p:nvSpPr>
        <p:spPr>
          <a:xfrm>
            <a:off x="4663440" y="2514600"/>
            <a:ext cx="3657600" cy="411480"/>
          </a:xfrm>
          <a:prstGeom prst="rect">
            <a:avLst/>
          </a:prstGeom>
          <a:noFill/>
          <a:ln/>
        </p:spPr>
        <p:txBody>
          <a:bodyPr wrap="square" lIns="0" tIns="0" rIns="0" bIns="0" rtlCol="0" anchor="ctr"/>
          <a:lstStyle/>
          <a:p>
            <a:pPr indent="0" marL="0">
              <a:buNone/>
            </a:pPr>
            <a:r>
              <a:rPr lang="en-US" sz="1800" dirty="0">
                <a:solidFill>
                  <a:srgbClr val="6B6760"/>
                </a:solidFill>
                <a:latin typeface="Menlo" pitchFamily="34" charset="0"/>
                <a:ea typeface="Menlo" pitchFamily="34" charset="-122"/>
                <a:cs typeface="Menlo" pitchFamily="34" charset="-120"/>
              </a:rPr>
              <a:t>input</a:t>
            </a:r>
            <a:endParaRPr lang="en-US" sz="1800" dirty="0"/>
          </a:p>
        </p:txBody>
      </p:sp>
      <p:sp>
        <p:nvSpPr>
          <p:cNvPr id="22" name="Text 20"/>
          <p:cNvSpPr/>
          <p:nvPr/>
        </p:nvSpPr>
        <p:spPr>
          <a:xfrm>
            <a:off x="4617720" y="3017520"/>
            <a:ext cx="3657600" cy="1188720"/>
          </a:xfrm>
          <a:prstGeom prst="rect">
            <a:avLst/>
          </a:prstGeom>
          <a:noFill/>
          <a:ln/>
        </p:spPr>
        <p:txBody>
          <a:bodyPr wrap="square" lIns="0" tIns="0" rIns="0" bIns="0" rtlCol="0" anchor="ctr"/>
          <a:lstStyle/>
          <a:p>
            <a:pPr indent="0" marL="0">
              <a:buNone/>
            </a:pPr>
            <a:r>
              <a:rPr lang="en-US" sz="6000" dirty="0">
                <a:solidFill>
                  <a:srgbClr val="ECE8E1"/>
                </a:solidFill>
                <a:latin typeface="Helvetica Neue" pitchFamily="34" charset="0"/>
                <a:ea typeface="Helvetica Neue" pitchFamily="34" charset="-122"/>
                <a:cs typeface="Helvetica Neue" pitchFamily="34" charset="-120"/>
              </a:rPr>
              <a:t>800</a:t>
            </a:r>
            <a:endParaRPr lang="en-US" sz="6000" dirty="0"/>
          </a:p>
        </p:txBody>
      </p:sp>
      <p:sp>
        <p:nvSpPr>
          <p:cNvPr id="23" name="Text 21"/>
          <p:cNvSpPr/>
          <p:nvPr/>
        </p:nvSpPr>
        <p:spPr>
          <a:xfrm>
            <a:off x="7406640" y="2514600"/>
            <a:ext cx="3657600" cy="411480"/>
          </a:xfrm>
          <a:prstGeom prst="rect">
            <a:avLst/>
          </a:prstGeom>
          <a:noFill/>
          <a:ln/>
        </p:spPr>
        <p:txBody>
          <a:bodyPr wrap="square" lIns="0" tIns="0" rIns="0" bIns="0" rtlCol="0" anchor="ctr"/>
          <a:lstStyle/>
          <a:p>
            <a:pPr indent="0" marL="0">
              <a:buNone/>
            </a:pPr>
            <a:r>
              <a:rPr lang="en-US" sz="1800" dirty="0">
                <a:solidFill>
                  <a:srgbClr val="6B6760"/>
                </a:solidFill>
                <a:latin typeface="Menlo" pitchFamily="34" charset="0"/>
                <a:ea typeface="Menlo" pitchFamily="34" charset="-122"/>
                <a:cs typeface="Menlo" pitchFamily="34" charset="-120"/>
              </a:rPr>
              <a:t>output</a:t>
            </a:r>
            <a:endParaRPr lang="en-US" sz="1800" dirty="0"/>
          </a:p>
        </p:txBody>
      </p:sp>
      <p:sp>
        <p:nvSpPr>
          <p:cNvPr id="24" name="Text 22"/>
          <p:cNvSpPr/>
          <p:nvPr/>
        </p:nvSpPr>
        <p:spPr>
          <a:xfrm>
            <a:off x="7360920" y="3017520"/>
            <a:ext cx="3657600" cy="1188720"/>
          </a:xfrm>
          <a:prstGeom prst="rect">
            <a:avLst/>
          </a:prstGeom>
          <a:noFill/>
          <a:ln/>
        </p:spPr>
        <p:txBody>
          <a:bodyPr wrap="square" lIns="0" tIns="0" rIns="0" bIns="0" rtlCol="0" anchor="ctr"/>
          <a:lstStyle/>
          <a:p>
            <a:pPr indent="0" marL="0">
              <a:buNone/>
            </a:pPr>
            <a:r>
              <a:rPr lang="en-US" sz="6000" dirty="0">
                <a:solidFill>
                  <a:srgbClr val="ECE8E1"/>
                </a:solidFill>
                <a:latin typeface="Helvetica Neue" pitchFamily="34" charset="0"/>
                <a:ea typeface="Helvetica Neue" pitchFamily="34" charset="-122"/>
                <a:cs typeface="Helvetica Neue" pitchFamily="34" charset="-120"/>
              </a:rPr>
              <a:t>88</a:t>
            </a:r>
            <a:endParaRPr lang="en-US" sz="6000" dirty="0"/>
          </a:p>
        </p:txBody>
      </p:sp>
      <p:sp>
        <p:nvSpPr>
          <p:cNvPr id="25" name="Text 23"/>
          <p:cNvSpPr/>
          <p:nvPr/>
        </p:nvSpPr>
        <p:spPr>
          <a:xfrm>
            <a:off x="10149840" y="2514600"/>
            <a:ext cx="3657600" cy="411480"/>
          </a:xfrm>
          <a:prstGeom prst="rect">
            <a:avLst/>
          </a:prstGeom>
          <a:noFill/>
          <a:ln/>
        </p:spPr>
        <p:txBody>
          <a:bodyPr wrap="square" lIns="0" tIns="0" rIns="0" bIns="0" rtlCol="0" anchor="ctr"/>
          <a:lstStyle/>
          <a:p>
            <a:pPr indent="0" marL="0">
              <a:buNone/>
            </a:pPr>
            <a:r>
              <a:rPr lang="en-US" sz="1800" dirty="0">
                <a:solidFill>
                  <a:srgbClr val="6B6760"/>
                </a:solidFill>
                <a:latin typeface="Menlo" pitchFamily="34" charset="0"/>
                <a:ea typeface="Menlo" pitchFamily="34" charset="-122"/>
                <a:cs typeface="Menlo" pitchFamily="34" charset="-120"/>
              </a:rPr>
              <a:t>cache_read</a:t>
            </a:r>
            <a:endParaRPr lang="en-US" sz="1800" dirty="0"/>
          </a:p>
        </p:txBody>
      </p:sp>
      <p:sp>
        <p:nvSpPr>
          <p:cNvPr id="26" name="Text 24"/>
          <p:cNvSpPr/>
          <p:nvPr/>
        </p:nvSpPr>
        <p:spPr>
          <a:xfrm>
            <a:off x="10104120" y="3017520"/>
            <a:ext cx="3657600" cy="1188720"/>
          </a:xfrm>
          <a:prstGeom prst="rect">
            <a:avLst/>
          </a:prstGeom>
          <a:noFill/>
          <a:ln/>
        </p:spPr>
        <p:txBody>
          <a:bodyPr wrap="square" lIns="0" tIns="0" rIns="0" bIns="0" rtlCol="0" anchor="ctr"/>
          <a:lstStyle/>
          <a:p>
            <a:pPr indent="0" marL="0">
              <a:buNone/>
            </a:pPr>
            <a:r>
              <a:rPr lang="en-US" sz="6000" dirty="0">
                <a:solidFill>
                  <a:srgbClr val="ECE8E1"/>
                </a:solidFill>
                <a:latin typeface="Helvetica Neue" pitchFamily="34" charset="0"/>
                <a:ea typeface="Helvetica Neue" pitchFamily="34" charset="-122"/>
                <a:cs typeface="Helvetica Neue" pitchFamily="34" charset="-120"/>
              </a:rPr>
              <a:t>148,900</a:t>
            </a:r>
            <a:endParaRPr lang="en-US" sz="6000" dirty="0"/>
          </a:p>
        </p:txBody>
      </p:sp>
      <p:sp>
        <p:nvSpPr>
          <p:cNvPr id="27" name="Text 25"/>
          <p:cNvSpPr/>
          <p:nvPr/>
        </p:nvSpPr>
        <p:spPr>
          <a:xfrm>
            <a:off x="14036040" y="2514600"/>
            <a:ext cx="3657600" cy="411480"/>
          </a:xfrm>
          <a:prstGeom prst="rect">
            <a:avLst/>
          </a:prstGeom>
          <a:noFill/>
          <a:ln/>
        </p:spPr>
        <p:txBody>
          <a:bodyPr wrap="square" lIns="0" tIns="0" rIns="0" bIns="0" rtlCol="0" anchor="ctr"/>
          <a:lstStyle/>
          <a:p>
            <a:pPr indent="0" marL="0">
              <a:buNone/>
            </a:pPr>
            <a:r>
              <a:rPr lang="en-US" sz="1800" dirty="0">
                <a:solidFill>
                  <a:srgbClr val="6B6760"/>
                </a:solidFill>
                <a:latin typeface="Menlo" pitchFamily="34" charset="0"/>
                <a:ea typeface="Menlo" pitchFamily="34" charset="-122"/>
                <a:cs typeface="Menlo" pitchFamily="34" charset="-120"/>
              </a:rPr>
              <a:t>cache_write</a:t>
            </a:r>
            <a:endParaRPr lang="en-US" sz="1800" dirty="0"/>
          </a:p>
        </p:txBody>
      </p:sp>
      <p:sp>
        <p:nvSpPr>
          <p:cNvPr id="28" name="Text 26"/>
          <p:cNvSpPr/>
          <p:nvPr/>
        </p:nvSpPr>
        <p:spPr>
          <a:xfrm>
            <a:off x="13990320" y="3017520"/>
            <a:ext cx="3657600" cy="1188720"/>
          </a:xfrm>
          <a:prstGeom prst="rect">
            <a:avLst/>
          </a:prstGeom>
          <a:noFill/>
          <a:ln/>
        </p:spPr>
        <p:txBody>
          <a:bodyPr wrap="square" lIns="0" tIns="0" rIns="0" bIns="0" rtlCol="0" anchor="ctr"/>
          <a:lstStyle/>
          <a:p>
            <a:pPr indent="0" marL="0">
              <a:buNone/>
            </a:pPr>
            <a:r>
              <a:rPr lang="en-US" sz="6000" dirty="0">
                <a:solidFill>
                  <a:srgbClr val="ECE8E1"/>
                </a:solidFill>
                <a:latin typeface="Helvetica Neue" pitchFamily="34" charset="0"/>
                <a:ea typeface="Helvetica Neue" pitchFamily="34" charset="-122"/>
                <a:cs typeface="Helvetica Neue" pitchFamily="34" charset="-120"/>
              </a:rPr>
              <a:t>500</a:t>
            </a:r>
            <a:endParaRPr lang="en-US" sz="6000" dirty="0"/>
          </a:p>
        </p:txBody>
      </p:sp>
      <p:sp>
        <p:nvSpPr>
          <p:cNvPr id="29" name="Shape 27"/>
          <p:cNvSpPr/>
          <p:nvPr/>
        </p:nvSpPr>
        <p:spPr>
          <a:xfrm>
            <a:off x="1280160" y="4983480"/>
            <a:ext cx="0" cy="274320"/>
          </a:xfrm>
          <a:prstGeom prst="line">
            <a:avLst/>
          </a:prstGeom>
          <a:noFill/>
          <a:ln w="25400">
            <a:solidFill>
              <a:srgbClr val="C5DD97"/>
            </a:solidFill>
            <a:prstDash val="solid"/>
          </a:ln>
        </p:spPr>
      </p:sp>
      <p:sp>
        <p:nvSpPr>
          <p:cNvPr id="30" name="Shape 28"/>
          <p:cNvSpPr/>
          <p:nvPr/>
        </p:nvSpPr>
        <p:spPr>
          <a:xfrm>
            <a:off x="1280160" y="5257800"/>
            <a:ext cx="2651760" cy="0"/>
          </a:xfrm>
          <a:prstGeom prst="line">
            <a:avLst/>
          </a:prstGeom>
          <a:noFill/>
          <a:ln w="25400">
            <a:solidFill>
              <a:srgbClr val="C5DD97"/>
            </a:solidFill>
            <a:prstDash val="solid"/>
          </a:ln>
        </p:spPr>
      </p:sp>
      <p:sp>
        <p:nvSpPr>
          <p:cNvPr id="31" name="Shape 29"/>
          <p:cNvSpPr/>
          <p:nvPr/>
        </p:nvSpPr>
        <p:spPr>
          <a:xfrm>
            <a:off x="3931920" y="4983480"/>
            <a:ext cx="0" cy="274320"/>
          </a:xfrm>
          <a:prstGeom prst="line">
            <a:avLst/>
          </a:prstGeom>
          <a:noFill/>
          <a:ln w="25400">
            <a:solidFill>
              <a:srgbClr val="C5DD97"/>
            </a:solidFill>
            <a:prstDash val="solid"/>
          </a:ln>
        </p:spPr>
      </p:sp>
      <p:sp>
        <p:nvSpPr>
          <p:cNvPr id="32" name="Text 30"/>
          <p:cNvSpPr/>
          <p:nvPr/>
        </p:nvSpPr>
        <p:spPr>
          <a:xfrm>
            <a:off x="1280160" y="5486400"/>
            <a:ext cx="2651760" cy="548640"/>
          </a:xfrm>
          <a:prstGeom prst="rect">
            <a:avLst/>
          </a:prstGeom>
          <a:noFill/>
          <a:ln/>
        </p:spPr>
        <p:txBody>
          <a:bodyPr wrap="square" lIns="0" tIns="0" rIns="0" bIns="0" rtlCol="0" anchor="ctr"/>
          <a:lstStyle/>
          <a:p>
            <a:pPr indent="0" marL="0">
              <a:buNone/>
            </a:pPr>
            <a:r>
              <a:rPr lang="en-US" sz="2600" dirty="0">
                <a:solidFill>
                  <a:srgbClr val="C5DD97"/>
                </a:solidFill>
                <a:latin typeface="Helvetica Neue" pitchFamily="34" charset="0"/>
                <a:ea typeface="Helvetica Neue" pitchFamily="34" charset="-122"/>
                <a:cs typeface="Helvetica Neue" pitchFamily="34" charset="-120"/>
              </a:rPr>
              <a:t>session total</a:t>
            </a:r>
            <a:endParaRPr lang="en-US" sz="2600" dirty="0"/>
          </a:p>
        </p:txBody>
      </p:sp>
      <p:sp>
        <p:nvSpPr>
          <p:cNvPr id="33" name="Text 31"/>
          <p:cNvSpPr/>
          <p:nvPr/>
        </p:nvSpPr>
        <p:spPr>
          <a:xfrm>
            <a:off x="1280160" y="6035040"/>
            <a:ext cx="2651760" cy="822960"/>
          </a:xfrm>
          <a:prstGeom prst="rect">
            <a:avLst/>
          </a:prstGeom>
          <a:noFill/>
          <a:ln/>
        </p:spPr>
        <p:txBody>
          <a:bodyPr wrap="square" lIns="0" tIns="0" rIns="0" bIns="0" rtlCol="0" anchor="ctr"/>
          <a:lstStyle/>
          <a:p>
            <a:pPr indent="0" marL="0">
              <a:buNone/>
            </a:pPr>
            <a:r>
              <a:rPr lang="en-US" sz="1800" dirty="0">
                <a:solidFill>
                  <a:srgbClr val="A8A49B"/>
                </a:solidFill>
                <a:latin typeface="Helvetica Neue" pitchFamily="34" charset="0"/>
                <a:ea typeface="Helvetica Neue" pitchFamily="34" charset="-122"/>
                <a:cs typeface="Helvetica Neue" pitchFamily="34" charset="-120"/>
              </a:rPr>
              <a:t>cumulative,</a:t>
            </a:r>
            <a:endParaRPr lang="en-US" sz="1800" dirty="0"/>
          </a:p>
          <a:p>
            <a:pPr indent="0" marL="0">
              <a:buNone/>
            </a:pPr>
            <a:r>
              <a:rPr lang="en-US" sz="1800" dirty="0">
                <a:solidFill>
                  <a:srgbClr val="A8A49B"/>
                </a:solidFill>
                <a:latin typeface="Helvetica Neue" pitchFamily="34" charset="0"/>
                <a:ea typeface="Helvetica Neue" pitchFamily="34" charset="-122"/>
                <a:cs typeface="Helvetica Neue" pitchFamily="34" charset="-120"/>
              </a:rPr>
              <a:t>list price</a:t>
            </a:r>
            <a:endParaRPr lang="en-US" sz="1800" dirty="0"/>
          </a:p>
        </p:txBody>
      </p:sp>
      <p:sp>
        <p:nvSpPr>
          <p:cNvPr id="34" name="Shape 32"/>
          <p:cNvSpPr/>
          <p:nvPr/>
        </p:nvSpPr>
        <p:spPr>
          <a:xfrm>
            <a:off x="4663440" y="4983480"/>
            <a:ext cx="0" cy="274320"/>
          </a:xfrm>
          <a:prstGeom prst="line">
            <a:avLst/>
          </a:prstGeom>
          <a:noFill/>
          <a:ln w="25400">
            <a:solidFill>
              <a:srgbClr val="ECE8E1"/>
            </a:solidFill>
            <a:prstDash val="solid"/>
          </a:ln>
        </p:spPr>
      </p:sp>
      <p:sp>
        <p:nvSpPr>
          <p:cNvPr id="35" name="Shape 33"/>
          <p:cNvSpPr/>
          <p:nvPr/>
        </p:nvSpPr>
        <p:spPr>
          <a:xfrm>
            <a:off x="4663440" y="5257800"/>
            <a:ext cx="12344400" cy="0"/>
          </a:xfrm>
          <a:prstGeom prst="line">
            <a:avLst/>
          </a:prstGeom>
          <a:noFill/>
          <a:ln w="25400">
            <a:solidFill>
              <a:srgbClr val="ECE8E1"/>
            </a:solidFill>
            <a:prstDash val="solid"/>
          </a:ln>
        </p:spPr>
      </p:sp>
      <p:sp>
        <p:nvSpPr>
          <p:cNvPr id="36" name="Shape 34"/>
          <p:cNvSpPr/>
          <p:nvPr/>
        </p:nvSpPr>
        <p:spPr>
          <a:xfrm>
            <a:off x="17007840" y="4983480"/>
            <a:ext cx="0" cy="274320"/>
          </a:xfrm>
          <a:prstGeom prst="line">
            <a:avLst/>
          </a:prstGeom>
          <a:noFill/>
          <a:ln w="25400">
            <a:solidFill>
              <a:srgbClr val="ECE8E1"/>
            </a:solidFill>
            <a:prstDash val="solid"/>
          </a:ln>
        </p:spPr>
      </p:sp>
      <p:sp>
        <p:nvSpPr>
          <p:cNvPr id="37" name="Text 35"/>
          <p:cNvSpPr/>
          <p:nvPr/>
        </p:nvSpPr>
        <p:spPr>
          <a:xfrm>
            <a:off x="4663440" y="5486400"/>
            <a:ext cx="12344400" cy="548640"/>
          </a:xfrm>
          <a:prstGeom prst="rect">
            <a:avLst/>
          </a:prstGeom>
          <a:noFill/>
          <a:ln/>
        </p:spPr>
        <p:txBody>
          <a:bodyPr wrap="square" lIns="0" tIns="0" rIns="0" bIns="0" rtlCol="0" anchor="ctr"/>
          <a:lstStyle/>
          <a:p>
            <a:pPr indent="0" marL="0">
              <a:buNone/>
            </a:pPr>
            <a:r>
              <a:rPr lang="en-US" sz="2600" dirty="0">
                <a:solidFill>
                  <a:srgbClr val="ECE8E1"/>
                </a:solidFill>
                <a:latin typeface="Helvetica Neue" pitchFamily="34" charset="0"/>
                <a:ea typeface="Helvetica Neue" pitchFamily="34" charset="-122"/>
                <a:cs typeface="Helvetica Neue" pitchFamily="34" charset="-120"/>
              </a:rPr>
              <a:t>last call</a:t>
            </a:r>
            <a:endParaRPr lang="en-US" sz="2600" dirty="0"/>
          </a:p>
        </p:txBody>
      </p:sp>
      <p:sp>
        <p:nvSpPr>
          <p:cNvPr id="38" name="Text 36"/>
          <p:cNvSpPr/>
          <p:nvPr/>
        </p:nvSpPr>
        <p:spPr>
          <a:xfrm>
            <a:off x="4663440" y="6035040"/>
            <a:ext cx="12344400" cy="822960"/>
          </a:xfrm>
          <a:prstGeom prst="rect">
            <a:avLst/>
          </a:prstGeom>
          <a:noFill/>
          <a:ln/>
        </p:spPr>
        <p:txBody>
          <a:bodyPr wrap="square" lIns="0" tIns="0" rIns="0" bIns="0" rtlCol="0" anchor="ctr"/>
          <a:lstStyle/>
          <a:p>
            <a:pPr indent="0" marL="0">
              <a:buNone/>
            </a:pPr>
            <a:r>
              <a:rPr lang="en-US" sz="1800" dirty="0">
                <a:solidFill>
                  <a:srgbClr val="A8A49B"/>
                </a:solidFill>
                <a:latin typeface="Helvetica Neue" pitchFamily="34" charset="0"/>
                <a:ea typeface="Helvetica Neue" pitchFamily="34" charset="-122"/>
                <a:cs typeface="Helvetica Neue" pitchFamily="34" charset="-120"/>
              </a:rPr>
              <a:t>each new row is a new response. Sum cache_read if you want reads.</a:t>
            </a:r>
            <a:endParaRPr lang="en-US" sz="1800" dirty="0"/>
          </a:p>
        </p:txBody>
      </p:sp>
      <p:sp>
        <p:nvSpPr>
          <p:cNvPr id="39" name="Shape 37"/>
          <p:cNvSpPr/>
          <p:nvPr/>
        </p:nvSpPr>
        <p:spPr>
          <a:xfrm>
            <a:off x="960120" y="7315200"/>
            <a:ext cx="7955280" cy="1508760"/>
          </a:xfrm>
          <a:prstGeom prst="roundRect">
            <a:avLst>
              <a:gd name="adj" fmla="val 8485"/>
            </a:avLst>
          </a:prstGeom>
          <a:solidFill>
            <a:srgbClr val="2C2416"/>
          </a:solidFill>
          <a:ln/>
        </p:spPr>
      </p:sp>
      <p:sp>
        <p:nvSpPr>
          <p:cNvPr id="40" name="Text 38"/>
          <p:cNvSpPr/>
          <p:nvPr/>
        </p:nvSpPr>
        <p:spPr>
          <a:xfrm>
            <a:off x="1325880" y="7315200"/>
            <a:ext cx="7315200" cy="1508760"/>
          </a:xfrm>
          <a:prstGeom prst="rect">
            <a:avLst/>
          </a:prstGeom>
          <a:noFill/>
          <a:ln/>
        </p:spPr>
        <p:txBody>
          <a:bodyPr wrap="square" lIns="0" tIns="0" rIns="0" bIns="0" rtlCol="0" anchor="ctr"/>
          <a:lstStyle/>
          <a:p>
            <a:pPr indent="0" marL="0">
              <a:buNone/>
            </a:pPr>
            <a:r>
              <a:rPr lang="en-US" sz="3000" dirty="0">
                <a:solidFill>
                  <a:srgbClr val="E8B46A"/>
                </a:solidFill>
                <a:latin typeface="Menlo" pitchFamily="34" charset="0"/>
                <a:ea typeface="Menlo" pitchFamily="34" charset="-122"/>
                <a:cs typeface="Menlo" pitchFamily="34" charset="-120"/>
              </a:rPr>
              <a:t>Σ usd  </a:t>
            </a:r>
            <a:pPr indent="0" marL="0">
              <a:buNone/>
            </a:pPr>
            <a:r>
              <a:rPr lang="en-US" sz="3000" dirty="0">
                <a:solidFill>
                  <a:srgbClr val="ECE8E1"/>
                </a:solidFill>
                <a:latin typeface="Helvetica Neue" pitchFamily="34" charset="0"/>
                <a:ea typeface="Helvetica Neue" pitchFamily="34" charset="-122"/>
                <a:cs typeface="Helvetica Neue" pitchFamily="34" charset="-120"/>
              </a:rPr>
              <a:t>double-counts</a:t>
            </a:r>
            <a:endParaRPr lang="en-US" sz="3000" dirty="0"/>
          </a:p>
        </p:txBody>
      </p:sp>
      <p:sp>
        <p:nvSpPr>
          <p:cNvPr id="41" name="Shape 39"/>
          <p:cNvSpPr/>
          <p:nvPr/>
        </p:nvSpPr>
        <p:spPr>
          <a:xfrm>
            <a:off x="9372600" y="7315200"/>
            <a:ext cx="7955280" cy="1508760"/>
          </a:xfrm>
          <a:prstGeom prst="roundRect">
            <a:avLst>
              <a:gd name="adj" fmla="val 8485"/>
            </a:avLst>
          </a:prstGeom>
          <a:solidFill>
            <a:srgbClr val="2C2416"/>
          </a:solidFill>
          <a:ln/>
        </p:spPr>
      </p:sp>
      <p:sp>
        <p:nvSpPr>
          <p:cNvPr id="42" name="Text 40"/>
          <p:cNvSpPr/>
          <p:nvPr/>
        </p:nvSpPr>
        <p:spPr>
          <a:xfrm>
            <a:off x="9738360" y="7315200"/>
            <a:ext cx="7315200" cy="1508760"/>
          </a:xfrm>
          <a:prstGeom prst="rect">
            <a:avLst/>
          </a:prstGeom>
          <a:noFill/>
          <a:ln/>
        </p:spPr>
        <p:txBody>
          <a:bodyPr wrap="square" lIns="0" tIns="0" rIns="0" bIns="0" rtlCol="0" anchor="ctr"/>
          <a:lstStyle/>
          <a:p>
            <a:pPr indent="0" marL="0">
              <a:buNone/>
            </a:pPr>
            <a:r>
              <a:rPr lang="en-US" sz="3000" dirty="0">
                <a:solidFill>
                  <a:srgbClr val="E8B46A"/>
                </a:solidFill>
                <a:latin typeface="Menlo" pitchFamily="34" charset="0"/>
                <a:ea typeface="Menlo" pitchFamily="34" charset="-122"/>
                <a:cs typeface="Menlo" pitchFamily="34" charset="-120"/>
              </a:rPr>
              <a:t>Σ input  </a:t>
            </a:r>
            <a:pPr indent="0" marL="0">
              <a:buNone/>
            </a:pPr>
            <a:r>
              <a:rPr lang="en-US" sz="3000" dirty="0">
                <a:solidFill>
                  <a:srgbClr val="ECE8E1"/>
                </a:solidFill>
                <a:latin typeface="Helvetica Neue" pitchFamily="34" charset="0"/>
                <a:ea typeface="Helvetica Neue" pitchFamily="34" charset="-122"/>
                <a:cs typeface="Helvetica Neue" pitchFamily="34" charset="-120"/>
              </a:rPr>
              <a:t>is not the day</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WHAT IT IS NOT</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6B6760"/>
          </a:solidFill>
          <a:ln/>
        </p:spPr>
      </p:sp>
      <p:sp>
        <p:nvSpPr>
          <p:cNvPr id="11" name="Shape 9"/>
          <p:cNvSpPr/>
          <p:nvPr/>
        </p:nvSpPr>
        <p:spPr>
          <a:xfrm>
            <a:off x="10507980" y="9528048"/>
            <a:ext cx="1309116" cy="45720"/>
          </a:xfrm>
          <a:prstGeom prst="rect">
            <a:avLst/>
          </a:prstGeom>
          <a:solidFill>
            <a:srgbClr val="6B6760"/>
          </a:solidFill>
          <a:ln/>
        </p:spPr>
      </p:sp>
      <p:sp>
        <p:nvSpPr>
          <p:cNvPr id="12" name="Shape 10"/>
          <p:cNvSpPr/>
          <p:nvPr/>
        </p:nvSpPr>
        <p:spPr>
          <a:xfrm>
            <a:off x="11871960" y="9528048"/>
            <a:ext cx="1309116" cy="45720"/>
          </a:xfrm>
          <a:prstGeom prst="rect">
            <a:avLst/>
          </a:prstGeom>
          <a:solidFill>
            <a:srgbClr val="6B6760"/>
          </a:solidFill>
          <a:ln/>
        </p:spPr>
      </p:sp>
      <p:sp>
        <p:nvSpPr>
          <p:cNvPr id="13" name="Shape 11"/>
          <p:cNvSpPr/>
          <p:nvPr/>
        </p:nvSpPr>
        <p:spPr>
          <a:xfrm>
            <a:off x="13235940" y="9528048"/>
            <a:ext cx="1309116" cy="45720"/>
          </a:xfrm>
          <a:prstGeom prst="rect">
            <a:avLst/>
          </a:prstGeom>
          <a:solidFill>
            <a:srgbClr val="C5DD97"/>
          </a:solidFill>
          <a:ln/>
        </p:spPr>
      </p:sp>
      <p:sp>
        <p:nvSpPr>
          <p:cNvPr id="14" name="Shape 12"/>
          <p:cNvSpPr/>
          <p:nvPr/>
        </p:nvSpPr>
        <p:spPr>
          <a:xfrm>
            <a:off x="14599920" y="9528048"/>
            <a:ext cx="1309116" cy="45720"/>
          </a:xfrm>
          <a:prstGeom prst="rect">
            <a:avLst/>
          </a:prstGeom>
          <a:solidFill>
            <a:srgbClr val="2A2A2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10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A gauge. </a:t>
            </a:r>
            <a:pPr indent="0" marL="0">
              <a:buNone/>
            </a:pPr>
            <a:r>
              <a:rPr lang="en-US" sz="4400" dirty="0">
                <a:solidFill>
                  <a:srgbClr val="C5DD97"/>
                </a:solidFill>
                <a:latin typeface="Helvetica Neue" pitchFamily="34" charset="0"/>
                <a:ea typeface="Helvetica Neue" pitchFamily="34" charset="-122"/>
                <a:cs typeface="Helvetica Neue" pitchFamily="34" charset="-120"/>
              </a:rPr>
              <a:t>Not the bill.</a:t>
            </a:r>
            <a:endParaRPr lang="en-US" sz="4400" dirty="0"/>
          </a:p>
        </p:txBody>
      </p:sp>
      <p:sp>
        <p:nvSpPr>
          <p:cNvPr id="18" name="Text 16"/>
          <p:cNvSpPr/>
          <p:nvPr/>
        </p:nvSpPr>
        <p:spPr>
          <a:xfrm>
            <a:off x="960120" y="2331720"/>
            <a:ext cx="4206240" cy="1280160"/>
          </a:xfrm>
          <a:prstGeom prst="rect">
            <a:avLst/>
          </a:prstGeom>
          <a:noFill/>
          <a:ln/>
        </p:spPr>
        <p:txBody>
          <a:bodyPr wrap="square" lIns="0" tIns="0" rIns="0" bIns="0" rtlCol="0" anchor="ctr"/>
          <a:lstStyle/>
          <a:p>
            <a:pPr indent="0" marL="0">
              <a:buNone/>
            </a:pPr>
            <a:r>
              <a:rPr lang="en-US" sz="5600" dirty="0">
                <a:solidFill>
                  <a:srgbClr val="ECE8E1"/>
                </a:solidFill>
                <a:latin typeface="Helvetica Neue" pitchFamily="34" charset="0"/>
                <a:ea typeface="Helvetica Neue" pitchFamily="34" charset="-122"/>
                <a:cs typeface="Helvetica Neue" pitchFamily="34" charset="-120"/>
              </a:rPr>
              <a:t>jsonl</a:t>
            </a:r>
            <a:endParaRPr lang="en-US" sz="5600" dirty="0"/>
          </a:p>
        </p:txBody>
      </p:sp>
      <p:sp>
        <p:nvSpPr>
          <p:cNvPr id="19" name="Text 17"/>
          <p:cNvSpPr/>
          <p:nvPr/>
        </p:nvSpPr>
        <p:spPr>
          <a:xfrm>
            <a:off x="5120640" y="2331720"/>
            <a:ext cx="1371600" cy="1280160"/>
          </a:xfrm>
          <a:prstGeom prst="rect">
            <a:avLst/>
          </a:prstGeom>
          <a:noFill/>
          <a:ln/>
        </p:spPr>
        <p:txBody>
          <a:bodyPr wrap="square" lIns="0" tIns="0" rIns="0" bIns="0" rtlCol="0" anchor="ctr"/>
          <a:lstStyle/>
          <a:p>
            <a:pPr algn="ctr" indent="0" marL="0">
              <a:buNone/>
            </a:pPr>
            <a:r>
              <a:rPr lang="en-US" sz="6000" dirty="0">
                <a:solidFill>
                  <a:srgbClr val="C5DD97"/>
                </a:solidFill>
                <a:latin typeface="Helvetica Neue" pitchFamily="34" charset="0"/>
                <a:ea typeface="Helvetica Neue" pitchFamily="34" charset="-122"/>
                <a:cs typeface="Helvetica Neue" pitchFamily="34" charset="-120"/>
              </a:rPr>
              <a:t>≠</a:t>
            </a:r>
            <a:endParaRPr lang="en-US" sz="6000" dirty="0"/>
          </a:p>
        </p:txBody>
      </p:sp>
      <p:sp>
        <p:nvSpPr>
          <p:cNvPr id="20" name="Text 18"/>
          <p:cNvSpPr/>
          <p:nvPr/>
        </p:nvSpPr>
        <p:spPr>
          <a:xfrm>
            <a:off x="6583680" y="2331720"/>
            <a:ext cx="4572000" cy="1280160"/>
          </a:xfrm>
          <a:prstGeom prst="rect">
            <a:avLst/>
          </a:prstGeom>
          <a:noFill/>
          <a:ln/>
        </p:spPr>
        <p:txBody>
          <a:bodyPr wrap="square" lIns="0" tIns="0" rIns="0" bIns="0" rtlCol="0" anchor="ctr"/>
          <a:lstStyle/>
          <a:p>
            <a:pPr indent="0" marL="0">
              <a:buNone/>
            </a:pPr>
            <a:r>
              <a:rPr lang="en-US" sz="5600" dirty="0">
                <a:solidFill>
                  <a:srgbClr val="6B6760"/>
                </a:solidFill>
                <a:latin typeface="Helvetica Neue" pitchFamily="34" charset="0"/>
                <a:ea typeface="Helvetica Neue" pitchFamily="34" charset="-122"/>
                <a:cs typeface="Helvetica Neue" pitchFamily="34" charset="-120"/>
              </a:rPr>
              <a:t>invoice</a:t>
            </a:r>
            <a:endParaRPr lang="en-US" sz="5600" dirty="0"/>
          </a:p>
        </p:txBody>
      </p:sp>
      <p:sp>
        <p:nvSpPr>
          <p:cNvPr id="21" name="Text 19"/>
          <p:cNvSpPr/>
          <p:nvPr/>
        </p:nvSpPr>
        <p:spPr>
          <a:xfrm>
            <a:off x="11521440" y="2331720"/>
            <a:ext cx="5806440" cy="1280160"/>
          </a:xfrm>
          <a:prstGeom prst="rect">
            <a:avLst/>
          </a:prstGeom>
          <a:noFill/>
          <a:ln/>
        </p:spPr>
        <p:txBody>
          <a:bodyPr wrap="square" lIns="0" tIns="0" rIns="0" bIns="0" rtlCol="0" anchor="ctr"/>
          <a:lstStyle/>
          <a:p>
            <a:pPr algn="r" indent="0" marL="0">
              <a:buNone/>
            </a:pPr>
            <a:r>
              <a:rPr lang="en-US" sz="2000" dirty="0">
                <a:solidFill>
                  <a:srgbClr val="A8A49B"/>
                </a:solidFill>
                <a:latin typeface="Helvetica Neue" pitchFamily="34" charset="0"/>
                <a:ea typeface="Helvetica Neue" pitchFamily="34" charset="-122"/>
                <a:cs typeface="Helvetica Neue" pitchFamily="34" charset="-120"/>
              </a:rPr>
              <a:t>reconcile weekly with the console</a:t>
            </a:r>
            <a:endParaRPr lang="en-US" sz="2000" dirty="0"/>
          </a:p>
        </p:txBody>
      </p:sp>
      <p:sp>
        <p:nvSpPr>
          <p:cNvPr id="22" name="Shape 20"/>
          <p:cNvSpPr/>
          <p:nvPr/>
        </p:nvSpPr>
        <p:spPr>
          <a:xfrm>
            <a:off x="960120" y="3840480"/>
            <a:ext cx="16367760" cy="0"/>
          </a:xfrm>
          <a:prstGeom prst="line">
            <a:avLst/>
          </a:prstGeom>
          <a:noFill/>
          <a:ln w="12700">
            <a:solidFill>
              <a:srgbClr val="2A2A27"/>
            </a:solidFill>
            <a:prstDash val="solid"/>
          </a:ln>
        </p:spPr>
      </p:sp>
      <p:sp>
        <p:nvSpPr>
          <p:cNvPr id="23" name="Text 21"/>
          <p:cNvSpPr/>
          <p:nvPr/>
        </p:nvSpPr>
        <p:spPr>
          <a:xfrm>
            <a:off x="960120" y="3977640"/>
            <a:ext cx="4206240" cy="1280160"/>
          </a:xfrm>
          <a:prstGeom prst="rect">
            <a:avLst/>
          </a:prstGeom>
          <a:noFill/>
          <a:ln/>
        </p:spPr>
        <p:txBody>
          <a:bodyPr wrap="square" lIns="0" tIns="0" rIns="0" bIns="0" rtlCol="0" anchor="ctr"/>
          <a:lstStyle/>
          <a:p>
            <a:pPr indent="0" marL="0">
              <a:buNone/>
            </a:pPr>
            <a:r>
              <a:rPr lang="en-US" sz="5600" dirty="0">
                <a:solidFill>
                  <a:srgbClr val="ECE8E1"/>
                </a:solidFill>
                <a:latin typeface="Helvetica Neue" pitchFamily="34" charset="0"/>
                <a:ea typeface="Helvetica Neue" pitchFamily="34" charset="-122"/>
                <a:cs typeface="Helvetica Neue" pitchFamily="34" charset="-120"/>
              </a:rPr>
              <a:t>tokens</a:t>
            </a:r>
            <a:endParaRPr lang="en-US" sz="5600" dirty="0"/>
          </a:p>
        </p:txBody>
      </p:sp>
      <p:sp>
        <p:nvSpPr>
          <p:cNvPr id="24" name="Text 22"/>
          <p:cNvSpPr/>
          <p:nvPr/>
        </p:nvSpPr>
        <p:spPr>
          <a:xfrm>
            <a:off x="5120640" y="3977640"/>
            <a:ext cx="1371600" cy="1280160"/>
          </a:xfrm>
          <a:prstGeom prst="rect">
            <a:avLst/>
          </a:prstGeom>
          <a:noFill/>
          <a:ln/>
        </p:spPr>
        <p:txBody>
          <a:bodyPr wrap="square" lIns="0" tIns="0" rIns="0" bIns="0" rtlCol="0" anchor="ctr"/>
          <a:lstStyle/>
          <a:p>
            <a:pPr algn="ctr" indent="0" marL="0">
              <a:buNone/>
            </a:pPr>
            <a:r>
              <a:rPr lang="en-US" sz="6000" dirty="0">
                <a:solidFill>
                  <a:srgbClr val="C5DD97"/>
                </a:solidFill>
                <a:latin typeface="Helvetica Neue" pitchFamily="34" charset="0"/>
                <a:ea typeface="Helvetica Neue" pitchFamily="34" charset="-122"/>
                <a:cs typeface="Helvetica Neue" pitchFamily="34" charset="-120"/>
              </a:rPr>
              <a:t>≠</a:t>
            </a:r>
            <a:endParaRPr lang="en-US" sz="6000" dirty="0"/>
          </a:p>
        </p:txBody>
      </p:sp>
      <p:sp>
        <p:nvSpPr>
          <p:cNvPr id="25" name="Text 23"/>
          <p:cNvSpPr/>
          <p:nvPr/>
        </p:nvSpPr>
        <p:spPr>
          <a:xfrm>
            <a:off x="6583680" y="3977640"/>
            <a:ext cx="4572000" cy="1280160"/>
          </a:xfrm>
          <a:prstGeom prst="rect">
            <a:avLst/>
          </a:prstGeom>
          <a:noFill/>
          <a:ln/>
        </p:spPr>
        <p:txBody>
          <a:bodyPr wrap="square" lIns="0" tIns="0" rIns="0" bIns="0" rtlCol="0" anchor="ctr"/>
          <a:lstStyle/>
          <a:p>
            <a:pPr indent="0" marL="0">
              <a:buNone/>
            </a:pPr>
            <a:r>
              <a:rPr lang="en-US" sz="5600" dirty="0">
                <a:solidFill>
                  <a:srgbClr val="6B6760"/>
                </a:solidFill>
                <a:latin typeface="Helvetica Neue" pitchFamily="34" charset="0"/>
                <a:ea typeface="Helvetica Neue" pitchFamily="34" charset="-122"/>
                <a:cs typeface="Helvetica Neue" pitchFamily="34" charset="-120"/>
              </a:rPr>
              <a:t>prompts</a:t>
            </a:r>
            <a:endParaRPr lang="en-US" sz="5600" dirty="0"/>
          </a:p>
        </p:txBody>
      </p:sp>
      <p:sp>
        <p:nvSpPr>
          <p:cNvPr id="26" name="Text 24"/>
          <p:cNvSpPr/>
          <p:nvPr/>
        </p:nvSpPr>
        <p:spPr>
          <a:xfrm>
            <a:off x="11521440" y="3977640"/>
            <a:ext cx="5806440" cy="1280160"/>
          </a:xfrm>
          <a:prstGeom prst="rect">
            <a:avLst/>
          </a:prstGeom>
          <a:noFill/>
          <a:ln/>
        </p:spPr>
        <p:txBody>
          <a:bodyPr wrap="square" lIns="0" tIns="0" rIns="0" bIns="0" rtlCol="0" anchor="ctr"/>
          <a:lstStyle/>
          <a:p>
            <a:pPr algn="r" indent="0" marL="0">
              <a:buNone/>
            </a:pPr>
            <a:r>
              <a:rPr lang="en-US" sz="2000" dirty="0">
                <a:solidFill>
                  <a:srgbClr val="A8A49B"/>
                </a:solidFill>
                <a:latin typeface="Helvetica Neue" pitchFamily="34" charset="0"/>
                <a:ea typeface="Helvetica Neue" pitchFamily="34" charset="-122"/>
                <a:cs typeface="Helvetica Neue" pitchFamily="34" charset="-120"/>
              </a:rPr>
              <a:t>gitignore .sbx/</a:t>
            </a:r>
            <a:endParaRPr lang="en-US" sz="2000" dirty="0"/>
          </a:p>
        </p:txBody>
      </p:sp>
      <p:sp>
        <p:nvSpPr>
          <p:cNvPr id="27" name="Shape 25"/>
          <p:cNvSpPr/>
          <p:nvPr/>
        </p:nvSpPr>
        <p:spPr>
          <a:xfrm>
            <a:off x="960120" y="5486400"/>
            <a:ext cx="16367760" cy="0"/>
          </a:xfrm>
          <a:prstGeom prst="line">
            <a:avLst/>
          </a:prstGeom>
          <a:noFill/>
          <a:ln w="12700">
            <a:solidFill>
              <a:srgbClr val="2A2A27"/>
            </a:solidFill>
            <a:prstDash val="solid"/>
          </a:ln>
        </p:spPr>
      </p:sp>
      <p:sp>
        <p:nvSpPr>
          <p:cNvPr id="28" name="Text 26"/>
          <p:cNvSpPr/>
          <p:nvPr/>
        </p:nvSpPr>
        <p:spPr>
          <a:xfrm>
            <a:off x="960120" y="5623560"/>
            <a:ext cx="4206240" cy="1280160"/>
          </a:xfrm>
          <a:prstGeom prst="rect">
            <a:avLst/>
          </a:prstGeom>
          <a:noFill/>
          <a:ln/>
        </p:spPr>
        <p:txBody>
          <a:bodyPr wrap="square" lIns="0" tIns="0" rIns="0" bIns="0" rtlCol="0" anchor="ctr"/>
          <a:lstStyle/>
          <a:p>
            <a:pPr indent="0" marL="0">
              <a:buNone/>
            </a:pPr>
            <a:r>
              <a:rPr lang="en-US" sz="5600" dirty="0">
                <a:solidFill>
                  <a:srgbClr val="ECE8E1"/>
                </a:solidFill>
                <a:latin typeface="Helvetica Neue" pitchFamily="34" charset="0"/>
                <a:ea typeface="Helvetica Neue" pitchFamily="34" charset="-122"/>
                <a:cs typeface="Helvetica Neue" pitchFamily="34" charset="-120"/>
              </a:rPr>
              <a:t>Claude</a:t>
            </a:r>
            <a:endParaRPr lang="en-US" sz="5600" dirty="0"/>
          </a:p>
        </p:txBody>
      </p:sp>
      <p:sp>
        <p:nvSpPr>
          <p:cNvPr id="29" name="Text 27"/>
          <p:cNvSpPr/>
          <p:nvPr/>
        </p:nvSpPr>
        <p:spPr>
          <a:xfrm>
            <a:off x="5120640" y="5623560"/>
            <a:ext cx="1371600" cy="1280160"/>
          </a:xfrm>
          <a:prstGeom prst="rect">
            <a:avLst/>
          </a:prstGeom>
          <a:noFill/>
          <a:ln/>
        </p:spPr>
        <p:txBody>
          <a:bodyPr wrap="square" lIns="0" tIns="0" rIns="0" bIns="0" rtlCol="0" anchor="ctr"/>
          <a:lstStyle/>
          <a:p>
            <a:pPr algn="ctr" indent="0" marL="0">
              <a:buNone/>
            </a:pPr>
            <a:r>
              <a:rPr lang="en-US" sz="6000" dirty="0">
                <a:solidFill>
                  <a:srgbClr val="C5DD97"/>
                </a:solidFill>
                <a:latin typeface="Helvetica Neue" pitchFamily="34" charset="0"/>
                <a:ea typeface="Helvetica Neue" pitchFamily="34" charset="-122"/>
                <a:cs typeface="Helvetica Neue" pitchFamily="34" charset="-120"/>
              </a:rPr>
              <a:t>≠</a:t>
            </a:r>
            <a:endParaRPr lang="en-US" sz="6000" dirty="0"/>
          </a:p>
        </p:txBody>
      </p:sp>
      <p:sp>
        <p:nvSpPr>
          <p:cNvPr id="30" name="Text 28"/>
          <p:cNvSpPr/>
          <p:nvPr/>
        </p:nvSpPr>
        <p:spPr>
          <a:xfrm>
            <a:off x="6583680" y="5623560"/>
            <a:ext cx="4572000" cy="1280160"/>
          </a:xfrm>
          <a:prstGeom prst="rect">
            <a:avLst/>
          </a:prstGeom>
          <a:noFill/>
          <a:ln/>
        </p:spPr>
        <p:txBody>
          <a:bodyPr wrap="square" lIns="0" tIns="0" rIns="0" bIns="0" rtlCol="0" anchor="ctr"/>
          <a:lstStyle/>
          <a:p>
            <a:pPr indent="0" marL="0">
              <a:buNone/>
            </a:pPr>
            <a:r>
              <a:rPr lang="en-US" sz="5600" dirty="0">
                <a:solidFill>
                  <a:srgbClr val="6B6760"/>
                </a:solidFill>
                <a:latin typeface="Helvetica Neue" pitchFamily="34" charset="0"/>
                <a:ea typeface="Helvetica Neue" pitchFamily="34" charset="-122"/>
                <a:cs typeface="Helvetica Neue" pitchFamily="34" charset="-120"/>
              </a:rPr>
              <a:t>Codex</a:t>
            </a:r>
            <a:endParaRPr lang="en-US" sz="5600" dirty="0"/>
          </a:p>
        </p:txBody>
      </p:sp>
      <p:sp>
        <p:nvSpPr>
          <p:cNvPr id="31" name="Text 29"/>
          <p:cNvSpPr/>
          <p:nvPr/>
        </p:nvSpPr>
        <p:spPr>
          <a:xfrm>
            <a:off x="11521440" y="5623560"/>
            <a:ext cx="5806440" cy="1280160"/>
          </a:xfrm>
          <a:prstGeom prst="rect">
            <a:avLst/>
          </a:prstGeom>
          <a:noFill/>
          <a:ln/>
        </p:spPr>
        <p:txBody>
          <a:bodyPr wrap="square" lIns="0" tIns="0" rIns="0" bIns="0" rtlCol="0" anchor="ctr"/>
          <a:lstStyle/>
          <a:p>
            <a:pPr algn="r" indent="0" marL="0">
              <a:buNone/>
            </a:pPr>
            <a:r>
              <a:rPr lang="en-US" sz="2000" dirty="0">
                <a:solidFill>
                  <a:srgbClr val="A8A49B"/>
                </a:solidFill>
                <a:latin typeface="Helvetica Neue" pitchFamily="34" charset="0"/>
                <a:ea typeface="Helvetica Neue" pitchFamily="34" charset="-122"/>
                <a:cs typeface="Helvetica Neue" pitchFamily="34" charset="-120"/>
              </a:rPr>
              <a:t>same pattern, other file</a:t>
            </a:r>
            <a:endParaRPr lang="en-US" sz="2000" dirty="0"/>
          </a:p>
        </p:txBody>
      </p:sp>
      <p:sp>
        <p:nvSpPr>
          <p:cNvPr id="32" name="Shape 30"/>
          <p:cNvSpPr/>
          <p:nvPr/>
        </p:nvSpPr>
        <p:spPr>
          <a:xfrm>
            <a:off x="960120" y="7132320"/>
            <a:ext cx="16367760" cy="0"/>
          </a:xfrm>
          <a:prstGeom prst="line">
            <a:avLst/>
          </a:prstGeom>
          <a:noFill/>
          <a:ln w="12700">
            <a:solidFill>
              <a:srgbClr val="2A2A27"/>
            </a:solidFill>
            <a:prstDash val="solid"/>
          </a:ln>
        </p:spPr>
      </p:sp>
      <p:sp>
        <p:nvSpPr>
          <p:cNvPr id="33" name="Text 31"/>
          <p:cNvSpPr/>
          <p:nvPr/>
        </p:nvSpPr>
        <p:spPr>
          <a:xfrm>
            <a:off x="960120" y="7269480"/>
            <a:ext cx="4206240" cy="1280160"/>
          </a:xfrm>
          <a:prstGeom prst="rect">
            <a:avLst/>
          </a:prstGeom>
          <a:noFill/>
          <a:ln/>
        </p:spPr>
        <p:txBody>
          <a:bodyPr wrap="square" lIns="0" tIns="0" rIns="0" bIns="0" rtlCol="0" anchor="ctr"/>
          <a:lstStyle/>
          <a:p>
            <a:pPr indent="0" marL="0">
              <a:buNone/>
            </a:pPr>
            <a:r>
              <a:rPr lang="en-US" sz="5600" dirty="0">
                <a:solidFill>
                  <a:srgbClr val="ECE8E1"/>
                </a:solidFill>
                <a:latin typeface="Helvetica Neue" pitchFamily="34" charset="0"/>
                <a:ea typeface="Helvetica Neue" pitchFamily="34" charset="-122"/>
                <a:cs typeface="Helvetica Neue" pitchFamily="34" charset="-120"/>
              </a:rPr>
              <a:t>tokens</a:t>
            </a:r>
            <a:endParaRPr lang="en-US" sz="5600" dirty="0"/>
          </a:p>
        </p:txBody>
      </p:sp>
      <p:sp>
        <p:nvSpPr>
          <p:cNvPr id="34" name="Text 32"/>
          <p:cNvSpPr/>
          <p:nvPr/>
        </p:nvSpPr>
        <p:spPr>
          <a:xfrm>
            <a:off x="5120640" y="7269480"/>
            <a:ext cx="1371600" cy="1280160"/>
          </a:xfrm>
          <a:prstGeom prst="rect">
            <a:avLst/>
          </a:prstGeom>
          <a:noFill/>
          <a:ln/>
        </p:spPr>
        <p:txBody>
          <a:bodyPr wrap="square" lIns="0" tIns="0" rIns="0" bIns="0" rtlCol="0" anchor="ctr"/>
          <a:lstStyle/>
          <a:p>
            <a:pPr algn="ctr" indent="0" marL="0">
              <a:buNone/>
            </a:pPr>
            <a:r>
              <a:rPr lang="en-US" sz="6000" dirty="0">
                <a:solidFill>
                  <a:srgbClr val="C5DD97"/>
                </a:solidFill>
                <a:latin typeface="Helvetica Neue" pitchFamily="34" charset="0"/>
                <a:ea typeface="Helvetica Neue" pitchFamily="34" charset="-122"/>
                <a:cs typeface="Helvetica Neue" pitchFamily="34" charset="-120"/>
              </a:rPr>
              <a:t>≠</a:t>
            </a:r>
            <a:endParaRPr lang="en-US" sz="6000" dirty="0"/>
          </a:p>
        </p:txBody>
      </p:sp>
      <p:sp>
        <p:nvSpPr>
          <p:cNvPr id="35" name="Text 33"/>
          <p:cNvSpPr/>
          <p:nvPr/>
        </p:nvSpPr>
        <p:spPr>
          <a:xfrm>
            <a:off x="6583680" y="7269480"/>
            <a:ext cx="4572000" cy="1280160"/>
          </a:xfrm>
          <a:prstGeom prst="rect">
            <a:avLst/>
          </a:prstGeom>
          <a:noFill/>
          <a:ln/>
        </p:spPr>
        <p:txBody>
          <a:bodyPr wrap="square" lIns="0" tIns="0" rIns="0" bIns="0" rtlCol="0" anchor="ctr"/>
          <a:lstStyle/>
          <a:p>
            <a:pPr indent="0" marL="0">
              <a:buNone/>
            </a:pPr>
            <a:r>
              <a:rPr lang="en-US" sz="5600" dirty="0">
                <a:solidFill>
                  <a:srgbClr val="6B6760"/>
                </a:solidFill>
                <a:latin typeface="Helvetica Neue" pitchFamily="34" charset="0"/>
                <a:ea typeface="Helvetica Neue" pitchFamily="34" charset="-122"/>
                <a:cs typeface="Helvetica Neue" pitchFamily="34" charset="-120"/>
              </a:rPr>
              <a:t>seconds</a:t>
            </a:r>
            <a:endParaRPr lang="en-US" sz="5600" dirty="0"/>
          </a:p>
        </p:txBody>
      </p:sp>
      <p:sp>
        <p:nvSpPr>
          <p:cNvPr id="36" name="Text 34"/>
          <p:cNvSpPr/>
          <p:nvPr/>
        </p:nvSpPr>
        <p:spPr>
          <a:xfrm>
            <a:off x="11521440" y="7269480"/>
            <a:ext cx="5806440" cy="1280160"/>
          </a:xfrm>
          <a:prstGeom prst="rect">
            <a:avLst/>
          </a:prstGeom>
          <a:noFill/>
          <a:ln/>
        </p:spPr>
        <p:txBody>
          <a:bodyPr wrap="square" lIns="0" tIns="0" rIns="0" bIns="0" rtlCol="0" anchor="ctr"/>
          <a:lstStyle/>
          <a:p>
            <a:pPr algn="r" indent="0" marL="0">
              <a:buNone/>
            </a:pPr>
            <a:r>
              <a:rPr lang="en-US" sz="2000" dirty="0">
                <a:solidFill>
                  <a:srgbClr val="A8A49B"/>
                </a:solidFill>
                <a:latin typeface="Helvetica Neue" pitchFamily="34" charset="0"/>
                <a:ea typeface="Helvetica Neue" pitchFamily="34" charset="-122"/>
                <a:cs typeface="Helvetica Neue" pitchFamily="34" charset="-120"/>
              </a:rPr>
              <a:t>two columns, never one sum</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MONDAY</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6B6760"/>
          </a:solidFill>
          <a:ln/>
        </p:spPr>
      </p:sp>
      <p:sp>
        <p:nvSpPr>
          <p:cNvPr id="11" name="Shape 9"/>
          <p:cNvSpPr/>
          <p:nvPr/>
        </p:nvSpPr>
        <p:spPr>
          <a:xfrm>
            <a:off x="10507980" y="9528048"/>
            <a:ext cx="1309116" cy="45720"/>
          </a:xfrm>
          <a:prstGeom prst="rect">
            <a:avLst/>
          </a:prstGeom>
          <a:solidFill>
            <a:srgbClr val="6B6760"/>
          </a:solidFill>
          <a:ln/>
        </p:spPr>
      </p:sp>
      <p:sp>
        <p:nvSpPr>
          <p:cNvPr id="12" name="Shape 10"/>
          <p:cNvSpPr/>
          <p:nvPr/>
        </p:nvSpPr>
        <p:spPr>
          <a:xfrm>
            <a:off x="11871960" y="9528048"/>
            <a:ext cx="1309116" cy="45720"/>
          </a:xfrm>
          <a:prstGeom prst="rect">
            <a:avLst/>
          </a:prstGeom>
          <a:solidFill>
            <a:srgbClr val="6B6760"/>
          </a:solidFill>
          <a:ln/>
        </p:spPr>
      </p:sp>
      <p:sp>
        <p:nvSpPr>
          <p:cNvPr id="13" name="Shape 11"/>
          <p:cNvSpPr/>
          <p:nvPr/>
        </p:nvSpPr>
        <p:spPr>
          <a:xfrm>
            <a:off x="13235940" y="9528048"/>
            <a:ext cx="1309116" cy="45720"/>
          </a:xfrm>
          <a:prstGeom prst="rect">
            <a:avLst/>
          </a:prstGeom>
          <a:solidFill>
            <a:srgbClr val="6B6760"/>
          </a:solidFill>
          <a:ln/>
        </p:spPr>
      </p:sp>
      <p:sp>
        <p:nvSpPr>
          <p:cNvPr id="14" name="Shape 12"/>
          <p:cNvSpPr/>
          <p:nvPr/>
        </p:nvSpPr>
        <p:spPr>
          <a:xfrm>
            <a:off x="14599920" y="9528048"/>
            <a:ext cx="1309116" cy="45720"/>
          </a:xfrm>
          <a:prstGeom prst="rect">
            <a:avLst/>
          </a:prstGeom>
          <a:solidFill>
            <a:srgbClr val="C5DD97"/>
          </a:solidFill>
          <a:ln/>
        </p:spPr>
      </p:sp>
      <p:sp>
        <p:nvSpPr>
          <p:cNvPr id="15" name="Shape 13"/>
          <p:cNvSpPr/>
          <p:nvPr/>
        </p:nvSpPr>
        <p:spPr>
          <a:xfrm>
            <a:off x="15963900" y="9528048"/>
            <a:ext cx="1309116" cy="45720"/>
          </a:xfrm>
          <a:prstGeom prst="rect">
            <a:avLst/>
          </a:prstGeom>
          <a:solidFill>
            <a:srgbClr val="2A2A2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11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Once per repo.</a:t>
            </a:r>
            <a:endParaRPr lang="en-US" sz="4400" dirty="0"/>
          </a:p>
        </p:txBody>
      </p:sp>
      <p:sp>
        <p:nvSpPr>
          <p:cNvPr id="18" name="Shape 16"/>
          <p:cNvSpPr/>
          <p:nvPr/>
        </p:nvSpPr>
        <p:spPr>
          <a:xfrm>
            <a:off x="1463040" y="3291840"/>
            <a:ext cx="12984480" cy="0"/>
          </a:xfrm>
          <a:prstGeom prst="line">
            <a:avLst/>
          </a:prstGeom>
          <a:noFill/>
          <a:ln w="25400">
            <a:solidFill>
              <a:srgbClr val="2A2A27"/>
            </a:solidFill>
            <a:prstDash val="solid"/>
          </a:ln>
        </p:spPr>
      </p:sp>
      <p:sp>
        <p:nvSpPr>
          <p:cNvPr id="19" name="Shape 17"/>
          <p:cNvSpPr/>
          <p:nvPr/>
        </p:nvSpPr>
        <p:spPr>
          <a:xfrm>
            <a:off x="1005840" y="2834640"/>
            <a:ext cx="914400" cy="914400"/>
          </a:xfrm>
          <a:prstGeom prst="ellipse">
            <a:avLst/>
          </a:prstGeom>
          <a:solidFill>
            <a:srgbClr val="0B0B0A"/>
          </a:solidFill>
          <a:ln w="19050">
            <a:solidFill>
              <a:srgbClr val="6B6760"/>
            </a:solidFill>
            <a:prstDash val="solid"/>
          </a:ln>
        </p:spPr>
      </p:sp>
      <p:sp>
        <p:nvSpPr>
          <p:cNvPr id="20" name="Text 18"/>
          <p:cNvSpPr/>
          <p:nvPr/>
        </p:nvSpPr>
        <p:spPr>
          <a:xfrm>
            <a:off x="1005840" y="2834640"/>
            <a:ext cx="914400" cy="914400"/>
          </a:xfrm>
          <a:prstGeom prst="rect">
            <a:avLst/>
          </a:prstGeom>
          <a:noFill/>
          <a:ln/>
        </p:spPr>
        <p:txBody>
          <a:bodyPr wrap="square" lIns="0" tIns="0" rIns="0" bIns="0" rtlCol="0" anchor="ctr"/>
          <a:lstStyle/>
          <a:p>
            <a:pPr algn="ctr" indent="0" marL="0">
              <a:buNone/>
            </a:pPr>
            <a:r>
              <a:rPr lang="en-US" sz="2200" dirty="0">
                <a:solidFill>
                  <a:srgbClr val="ECE8E1"/>
                </a:solidFill>
                <a:latin typeface="Menlo" pitchFamily="34" charset="0"/>
                <a:ea typeface="Menlo" pitchFamily="34" charset="-122"/>
                <a:cs typeface="Menlo" pitchFamily="34" charset="-120"/>
              </a:rPr>
              <a:t>1</a:t>
            </a:r>
            <a:endParaRPr lang="en-US" sz="2200" dirty="0"/>
          </a:p>
        </p:txBody>
      </p:sp>
      <p:sp>
        <p:nvSpPr>
          <p:cNvPr id="21" name="Text 19"/>
          <p:cNvSpPr/>
          <p:nvPr/>
        </p:nvSpPr>
        <p:spPr>
          <a:xfrm>
            <a:off x="960120" y="4069080"/>
            <a:ext cx="2926080" cy="640080"/>
          </a:xfrm>
          <a:prstGeom prst="rect">
            <a:avLst/>
          </a:prstGeom>
          <a:noFill/>
          <a:ln/>
        </p:spPr>
        <p:txBody>
          <a:bodyPr wrap="square" lIns="0" tIns="0" rIns="0" bIns="0" rtlCol="0" anchor="ctr"/>
          <a:lstStyle/>
          <a:p>
            <a:pPr indent="0" marL="0">
              <a:buNone/>
            </a:pPr>
            <a:r>
              <a:rPr lang="en-US" sz="3200" dirty="0">
                <a:solidFill>
                  <a:srgbClr val="ECE8E1"/>
                </a:solidFill>
                <a:latin typeface="Helvetica Neue" pitchFamily="34" charset="0"/>
                <a:ea typeface="Helvetica Neue" pitchFamily="34" charset="-122"/>
                <a:cs typeface="Helvetica Neue" pitchFamily="34" charset="-120"/>
              </a:rPr>
              <a:t>Copy</a:t>
            </a:r>
            <a:endParaRPr lang="en-US" sz="3200" dirty="0"/>
          </a:p>
        </p:txBody>
      </p:sp>
      <p:sp>
        <p:nvSpPr>
          <p:cNvPr id="22" name="Text 20"/>
          <p:cNvSpPr/>
          <p:nvPr/>
        </p:nvSpPr>
        <p:spPr>
          <a:xfrm>
            <a:off x="960120" y="4754880"/>
            <a:ext cx="2926080" cy="41148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usage-tap/</a:t>
            </a:r>
            <a:endParaRPr lang="en-US" sz="1500" dirty="0"/>
          </a:p>
        </p:txBody>
      </p:sp>
      <p:sp>
        <p:nvSpPr>
          <p:cNvPr id="23" name="Shape 21"/>
          <p:cNvSpPr/>
          <p:nvPr/>
        </p:nvSpPr>
        <p:spPr>
          <a:xfrm>
            <a:off x="4251960" y="2834640"/>
            <a:ext cx="914400" cy="914400"/>
          </a:xfrm>
          <a:prstGeom prst="ellipse">
            <a:avLst/>
          </a:prstGeom>
          <a:solidFill>
            <a:srgbClr val="0B0B0A"/>
          </a:solidFill>
          <a:ln w="19050">
            <a:solidFill>
              <a:srgbClr val="6B6760"/>
            </a:solidFill>
            <a:prstDash val="solid"/>
          </a:ln>
        </p:spPr>
      </p:sp>
      <p:sp>
        <p:nvSpPr>
          <p:cNvPr id="24" name="Text 22"/>
          <p:cNvSpPr/>
          <p:nvPr/>
        </p:nvSpPr>
        <p:spPr>
          <a:xfrm>
            <a:off x="4251960" y="2834640"/>
            <a:ext cx="914400" cy="914400"/>
          </a:xfrm>
          <a:prstGeom prst="rect">
            <a:avLst/>
          </a:prstGeom>
          <a:noFill/>
          <a:ln/>
        </p:spPr>
        <p:txBody>
          <a:bodyPr wrap="square" lIns="0" tIns="0" rIns="0" bIns="0" rtlCol="0" anchor="ctr"/>
          <a:lstStyle/>
          <a:p>
            <a:pPr algn="ctr" indent="0" marL="0">
              <a:buNone/>
            </a:pPr>
            <a:r>
              <a:rPr lang="en-US" sz="2200" dirty="0">
                <a:solidFill>
                  <a:srgbClr val="ECE8E1"/>
                </a:solidFill>
                <a:latin typeface="Menlo" pitchFamily="34" charset="0"/>
                <a:ea typeface="Menlo" pitchFamily="34" charset="-122"/>
                <a:cs typeface="Menlo" pitchFamily="34" charset="-120"/>
              </a:rPr>
              <a:t>2</a:t>
            </a:r>
            <a:endParaRPr lang="en-US" sz="2200" dirty="0"/>
          </a:p>
        </p:txBody>
      </p:sp>
      <p:sp>
        <p:nvSpPr>
          <p:cNvPr id="25" name="Text 23"/>
          <p:cNvSpPr/>
          <p:nvPr/>
        </p:nvSpPr>
        <p:spPr>
          <a:xfrm>
            <a:off x="4206240" y="4069080"/>
            <a:ext cx="2926080" cy="640080"/>
          </a:xfrm>
          <a:prstGeom prst="rect">
            <a:avLst/>
          </a:prstGeom>
          <a:noFill/>
          <a:ln/>
        </p:spPr>
        <p:txBody>
          <a:bodyPr wrap="square" lIns="0" tIns="0" rIns="0" bIns="0" rtlCol="0" anchor="ctr"/>
          <a:lstStyle/>
          <a:p>
            <a:pPr indent="0" marL="0">
              <a:buNone/>
            </a:pPr>
            <a:r>
              <a:rPr lang="en-US" sz="3200" dirty="0">
                <a:solidFill>
                  <a:srgbClr val="ECE8E1"/>
                </a:solidFill>
                <a:latin typeface="Helvetica Neue" pitchFamily="34" charset="0"/>
                <a:ea typeface="Helvetica Neue" pitchFamily="34" charset="-122"/>
                <a:cs typeface="Helvetica Neue" pitchFamily="34" charset="-120"/>
              </a:rPr>
              <a:t>Ignore</a:t>
            </a:r>
            <a:endParaRPr lang="en-US" sz="3200" dirty="0"/>
          </a:p>
        </p:txBody>
      </p:sp>
      <p:sp>
        <p:nvSpPr>
          <p:cNvPr id="26" name="Text 24"/>
          <p:cNvSpPr/>
          <p:nvPr/>
        </p:nvSpPr>
        <p:spPr>
          <a:xfrm>
            <a:off x="4206240" y="4754880"/>
            <a:ext cx="2926080" cy="41148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.sbx/</a:t>
            </a:r>
            <a:endParaRPr lang="en-US" sz="1500" dirty="0"/>
          </a:p>
        </p:txBody>
      </p:sp>
      <p:sp>
        <p:nvSpPr>
          <p:cNvPr id="27" name="Shape 25"/>
          <p:cNvSpPr/>
          <p:nvPr/>
        </p:nvSpPr>
        <p:spPr>
          <a:xfrm>
            <a:off x="7498080" y="2834640"/>
            <a:ext cx="914400" cy="914400"/>
          </a:xfrm>
          <a:prstGeom prst="ellipse">
            <a:avLst/>
          </a:prstGeom>
          <a:solidFill>
            <a:srgbClr val="C5DD97"/>
          </a:solidFill>
          <a:ln w="19050">
            <a:solidFill>
              <a:srgbClr val="C5DD97"/>
            </a:solidFill>
            <a:prstDash val="solid"/>
          </a:ln>
        </p:spPr>
      </p:sp>
      <p:sp>
        <p:nvSpPr>
          <p:cNvPr id="28" name="Text 26"/>
          <p:cNvSpPr/>
          <p:nvPr/>
        </p:nvSpPr>
        <p:spPr>
          <a:xfrm>
            <a:off x="7498080" y="2834640"/>
            <a:ext cx="914400" cy="914400"/>
          </a:xfrm>
          <a:prstGeom prst="rect">
            <a:avLst/>
          </a:prstGeom>
          <a:noFill/>
          <a:ln/>
        </p:spPr>
        <p:txBody>
          <a:bodyPr wrap="square" lIns="0" tIns="0" rIns="0" bIns="0" rtlCol="0" anchor="ctr"/>
          <a:lstStyle/>
          <a:p>
            <a:pPr algn="ctr" indent="0" marL="0">
              <a:buNone/>
            </a:pPr>
            <a:r>
              <a:rPr lang="en-US" sz="2200" dirty="0">
                <a:solidFill>
                  <a:srgbClr val="0B0B0A"/>
                </a:solidFill>
                <a:latin typeface="Menlo" pitchFamily="34" charset="0"/>
                <a:ea typeface="Menlo" pitchFamily="34" charset="-122"/>
                <a:cs typeface="Menlo" pitchFamily="34" charset="-120"/>
              </a:rPr>
              <a:t>3</a:t>
            </a:r>
            <a:endParaRPr lang="en-US" sz="2200" dirty="0"/>
          </a:p>
        </p:txBody>
      </p:sp>
      <p:sp>
        <p:nvSpPr>
          <p:cNvPr id="29" name="Text 27"/>
          <p:cNvSpPr/>
          <p:nvPr/>
        </p:nvSpPr>
        <p:spPr>
          <a:xfrm>
            <a:off x="7452360" y="4069080"/>
            <a:ext cx="2926080" cy="640080"/>
          </a:xfrm>
          <a:prstGeom prst="rect">
            <a:avLst/>
          </a:prstGeom>
          <a:noFill/>
          <a:ln/>
        </p:spPr>
        <p:txBody>
          <a:bodyPr wrap="square" lIns="0" tIns="0" rIns="0" bIns="0" rtlCol="0" anchor="ctr"/>
          <a:lstStyle/>
          <a:p>
            <a:pPr indent="0" marL="0">
              <a:buNone/>
            </a:pPr>
            <a:r>
              <a:rPr lang="en-US" sz="3200" dirty="0">
                <a:solidFill>
                  <a:srgbClr val="ECE8E1"/>
                </a:solidFill>
                <a:latin typeface="Helvetica Neue" pitchFamily="34" charset="0"/>
                <a:ea typeface="Helvetica Neue" pitchFamily="34" charset="-122"/>
                <a:cs typeface="Helvetica Neue" pitchFamily="34" charset="-120"/>
              </a:rPr>
              <a:t>Watch</a:t>
            </a:r>
            <a:endParaRPr lang="en-US" sz="3200" dirty="0"/>
          </a:p>
        </p:txBody>
      </p:sp>
      <p:sp>
        <p:nvSpPr>
          <p:cNvPr id="30" name="Text 28"/>
          <p:cNvSpPr/>
          <p:nvPr/>
        </p:nvSpPr>
        <p:spPr>
          <a:xfrm>
            <a:off x="7452360" y="4754880"/>
            <a:ext cx="2926080" cy="411480"/>
          </a:xfrm>
          <a:prstGeom prst="rect">
            <a:avLst/>
          </a:prstGeom>
          <a:noFill/>
          <a:ln/>
        </p:spPr>
        <p:txBody>
          <a:bodyPr wrap="square" lIns="0" tIns="0" rIns="0" bIns="0" rtlCol="0" anchor="ctr"/>
          <a:lstStyle/>
          <a:p>
            <a:pPr indent="0" marL="0">
              <a:buNone/>
            </a:pPr>
            <a:r>
              <a:rPr lang="en-US" sz="1500" dirty="0">
                <a:solidFill>
                  <a:srgbClr val="C5DD97"/>
                </a:solidFill>
                <a:latin typeface="Menlo" pitchFamily="34" charset="0"/>
                <a:ea typeface="Menlo" pitchFamily="34" charset="-122"/>
                <a:cs typeface="Menlo" pitchFamily="34" charset="-120"/>
              </a:rPr>
              <a:t>watch.py</a:t>
            </a:r>
            <a:endParaRPr lang="en-US" sz="1500" dirty="0"/>
          </a:p>
        </p:txBody>
      </p:sp>
      <p:sp>
        <p:nvSpPr>
          <p:cNvPr id="31" name="Shape 29"/>
          <p:cNvSpPr/>
          <p:nvPr/>
        </p:nvSpPr>
        <p:spPr>
          <a:xfrm>
            <a:off x="10744200" y="2834640"/>
            <a:ext cx="914400" cy="914400"/>
          </a:xfrm>
          <a:prstGeom prst="ellipse">
            <a:avLst/>
          </a:prstGeom>
          <a:solidFill>
            <a:srgbClr val="0B0B0A"/>
          </a:solidFill>
          <a:ln w="19050">
            <a:solidFill>
              <a:srgbClr val="6B6760"/>
            </a:solidFill>
            <a:prstDash val="solid"/>
          </a:ln>
        </p:spPr>
      </p:sp>
      <p:sp>
        <p:nvSpPr>
          <p:cNvPr id="32" name="Text 30"/>
          <p:cNvSpPr/>
          <p:nvPr/>
        </p:nvSpPr>
        <p:spPr>
          <a:xfrm>
            <a:off x="10744200" y="2834640"/>
            <a:ext cx="914400" cy="914400"/>
          </a:xfrm>
          <a:prstGeom prst="rect">
            <a:avLst/>
          </a:prstGeom>
          <a:noFill/>
          <a:ln/>
        </p:spPr>
        <p:txBody>
          <a:bodyPr wrap="square" lIns="0" tIns="0" rIns="0" bIns="0" rtlCol="0" anchor="ctr"/>
          <a:lstStyle/>
          <a:p>
            <a:pPr algn="ctr" indent="0" marL="0">
              <a:buNone/>
            </a:pPr>
            <a:r>
              <a:rPr lang="en-US" sz="2200" dirty="0">
                <a:solidFill>
                  <a:srgbClr val="ECE8E1"/>
                </a:solidFill>
                <a:latin typeface="Menlo" pitchFamily="34" charset="0"/>
                <a:ea typeface="Menlo" pitchFamily="34" charset="-122"/>
                <a:cs typeface="Menlo" pitchFamily="34" charset="-120"/>
              </a:rPr>
              <a:t>4</a:t>
            </a:r>
            <a:endParaRPr lang="en-US" sz="2200" dirty="0"/>
          </a:p>
        </p:txBody>
      </p:sp>
      <p:sp>
        <p:nvSpPr>
          <p:cNvPr id="33" name="Text 31"/>
          <p:cNvSpPr/>
          <p:nvPr/>
        </p:nvSpPr>
        <p:spPr>
          <a:xfrm>
            <a:off x="10698480" y="4069080"/>
            <a:ext cx="2926080" cy="640080"/>
          </a:xfrm>
          <a:prstGeom prst="rect">
            <a:avLst/>
          </a:prstGeom>
          <a:noFill/>
          <a:ln/>
        </p:spPr>
        <p:txBody>
          <a:bodyPr wrap="square" lIns="0" tIns="0" rIns="0" bIns="0" rtlCol="0" anchor="ctr"/>
          <a:lstStyle/>
          <a:p>
            <a:pPr indent="0" marL="0">
              <a:buNone/>
            </a:pPr>
            <a:r>
              <a:rPr lang="en-US" sz="3200" dirty="0">
                <a:solidFill>
                  <a:srgbClr val="ECE8E1"/>
                </a:solidFill>
                <a:latin typeface="Helvetica Neue" pitchFamily="34" charset="0"/>
                <a:ea typeface="Helvetica Neue" pitchFamily="34" charset="-122"/>
                <a:cs typeface="Helvetica Neue" pitchFamily="34" charset="-120"/>
              </a:rPr>
              <a:t>Allow</a:t>
            </a:r>
            <a:endParaRPr lang="en-US" sz="3200" dirty="0"/>
          </a:p>
        </p:txBody>
      </p:sp>
      <p:sp>
        <p:nvSpPr>
          <p:cNvPr id="34" name="Text 32"/>
          <p:cNvSpPr/>
          <p:nvPr/>
        </p:nvSpPr>
        <p:spPr>
          <a:xfrm>
            <a:off x="10698480" y="4754880"/>
            <a:ext cx="2926080" cy="41148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localhost:8787</a:t>
            </a:r>
            <a:endParaRPr lang="en-US" sz="1500" dirty="0"/>
          </a:p>
        </p:txBody>
      </p:sp>
      <p:sp>
        <p:nvSpPr>
          <p:cNvPr id="35" name="Shape 33"/>
          <p:cNvSpPr/>
          <p:nvPr/>
        </p:nvSpPr>
        <p:spPr>
          <a:xfrm>
            <a:off x="13990320" y="2834640"/>
            <a:ext cx="914400" cy="914400"/>
          </a:xfrm>
          <a:prstGeom prst="ellipse">
            <a:avLst/>
          </a:prstGeom>
          <a:solidFill>
            <a:srgbClr val="0B0B0A"/>
          </a:solidFill>
          <a:ln w="19050">
            <a:solidFill>
              <a:srgbClr val="6B6760"/>
            </a:solidFill>
            <a:prstDash val="solid"/>
          </a:ln>
        </p:spPr>
      </p:sp>
      <p:sp>
        <p:nvSpPr>
          <p:cNvPr id="36" name="Text 34"/>
          <p:cNvSpPr/>
          <p:nvPr/>
        </p:nvSpPr>
        <p:spPr>
          <a:xfrm>
            <a:off x="13990320" y="2834640"/>
            <a:ext cx="914400" cy="914400"/>
          </a:xfrm>
          <a:prstGeom prst="rect">
            <a:avLst/>
          </a:prstGeom>
          <a:noFill/>
          <a:ln/>
        </p:spPr>
        <p:txBody>
          <a:bodyPr wrap="square" lIns="0" tIns="0" rIns="0" bIns="0" rtlCol="0" anchor="ctr"/>
          <a:lstStyle/>
          <a:p>
            <a:pPr algn="ctr" indent="0" marL="0">
              <a:buNone/>
            </a:pPr>
            <a:r>
              <a:rPr lang="en-US" sz="2200" dirty="0">
                <a:solidFill>
                  <a:srgbClr val="ECE8E1"/>
                </a:solidFill>
                <a:latin typeface="Menlo" pitchFamily="34" charset="0"/>
                <a:ea typeface="Menlo" pitchFamily="34" charset="-122"/>
                <a:cs typeface="Menlo" pitchFamily="34" charset="-120"/>
              </a:rPr>
              <a:t>5</a:t>
            </a:r>
            <a:endParaRPr lang="en-US" sz="2200" dirty="0"/>
          </a:p>
        </p:txBody>
      </p:sp>
      <p:sp>
        <p:nvSpPr>
          <p:cNvPr id="37" name="Text 35"/>
          <p:cNvSpPr/>
          <p:nvPr/>
        </p:nvSpPr>
        <p:spPr>
          <a:xfrm>
            <a:off x="13944600" y="4069080"/>
            <a:ext cx="2926080" cy="640080"/>
          </a:xfrm>
          <a:prstGeom prst="rect">
            <a:avLst/>
          </a:prstGeom>
          <a:noFill/>
          <a:ln/>
        </p:spPr>
        <p:txBody>
          <a:bodyPr wrap="square" lIns="0" tIns="0" rIns="0" bIns="0" rtlCol="0" anchor="ctr"/>
          <a:lstStyle/>
          <a:p>
            <a:pPr indent="0" marL="0">
              <a:buNone/>
            </a:pPr>
            <a:r>
              <a:rPr lang="en-US" sz="3200" dirty="0">
                <a:solidFill>
                  <a:srgbClr val="ECE8E1"/>
                </a:solidFill>
                <a:latin typeface="Helvetica Neue" pitchFamily="34" charset="0"/>
                <a:ea typeface="Helvetica Neue" pitchFamily="34" charset="-122"/>
                <a:cs typeface="Helvetica Neue" pitchFamily="34" charset="-120"/>
              </a:rPr>
              <a:t>Trust</a:t>
            </a:r>
            <a:endParaRPr lang="en-US" sz="3200" dirty="0"/>
          </a:p>
        </p:txBody>
      </p:sp>
      <p:sp>
        <p:nvSpPr>
          <p:cNvPr id="38" name="Text 36"/>
          <p:cNvSpPr/>
          <p:nvPr/>
        </p:nvSpPr>
        <p:spPr>
          <a:xfrm>
            <a:off x="13944600" y="4754880"/>
            <a:ext cx="2926080" cy="411480"/>
          </a:xfrm>
          <a:prstGeom prst="rect">
            <a:avLst/>
          </a:prstGeom>
          <a:noFill/>
          <a:ln/>
        </p:spPr>
        <p:txBody>
          <a:bodyPr wrap="square" lIns="0" tIns="0" rIns="0" bIns="0" rtlCol="0" anchor="ctr"/>
          <a:lstStyle/>
          <a:p>
            <a:pPr indent="0" marL="0">
              <a:buNone/>
            </a:pPr>
            <a:r>
              <a:rPr lang="en-US" sz="1500" dirty="0">
                <a:solidFill>
                  <a:srgbClr val="A8A49B"/>
                </a:solidFill>
                <a:latin typeface="Menlo" pitchFamily="34" charset="0"/>
                <a:ea typeface="Menlo" pitchFamily="34" charset="-122"/>
                <a:cs typeface="Menlo" pitchFamily="34" charset="-120"/>
              </a:rPr>
              <a:t>the console</a:t>
            </a:r>
            <a:endParaRPr lang="en-US" sz="1500" dirty="0"/>
          </a:p>
        </p:txBody>
      </p:sp>
      <p:sp>
        <p:nvSpPr>
          <p:cNvPr id="39" name="Shape 37"/>
          <p:cNvSpPr/>
          <p:nvPr/>
        </p:nvSpPr>
        <p:spPr>
          <a:xfrm>
            <a:off x="7406640" y="2194560"/>
            <a:ext cx="1097280" cy="420624"/>
          </a:xfrm>
          <a:prstGeom prst="roundRect">
            <a:avLst>
              <a:gd name="adj" fmla="val 50000"/>
            </a:avLst>
          </a:prstGeom>
          <a:solidFill>
            <a:srgbClr val="222A17"/>
          </a:solidFill>
          <a:ln/>
        </p:spPr>
      </p:sp>
      <p:sp>
        <p:nvSpPr>
          <p:cNvPr id="40" name="Text 38"/>
          <p:cNvSpPr/>
          <p:nvPr/>
        </p:nvSpPr>
        <p:spPr>
          <a:xfrm>
            <a:off x="7406640" y="2194560"/>
            <a:ext cx="1097280" cy="420624"/>
          </a:xfrm>
          <a:prstGeom prst="rect">
            <a:avLst/>
          </a:prstGeom>
          <a:noFill/>
          <a:ln/>
        </p:spPr>
        <p:txBody>
          <a:bodyPr wrap="square" lIns="0" tIns="0" rIns="0" bIns="0" rtlCol="0" anchor="ctr"/>
          <a:lstStyle/>
          <a:p>
            <a:pPr algn="ctr" indent="0" marL="0">
              <a:buNone/>
            </a:pPr>
            <a:r>
              <a:rPr lang="en-US" sz="1200" dirty="0">
                <a:solidFill>
                  <a:srgbClr val="C5DD97"/>
                </a:solidFill>
                <a:latin typeface="Menlo" pitchFamily="34" charset="0"/>
                <a:ea typeface="Menlo" pitchFamily="34" charset="-122"/>
                <a:cs typeface="Menlo" pitchFamily="34" charset="-120"/>
              </a:rPr>
              <a:t>LIVE DEMO</a:t>
            </a:r>
            <a:endParaRPr lang="en-US" sz="1200" dirty="0"/>
          </a:p>
        </p:txBody>
      </p:sp>
      <p:sp>
        <p:nvSpPr>
          <p:cNvPr id="41" name="Shape 39"/>
          <p:cNvSpPr/>
          <p:nvPr/>
        </p:nvSpPr>
        <p:spPr>
          <a:xfrm>
            <a:off x="960120" y="6355080"/>
            <a:ext cx="5257800" cy="64008"/>
          </a:xfrm>
          <a:prstGeom prst="rect">
            <a:avLst/>
          </a:prstGeom>
          <a:solidFill>
            <a:srgbClr val="6B6760"/>
          </a:solidFill>
          <a:ln/>
        </p:spPr>
      </p:sp>
      <p:sp>
        <p:nvSpPr>
          <p:cNvPr id="42" name="Text 40"/>
          <p:cNvSpPr/>
          <p:nvPr/>
        </p:nvSpPr>
        <p:spPr>
          <a:xfrm>
            <a:off x="960120" y="6629400"/>
            <a:ext cx="5120640" cy="1005840"/>
          </a:xfrm>
          <a:prstGeom prst="rect">
            <a:avLst/>
          </a:prstGeom>
          <a:noFill/>
          <a:ln/>
        </p:spPr>
        <p:txBody>
          <a:bodyPr wrap="square" lIns="0" tIns="0" rIns="0" bIns="0" rtlCol="0" anchor="ctr"/>
          <a:lstStyle/>
          <a:p>
            <a:pPr indent="0" marL="0">
              <a:buNone/>
            </a:pPr>
            <a:r>
              <a:rPr lang="en-US" sz="4800" dirty="0">
                <a:solidFill>
                  <a:srgbClr val="ECE8E1"/>
                </a:solidFill>
                <a:latin typeface="Helvetica Neue" pitchFamily="34" charset="0"/>
                <a:ea typeface="Helvetica Neue" pitchFamily="34" charset="-122"/>
                <a:cs typeface="Helvetica Neue" pitchFamily="34" charset="-120"/>
              </a:rPr>
              <a:t>Free</a:t>
            </a:r>
            <a:endParaRPr lang="en-US" sz="4800" dirty="0"/>
          </a:p>
        </p:txBody>
      </p:sp>
      <p:sp>
        <p:nvSpPr>
          <p:cNvPr id="43" name="Text 41"/>
          <p:cNvSpPr/>
          <p:nvPr/>
        </p:nvSpPr>
        <p:spPr>
          <a:xfrm>
            <a:off x="960120" y="7680960"/>
            <a:ext cx="5120640" cy="457200"/>
          </a:xfrm>
          <a:prstGeom prst="rect">
            <a:avLst/>
          </a:prstGeom>
          <a:noFill/>
          <a:ln/>
        </p:spPr>
        <p:txBody>
          <a:bodyPr wrap="square" lIns="0" tIns="0" rIns="0" bIns="0" rtlCol="0" anchor="ctr"/>
          <a:lstStyle/>
          <a:p>
            <a:pPr indent="0" marL="0">
              <a:buNone/>
            </a:pPr>
            <a:r>
              <a:rPr lang="en-US" sz="2000" dirty="0">
                <a:solidFill>
                  <a:srgbClr val="6B6760"/>
                </a:solidFill>
                <a:latin typeface="Helvetica Neue" pitchFamily="34" charset="0"/>
                <a:ea typeface="Helvetica Neue" pitchFamily="34" charset="-122"/>
                <a:cs typeface="Helvetica Neue" pitchFamily="34" charset="-120"/>
              </a:rPr>
              <a:t>laptop</a:t>
            </a:r>
            <a:endParaRPr lang="en-US" sz="2000" dirty="0"/>
          </a:p>
        </p:txBody>
      </p:sp>
      <p:sp>
        <p:nvSpPr>
          <p:cNvPr id="44" name="Shape 42"/>
          <p:cNvSpPr/>
          <p:nvPr/>
        </p:nvSpPr>
        <p:spPr>
          <a:xfrm>
            <a:off x="6492240" y="6355080"/>
            <a:ext cx="5257800" cy="64008"/>
          </a:xfrm>
          <a:prstGeom prst="rect">
            <a:avLst/>
          </a:prstGeom>
          <a:solidFill>
            <a:srgbClr val="A8A49B"/>
          </a:solidFill>
          <a:ln/>
        </p:spPr>
      </p:sp>
      <p:sp>
        <p:nvSpPr>
          <p:cNvPr id="45" name="Text 43"/>
          <p:cNvSpPr/>
          <p:nvPr/>
        </p:nvSpPr>
        <p:spPr>
          <a:xfrm>
            <a:off x="6492240" y="6629400"/>
            <a:ext cx="5120640" cy="1005840"/>
          </a:xfrm>
          <a:prstGeom prst="rect">
            <a:avLst/>
          </a:prstGeom>
          <a:noFill/>
          <a:ln/>
        </p:spPr>
        <p:txBody>
          <a:bodyPr wrap="square" lIns="0" tIns="0" rIns="0" bIns="0" rtlCol="0" anchor="ctr"/>
          <a:lstStyle/>
          <a:p>
            <a:pPr indent="0" marL="0">
              <a:buNone/>
            </a:pPr>
            <a:r>
              <a:rPr lang="en-US" sz="4800" dirty="0">
                <a:solidFill>
                  <a:srgbClr val="ECE8E1"/>
                </a:solidFill>
                <a:latin typeface="Helvetica Neue" pitchFamily="34" charset="0"/>
                <a:ea typeface="Helvetica Neue" pitchFamily="34" charset="-122"/>
                <a:cs typeface="Helvetica Neue" pitchFamily="34" charset="-120"/>
              </a:rPr>
              <a:t>Seconds</a:t>
            </a:r>
            <a:endParaRPr lang="en-US" sz="4800" dirty="0"/>
          </a:p>
        </p:txBody>
      </p:sp>
      <p:sp>
        <p:nvSpPr>
          <p:cNvPr id="46" name="Text 44"/>
          <p:cNvSpPr/>
          <p:nvPr/>
        </p:nvSpPr>
        <p:spPr>
          <a:xfrm>
            <a:off x="6492240" y="7680960"/>
            <a:ext cx="5120640" cy="457200"/>
          </a:xfrm>
          <a:prstGeom prst="rect">
            <a:avLst/>
          </a:prstGeom>
          <a:noFill/>
          <a:ln/>
        </p:spPr>
        <p:txBody>
          <a:bodyPr wrap="square" lIns="0" tIns="0" rIns="0" bIns="0" rtlCol="0" anchor="ctr"/>
          <a:lstStyle/>
          <a:p>
            <a:pPr indent="0" marL="0">
              <a:buNone/>
            </a:pPr>
            <a:r>
              <a:rPr lang="en-US" sz="2000" dirty="0">
                <a:solidFill>
                  <a:srgbClr val="6B6760"/>
                </a:solidFill>
                <a:latin typeface="Helvetica Neue" pitchFamily="34" charset="0"/>
                <a:ea typeface="Helvetica Neue" pitchFamily="34" charset="-122"/>
                <a:cs typeface="Helvetica Neue" pitchFamily="34" charset="-120"/>
              </a:rPr>
              <a:t>cloud</a:t>
            </a:r>
            <a:endParaRPr lang="en-US" sz="2000" dirty="0"/>
          </a:p>
        </p:txBody>
      </p:sp>
      <p:sp>
        <p:nvSpPr>
          <p:cNvPr id="47" name="Shape 45"/>
          <p:cNvSpPr/>
          <p:nvPr/>
        </p:nvSpPr>
        <p:spPr>
          <a:xfrm>
            <a:off x="12024360" y="6355080"/>
            <a:ext cx="5257800" cy="64008"/>
          </a:xfrm>
          <a:prstGeom prst="rect">
            <a:avLst/>
          </a:prstGeom>
          <a:solidFill>
            <a:srgbClr val="C5DD97"/>
          </a:solidFill>
          <a:ln/>
        </p:spPr>
      </p:sp>
      <p:sp>
        <p:nvSpPr>
          <p:cNvPr id="48" name="Text 46"/>
          <p:cNvSpPr/>
          <p:nvPr/>
        </p:nvSpPr>
        <p:spPr>
          <a:xfrm>
            <a:off x="12024360" y="6629400"/>
            <a:ext cx="5120640" cy="1005840"/>
          </a:xfrm>
          <a:prstGeom prst="rect">
            <a:avLst/>
          </a:prstGeom>
          <a:noFill/>
          <a:ln/>
        </p:spPr>
        <p:txBody>
          <a:bodyPr wrap="square" lIns="0" tIns="0" rIns="0" bIns="0" rtlCol="0" anchor="ctr"/>
          <a:lstStyle/>
          <a:p>
            <a:pPr indent="0" marL="0">
              <a:buNone/>
            </a:pPr>
            <a:r>
              <a:rPr lang="en-US" sz="4800" dirty="0">
                <a:solidFill>
                  <a:srgbClr val="ECE8E1"/>
                </a:solidFill>
                <a:latin typeface="Helvetica Neue" pitchFamily="34" charset="0"/>
                <a:ea typeface="Helvetica Neue" pitchFamily="34" charset="-122"/>
                <a:cs typeface="Helvetica Neue" pitchFamily="34" charset="-120"/>
              </a:rPr>
              <a:t>Tokens</a:t>
            </a:r>
            <a:endParaRPr lang="en-US" sz="4800" dirty="0"/>
          </a:p>
        </p:txBody>
      </p:sp>
      <p:sp>
        <p:nvSpPr>
          <p:cNvPr id="49" name="Text 47"/>
          <p:cNvSpPr/>
          <p:nvPr/>
        </p:nvSpPr>
        <p:spPr>
          <a:xfrm>
            <a:off x="12024360" y="7680960"/>
            <a:ext cx="5120640" cy="457200"/>
          </a:xfrm>
          <a:prstGeom prst="rect">
            <a:avLst/>
          </a:prstGeom>
          <a:noFill/>
          <a:ln/>
        </p:spPr>
        <p:txBody>
          <a:bodyPr wrap="square" lIns="0" tIns="0" rIns="0" bIns="0" rtlCol="0" anchor="ctr"/>
          <a:lstStyle/>
          <a:p>
            <a:pPr indent="0" marL="0">
              <a:buNone/>
            </a:pPr>
            <a:r>
              <a:rPr lang="en-US" sz="2000" dirty="0">
                <a:solidFill>
                  <a:srgbClr val="6B6760"/>
                </a:solidFill>
                <a:latin typeface="Helvetica Neue" pitchFamily="34" charset="0"/>
                <a:ea typeface="Helvetica Neue" pitchFamily="34" charset="-122"/>
                <a:cs typeface="Helvetica Neue" pitchFamily="34" charset="-120"/>
              </a:rPr>
              <a:t>provider</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A"/>
        </a:solidFill>
      </p:bgPr>
    </p:bg>
    <p:spTree>
      <p:nvGrpSpPr>
        <p:cNvPr id="1" name=""/>
        <p:cNvGrpSpPr/>
        <p:nvPr/>
      </p:nvGrpSpPr>
      <p:grpSpPr>
        <a:xfrm>
          <a:off x="0" y="0"/>
          <a:ext cx="0" cy="0"/>
          <a:chOff x="0" y="0"/>
          <a:chExt cx="0" cy="0"/>
        </a:xfrm>
      </p:grpSpPr>
      <p:sp>
        <p:nvSpPr>
          <p:cNvPr id="2" name="Text 0"/>
          <p:cNvSpPr/>
          <p:nvPr/>
        </p:nvSpPr>
        <p:spPr>
          <a:xfrm>
            <a:off x="960120" y="411480"/>
            <a:ext cx="1828800" cy="329184"/>
          </a:xfrm>
          <a:prstGeom prst="rect">
            <a:avLst/>
          </a:prstGeom>
          <a:noFill/>
          <a:ln/>
        </p:spPr>
        <p:txBody>
          <a:bodyPr wrap="square" lIns="0" tIns="0" rIns="0" bIns="0" rtlCol="0" anchor="ctr"/>
          <a:lstStyle/>
          <a:p>
            <a:pPr indent="0" marL="0">
              <a:buNone/>
            </a:pPr>
            <a:r>
              <a:rPr lang="en-US" sz="1400" spc="300" kern="0" dirty="0">
                <a:solidFill>
                  <a:srgbClr val="ECE8E1"/>
                </a:solidFill>
                <a:latin typeface="Menlo" pitchFamily="34" charset="0"/>
                <a:ea typeface="Menlo" pitchFamily="34" charset="-122"/>
                <a:cs typeface="Menlo" pitchFamily="34" charset="-120"/>
              </a:rPr>
              <a:t>SBX</a:t>
            </a:r>
            <a:endParaRPr lang="en-US" sz="1400" dirty="0"/>
          </a:p>
        </p:txBody>
      </p:sp>
      <p:sp>
        <p:nvSpPr>
          <p:cNvPr id="3" name="Text 1"/>
          <p:cNvSpPr/>
          <p:nvPr/>
        </p:nvSpPr>
        <p:spPr>
          <a:xfrm>
            <a:off x="13898880" y="411480"/>
            <a:ext cx="3429000" cy="329184"/>
          </a:xfrm>
          <a:prstGeom prst="rect">
            <a:avLst/>
          </a:prstGeom>
          <a:noFill/>
          <a:ln/>
        </p:spPr>
        <p:txBody>
          <a:bodyPr wrap="square" lIns="0" tIns="0" rIns="0" bIns="0" rtlCol="0" anchor="ctr"/>
          <a:lstStyle/>
          <a:p>
            <a:pPr algn="r" indent="0" marL="0">
              <a:buNone/>
            </a:pPr>
            <a:r>
              <a:rPr lang="en-US" sz="1300" spc="240" kern="0" dirty="0">
                <a:solidFill>
                  <a:srgbClr val="6B6760"/>
                </a:solidFill>
                <a:latin typeface="Helvetica Neue" pitchFamily="34" charset="0"/>
                <a:ea typeface="Helvetica Neue" pitchFamily="34" charset="-122"/>
                <a:cs typeface="Helvetica Neue" pitchFamily="34" charset="-120"/>
              </a:rPr>
              <a:t>OFF THE RECORD</a:t>
            </a:r>
            <a:endParaRPr lang="en-US" sz="1300" dirty="0"/>
          </a:p>
        </p:txBody>
      </p:sp>
      <p:sp>
        <p:nvSpPr>
          <p:cNvPr id="4" name="Shape 2"/>
          <p:cNvSpPr/>
          <p:nvPr/>
        </p:nvSpPr>
        <p:spPr>
          <a:xfrm>
            <a:off x="960120" y="9528048"/>
            <a:ext cx="1309116" cy="45720"/>
          </a:xfrm>
          <a:prstGeom prst="rect">
            <a:avLst/>
          </a:prstGeom>
          <a:solidFill>
            <a:srgbClr val="6B6760"/>
          </a:solidFill>
          <a:ln/>
        </p:spPr>
      </p:sp>
      <p:sp>
        <p:nvSpPr>
          <p:cNvPr id="5" name="Shape 3"/>
          <p:cNvSpPr/>
          <p:nvPr/>
        </p:nvSpPr>
        <p:spPr>
          <a:xfrm>
            <a:off x="2324100" y="9528048"/>
            <a:ext cx="1309116" cy="45720"/>
          </a:xfrm>
          <a:prstGeom prst="rect">
            <a:avLst/>
          </a:prstGeom>
          <a:solidFill>
            <a:srgbClr val="6B6760"/>
          </a:solidFill>
          <a:ln/>
        </p:spPr>
      </p:sp>
      <p:sp>
        <p:nvSpPr>
          <p:cNvPr id="6" name="Shape 4"/>
          <p:cNvSpPr/>
          <p:nvPr/>
        </p:nvSpPr>
        <p:spPr>
          <a:xfrm>
            <a:off x="3688080" y="9528048"/>
            <a:ext cx="1309116" cy="45720"/>
          </a:xfrm>
          <a:prstGeom prst="rect">
            <a:avLst/>
          </a:prstGeom>
          <a:solidFill>
            <a:srgbClr val="6B6760"/>
          </a:solidFill>
          <a:ln/>
        </p:spPr>
      </p:sp>
      <p:sp>
        <p:nvSpPr>
          <p:cNvPr id="7" name="Shape 5"/>
          <p:cNvSpPr/>
          <p:nvPr/>
        </p:nvSpPr>
        <p:spPr>
          <a:xfrm>
            <a:off x="5052060" y="9528048"/>
            <a:ext cx="1309116" cy="45720"/>
          </a:xfrm>
          <a:prstGeom prst="rect">
            <a:avLst/>
          </a:prstGeom>
          <a:solidFill>
            <a:srgbClr val="6B6760"/>
          </a:solidFill>
          <a:ln/>
        </p:spPr>
      </p:sp>
      <p:sp>
        <p:nvSpPr>
          <p:cNvPr id="8" name="Shape 6"/>
          <p:cNvSpPr/>
          <p:nvPr/>
        </p:nvSpPr>
        <p:spPr>
          <a:xfrm>
            <a:off x="6416040" y="9528048"/>
            <a:ext cx="1309116" cy="45720"/>
          </a:xfrm>
          <a:prstGeom prst="rect">
            <a:avLst/>
          </a:prstGeom>
          <a:solidFill>
            <a:srgbClr val="6B6760"/>
          </a:solidFill>
          <a:ln/>
        </p:spPr>
      </p:sp>
      <p:sp>
        <p:nvSpPr>
          <p:cNvPr id="9" name="Shape 7"/>
          <p:cNvSpPr/>
          <p:nvPr/>
        </p:nvSpPr>
        <p:spPr>
          <a:xfrm>
            <a:off x="7780020" y="9528048"/>
            <a:ext cx="1309116" cy="45720"/>
          </a:xfrm>
          <a:prstGeom prst="rect">
            <a:avLst/>
          </a:prstGeom>
          <a:solidFill>
            <a:srgbClr val="6B6760"/>
          </a:solidFill>
          <a:ln/>
        </p:spPr>
      </p:sp>
      <p:sp>
        <p:nvSpPr>
          <p:cNvPr id="10" name="Shape 8"/>
          <p:cNvSpPr/>
          <p:nvPr/>
        </p:nvSpPr>
        <p:spPr>
          <a:xfrm>
            <a:off x="9144000" y="9528048"/>
            <a:ext cx="1309116" cy="45720"/>
          </a:xfrm>
          <a:prstGeom prst="rect">
            <a:avLst/>
          </a:prstGeom>
          <a:solidFill>
            <a:srgbClr val="6B6760"/>
          </a:solidFill>
          <a:ln/>
        </p:spPr>
      </p:sp>
      <p:sp>
        <p:nvSpPr>
          <p:cNvPr id="11" name="Shape 9"/>
          <p:cNvSpPr/>
          <p:nvPr/>
        </p:nvSpPr>
        <p:spPr>
          <a:xfrm>
            <a:off x="10507980" y="9528048"/>
            <a:ext cx="1309116" cy="45720"/>
          </a:xfrm>
          <a:prstGeom prst="rect">
            <a:avLst/>
          </a:prstGeom>
          <a:solidFill>
            <a:srgbClr val="6B6760"/>
          </a:solidFill>
          <a:ln/>
        </p:spPr>
      </p:sp>
      <p:sp>
        <p:nvSpPr>
          <p:cNvPr id="12" name="Shape 10"/>
          <p:cNvSpPr/>
          <p:nvPr/>
        </p:nvSpPr>
        <p:spPr>
          <a:xfrm>
            <a:off x="11871960" y="9528048"/>
            <a:ext cx="1309116" cy="45720"/>
          </a:xfrm>
          <a:prstGeom prst="rect">
            <a:avLst/>
          </a:prstGeom>
          <a:solidFill>
            <a:srgbClr val="6B6760"/>
          </a:solidFill>
          <a:ln/>
        </p:spPr>
      </p:sp>
      <p:sp>
        <p:nvSpPr>
          <p:cNvPr id="13" name="Shape 11"/>
          <p:cNvSpPr/>
          <p:nvPr/>
        </p:nvSpPr>
        <p:spPr>
          <a:xfrm>
            <a:off x="13235940" y="9528048"/>
            <a:ext cx="1309116" cy="45720"/>
          </a:xfrm>
          <a:prstGeom prst="rect">
            <a:avLst/>
          </a:prstGeom>
          <a:solidFill>
            <a:srgbClr val="6B6760"/>
          </a:solidFill>
          <a:ln/>
        </p:spPr>
      </p:sp>
      <p:sp>
        <p:nvSpPr>
          <p:cNvPr id="14" name="Shape 12"/>
          <p:cNvSpPr/>
          <p:nvPr/>
        </p:nvSpPr>
        <p:spPr>
          <a:xfrm>
            <a:off x="14599920" y="9528048"/>
            <a:ext cx="1309116" cy="45720"/>
          </a:xfrm>
          <a:prstGeom prst="rect">
            <a:avLst/>
          </a:prstGeom>
          <a:solidFill>
            <a:srgbClr val="6B6760"/>
          </a:solidFill>
          <a:ln/>
        </p:spPr>
      </p:sp>
      <p:sp>
        <p:nvSpPr>
          <p:cNvPr id="15" name="Shape 13"/>
          <p:cNvSpPr/>
          <p:nvPr/>
        </p:nvSpPr>
        <p:spPr>
          <a:xfrm>
            <a:off x="15963900" y="9528048"/>
            <a:ext cx="1309116" cy="45720"/>
          </a:xfrm>
          <a:prstGeom prst="rect">
            <a:avLst/>
          </a:prstGeom>
          <a:solidFill>
            <a:srgbClr val="C5DD97"/>
          </a:solidFill>
          <a:ln/>
        </p:spPr>
      </p:sp>
      <p:sp>
        <p:nvSpPr>
          <p:cNvPr id="16" name="Text 14"/>
          <p:cNvSpPr/>
          <p:nvPr/>
        </p:nvSpPr>
        <p:spPr>
          <a:xfrm>
            <a:off x="15499080" y="9710928"/>
            <a:ext cx="1828800" cy="274320"/>
          </a:xfrm>
          <a:prstGeom prst="rect">
            <a:avLst/>
          </a:prstGeom>
          <a:noFill/>
          <a:ln/>
        </p:spPr>
        <p:txBody>
          <a:bodyPr wrap="square" lIns="0" tIns="0" rIns="0" bIns="0" rtlCol="0" anchor="ctr"/>
          <a:lstStyle/>
          <a:p>
            <a:pPr algn="r" indent="0" marL="0">
              <a:buNone/>
            </a:pPr>
            <a:r>
              <a:rPr lang="en-US" sz="1200" dirty="0">
                <a:solidFill>
                  <a:srgbClr val="6B6760"/>
                </a:solidFill>
                <a:latin typeface="Menlo" pitchFamily="34" charset="0"/>
                <a:ea typeface="Menlo" pitchFamily="34" charset="-122"/>
                <a:cs typeface="Menlo" pitchFamily="34" charset="-120"/>
              </a:rPr>
              <a:t>12 / 12</a:t>
            </a:r>
            <a:endParaRPr lang="en-US" sz="1200" dirty="0"/>
          </a:p>
        </p:txBody>
      </p:sp>
      <p:sp>
        <p:nvSpPr>
          <p:cNvPr id="17" name="Text 15"/>
          <p:cNvSpPr/>
          <p:nvPr/>
        </p:nvSpPr>
        <p:spPr>
          <a:xfrm>
            <a:off x="960120" y="1051560"/>
            <a:ext cx="16367760" cy="868680"/>
          </a:xfrm>
          <a:prstGeom prst="rect">
            <a:avLst/>
          </a:prstGeom>
          <a:noFill/>
          <a:ln/>
        </p:spPr>
        <p:txBody>
          <a:bodyPr wrap="square" lIns="0" tIns="0" rIns="0" bIns="0" rtlCol="0" anchor="ctr"/>
          <a:lstStyle/>
          <a:p>
            <a:pPr indent="0" marL="0">
              <a:buNone/>
            </a:pPr>
            <a:r>
              <a:rPr lang="en-US" sz="4400" dirty="0">
                <a:solidFill>
                  <a:srgbClr val="ECE8E1"/>
                </a:solidFill>
                <a:latin typeface="Helvetica Neue" pitchFamily="34" charset="0"/>
                <a:ea typeface="Helvetica Neue" pitchFamily="34" charset="-122"/>
                <a:cs typeface="Helvetica Neue" pitchFamily="34" charset="-120"/>
              </a:rPr>
              <a:t>Leave these </a:t>
            </a:r>
            <a:pPr indent="0" marL="0">
              <a:buNone/>
            </a:pPr>
            <a:r>
              <a:rPr lang="en-US" sz="4400" dirty="0">
                <a:solidFill>
                  <a:srgbClr val="C5DD97"/>
                </a:solidFill>
                <a:latin typeface="Helvetica Neue" pitchFamily="34" charset="0"/>
                <a:ea typeface="Helvetica Neue" pitchFamily="34" charset="-122"/>
                <a:cs typeface="Helvetica Neue" pitchFamily="34" charset="-120"/>
              </a:rPr>
              <a:t>unsaid.</a:t>
            </a:r>
            <a:endParaRPr lang="en-US" sz="4400" dirty="0"/>
          </a:p>
        </p:txBody>
      </p:sp>
      <p:sp>
        <p:nvSpPr>
          <p:cNvPr id="18" name="Shape 16"/>
          <p:cNvSpPr/>
          <p:nvPr/>
        </p:nvSpPr>
        <p:spPr>
          <a:xfrm>
            <a:off x="960120" y="2286000"/>
            <a:ext cx="8092440" cy="1920240"/>
          </a:xfrm>
          <a:prstGeom prst="roundRect">
            <a:avLst>
              <a:gd name="adj" fmla="val 6667"/>
            </a:avLst>
          </a:prstGeom>
          <a:solidFill>
            <a:srgbClr val="151513"/>
          </a:solidFill>
          <a:ln/>
        </p:spPr>
      </p:sp>
      <p:sp>
        <p:nvSpPr>
          <p:cNvPr id="19" name="Text 17"/>
          <p:cNvSpPr/>
          <p:nvPr/>
        </p:nvSpPr>
        <p:spPr>
          <a:xfrm>
            <a:off x="1325880" y="256032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sbx counts tokens</a:t>
            </a:r>
            <a:endParaRPr lang="en-US" sz="2600" dirty="0"/>
          </a:p>
        </p:txBody>
      </p:sp>
      <p:sp>
        <p:nvSpPr>
          <p:cNvPr id="20" name="Text 18"/>
          <p:cNvSpPr/>
          <p:nvPr/>
        </p:nvSpPr>
        <p:spPr>
          <a:xfrm>
            <a:off x="1325880" y="329184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it counts hosts</a:t>
            </a:r>
            <a:endParaRPr lang="en-US" sz="2200" dirty="0"/>
          </a:p>
        </p:txBody>
      </p:sp>
      <p:sp>
        <p:nvSpPr>
          <p:cNvPr id="21" name="Shape 19"/>
          <p:cNvSpPr/>
          <p:nvPr/>
        </p:nvSpPr>
        <p:spPr>
          <a:xfrm>
            <a:off x="9326880" y="2286000"/>
            <a:ext cx="8092440" cy="1920240"/>
          </a:xfrm>
          <a:prstGeom prst="roundRect">
            <a:avLst>
              <a:gd name="adj" fmla="val 6667"/>
            </a:avLst>
          </a:prstGeom>
          <a:solidFill>
            <a:srgbClr val="151513"/>
          </a:solidFill>
          <a:ln/>
        </p:spPr>
      </p:sp>
      <p:sp>
        <p:nvSpPr>
          <p:cNvPr id="22" name="Text 20"/>
          <p:cNvSpPr/>
          <p:nvPr/>
        </p:nvSpPr>
        <p:spPr>
          <a:xfrm>
            <a:off x="9692640" y="256032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jsonl is the invoice</a:t>
            </a:r>
            <a:endParaRPr lang="en-US" sz="2600" dirty="0"/>
          </a:p>
        </p:txBody>
      </p:sp>
      <p:sp>
        <p:nvSpPr>
          <p:cNvPr id="23" name="Text 21"/>
          <p:cNvSpPr/>
          <p:nvPr/>
        </p:nvSpPr>
        <p:spPr>
          <a:xfrm>
            <a:off x="9692640" y="329184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list price</a:t>
            </a:r>
            <a:endParaRPr lang="en-US" sz="2200" dirty="0"/>
          </a:p>
        </p:txBody>
      </p:sp>
      <p:sp>
        <p:nvSpPr>
          <p:cNvPr id="24" name="Shape 22"/>
          <p:cNvSpPr/>
          <p:nvPr/>
        </p:nvSpPr>
        <p:spPr>
          <a:xfrm>
            <a:off x="960120" y="4480560"/>
            <a:ext cx="8092440" cy="1920240"/>
          </a:xfrm>
          <a:prstGeom prst="roundRect">
            <a:avLst>
              <a:gd name="adj" fmla="val 6667"/>
            </a:avLst>
          </a:prstGeom>
          <a:solidFill>
            <a:srgbClr val="151513"/>
          </a:solidFill>
          <a:ln/>
        </p:spPr>
      </p:sp>
      <p:sp>
        <p:nvSpPr>
          <p:cNvPr id="25" name="Text 23"/>
          <p:cNvSpPr/>
          <p:nvPr/>
        </p:nvSpPr>
        <p:spPr>
          <a:xfrm>
            <a:off x="1325880" y="475488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sum the usd column</a:t>
            </a:r>
            <a:endParaRPr lang="en-US" sz="2600" dirty="0"/>
          </a:p>
        </p:txBody>
      </p:sp>
      <p:sp>
        <p:nvSpPr>
          <p:cNvPr id="26" name="Text 24"/>
          <p:cNvSpPr/>
          <p:nvPr/>
        </p:nvSpPr>
        <p:spPr>
          <a:xfrm>
            <a:off x="1325880" y="548640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already cumulative</a:t>
            </a:r>
            <a:endParaRPr lang="en-US" sz="2200" dirty="0"/>
          </a:p>
        </p:txBody>
      </p:sp>
      <p:sp>
        <p:nvSpPr>
          <p:cNvPr id="27" name="Shape 25"/>
          <p:cNvSpPr/>
          <p:nvPr/>
        </p:nvSpPr>
        <p:spPr>
          <a:xfrm>
            <a:off x="9326880" y="4480560"/>
            <a:ext cx="8092440" cy="1920240"/>
          </a:xfrm>
          <a:prstGeom prst="roundRect">
            <a:avLst>
              <a:gd name="adj" fmla="val 6667"/>
            </a:avLst>
          </a:prstGeom>
          <a:solidFill>
            <a:srgbClr val="151513"/>
          </a:solidFill>
          <a:ln/>
        </p:spPr>
      </p:sp>
      <p:sp>
        <p:nvSpPr>
          <p:cNvPr id="28" name="Text 26"/>
          <p:cNvSpPr/>
          <p:nvPr/>
        </p:nvSpPr>
        <p:spPr>
          <a:xfrm>
            <a:off x="9692640" y="475488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clone writes the host</a:t>
            </a:r>
            <a:endParaRPr lang="en-US" sz="2600" dirty="0"/>
          </a:p>
        </p:txBody>
      </p:sp>
      <p:sp>
        <p:nvSpPr>
          <p:cNvPr id="29" name="Text 27"/>
          <p:cNvSpPr/>
          <p:nvPr/>
        </p:nvSpPr>
        <p:spPr>
          <a:xfrm>
            <a:off x="9692640" y="548640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it writes the clone</a:t>
            </a:r>
            <a:endParaRPr lang="en-US" sz="2200" dirty="0"/>
          </a:p>
        </p:txBody>
      </p:sp>
      <p:sp>
        <p:nvSpPr>
          <p:cNvPr id="30" name="Shape 28"/>
          <p:cNvSpPr/>
          <p:nvPr/>
        </p:nvSpPr>
        <p:spPr>
          <a:xfrm>
            <a:off x="960120" y="6675120"/>
            <a:ext cx="8092440" cy="1920240"/>
          </a:xfrm>
          <a:prstGeom prst="roundRect">
            <a:avLst>
              <a:gd name="adj" fmla="val 6667"/>
            </a:avLst>
          </a:prstGeom>
          <a:solidFill>
            <a:srgbClr val="151513"/>
          </a:solidFill>
          <a:ln/>
        </p:spPr>
      </p:sp>
      <p:sp>
        <p:nvSpPr>
          <p:cNvPr id="31" name="Text 29"/>
          <p:cNvSpPr/>
          <p:nvPr/>
        </p:nvSpPr>
        <p:spPr>
          <a:xfrm>
            <a:off x="1325880" y="694944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~/.claude applies</a:t>
            </a:r>
            <a:endParaRPr lang="en-US" sz="2600" dirty="0"/>
          </a:p>
        </p:txBody>
      </p:sp>
      <p:sp>
        <p:nvSpPr>
          <p:cNvPr id="32" name="Text 30"/>
          <p:cNvSpPr/>
          <p:nvPr/>
        </p:nvSpPr>
        <p:spPr>
          <a:xfrm>
            <a:off x="1325880" y="768096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project .claude does</a:t>
            </a:r>
            <a:endParaRPr lang="en-US" sz="2200" dirty="0"/>
          </a:p>
        </p:txBody>
      </p:sp>
      <p:sp>
        <p:nvSpPr>
          <p:cNvPr id="33" name="Shape 31"/>
          <p:cNvSpPr/>
          <p:nvPr/>
        </p:nvSpPr>
        <p:spPr>
          <a:xfrm>
            <a:off x="9326880" y="6675120"/>
            <a:ext cx="8092440" cy="1920240"/>
          </a:xfrm>
          <a:prstGeom prst="roundRect">
            <a:avLst>
              <a:gd name="adj" fmla="val 6667"/>
            </a:avLst>
          </a:prstGeom>
          <a:solidFill>
            <a:srgbClr val="151513"/>
          </a:solidFill>
          <a:ln/>
        </p:spPr>
      </p:sp>
      <p:sp>
        <p:nvSpPr>
          <p:cNvPr id="34" name="Text 32"/>
          <p:cNvSpPr/>
          <p:nvPr/>
        </p:nvSpPr>
        <p:spPr>
          <a:xfrm>
            <a:off x="9692640" y="6949440"/>
            <a:ext cx="7360920" cy="640080"/>
          </a:xfrm>
          <a:prstGeom prst="rect">
            <a:avLst/>
          </a:prstGeom>
          <a:noFill/>
          <a:ln/>
        </p:spPr>
        <p:txBody>
          <a:bodyPr wrap="square" lIns="0" tIns="0" rIns="0" bIns="0" rtlCol="0" anchor="ctr"/>
          <a:lstStyle/>
          <a:p>
            <a:pPr indent="0" marL="0">
              <a:buNone/>
            </a:pPr>
            <a:r>
              <a:rPr lang="en-US" sz="2600" strike="sngStrike" dirty="0">
                <a:solidFill>
                  <a:srgbClr val="6B6760"/>
                </a:solidFill>
                <a:latin typeface="Helvetica Neue" pitchFamily="34" charset="0"/>
                <a:ea typeface="Helvetica Neue" pitchFamily="34" charset="-122"/>
                <a:cs typeface="Helvetica Neue" pitchFamily="34" charset="-120"/>
              </a:rPr>
              <a:t>OTel from the repo</a:t>
            </a:r>
            <a:endParaRPr lang="en-US" sz="2600" dirty="0"/>
          </a:p>
        </p:txBody>
      </p:sp>
      <p:sp>
        <p:nvSpPr>
          <p:cNvPr id="35" name="Text 33"/>
          <p:cNvSpPr/>
          <p:nvPr/>
        </p:nvSpPr>
        <p:spPr>
          <a:xfrm>
            <a:off x="9692640" y="7680960"/>
            <a:ext cx="7360920" cy="548640"/>
          </a:xfrm>
          <a:prstGeom prst="rect">
            <a:avLst/>
          </a:prstGeom>
          <a:noFill/>
          <a:ln/>
        </p:spPr>
        <p:txBody>
          <a:bodyPr wrap="square" lIns="0" tIns="0" rIns="0" bIns="0" rtlCol="0" anchor="ctr"/>
          <a:lstStyle/>
          <a:p>
            <a:pPr indent="0" marL="0">
              <a:buNone/>
            </a:pPr>
            <a:r>
              <a:rPr lang="en-US" sz="2200" dirty="0">
                <a:solidFill>
                  <a:srgbClr val="C5DD97"/>
                </a:solidFill>
                <a:latin typeface="Helvetica Neue" pitchFamily="34" charset="0"/>
                <a:ea typeface="Helvetica Neue" pitchFamily="34" charset="-122"/>
                <a:cs typeface="Helvetica Neue" pitchFamily="34" charset="-120"/>
              </a:rPr>
              <a:t>→  ignored in project settings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Sandboxes, and where the tokens go</dc:title>
  <dc:subject>15-minute talk</dc:subject>
  <dc:creator>Marco</dc:creator>
  <cp:lastModifiedBy>Marco</cp:lastModifiedBy>
  <cp:revision>1</cp:revision>
  <dcterms:created xsi:type="dcterms:W3CDTF">2026-10-24T10:14:05Z</dcterms:created>
  <dcterms:modified xsi:type="dcterms:W3CDTF">2026-10-24T10:14:05Z</dcterms:modified>
</cp:coreProperties>
</file>